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7f60fba-b283-cdf2-90c3-1e7e2b2deb36}">
          <p14:sldIdLst>
            <p14:sldId id="256"/>
            <p14:sldId id="257"/>
            <p14:sldId id="258"/>
          </p14:sldIdLst>
        </p14:section>
        <p14:section name="Architecture" id="{ddfebdca-15cb-21e6-3bb7-e66a5d47ef43}">
          <p14:sldIdLst>
            <p14:sldId id="259"/>
            <p14:sldId id="260"/>
          </p14:sldIdLst>
        </p14:section>
        <p14:section name="Build" id="{cef71e7b-e89c-26e9-84a6-981a99397486}">
          <p14:sldIdLst>
            <p14:sldId id="261"/>
            <p14:sldId id="262"/>
          </p14:sldIdLst>
        </p14:section>
        <p14:section name="CI/CD and security" id="{dbfd9d0d-9c5d-f317-c8cb-ca1cc0a73569}">
          <p14:sldIdLst>
            <p14:sldId id="263"/>
            <p14:sldId id="264"/>
          </p14:sldIdLst>
        </p14:section>
        <p14:section name="Run" id="{f2ec2bce-f4d7-91e4-f6c6-b9e31c0521d6}">
          <p14:sldIdLst>
            <p14:sldId id="265"/>
            <p14:sldId id="266"/>
            <p14:sldId id="267"/>
          </p14:sldIdLst>
        </p14:section>
        <p14:section name="Infrastructure" id="{0006b540-deb5-5e52-ba74-11aed888c6dd}">
          <p14:sldIdLst>
            <p14:sldId id="268"/>
          </p14:sldIdLst>
        </p14:section>
        <p14:section name="Operate" id="{fe42f99c-1b75-05e9-c019-0dd63000ce92}">
          <p14:sldIdLst>
            <p14:sldId id="269"/>
            <p14:sldId id="270"/>
          </p14:sldIdLst>
        </p14:section>
        <p14:section name="Troubleshooting" id="{4fc8bb79-827d-a6af-aa32-6aed72450639}">
          <p14:sldIdLst>
            <p14:sldId id="271"/>
            <p14:sldId id="272"/>
          </p14:sldIdLst>
        </p14:section>
        <p14:section name="Demo and wrap-up" id="{b57665b4-65b1-189c-1ae1-d1315ab31cb7}">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172A"/>
                </a:solidFill>
                <a:latin typeface="+mn-lt"/>
              </a:defRPr>
            </a:pPr>
            <a:r>
              <a:rPr sz="1400" b="0" i="0" u="none" strike="noStrike">
                <a:solidFill>
                  <a:srgbClr val="0F172A"/>
                </a:solidFill>
                <a:latin typeface="+mn-lt"/>
              </a:rPr>
              <a:t>Frontend image vulnerabilities (Trivy)</a:t>
            </a:r>
          </a:p>
        </c:rich>
      </c:tx>
      <c:layout/>
      <c:overlay val="0"/>
    </c:title>
    <c:autoTitleDeleted val="0"/>
    <c:plotArea>
      <c:layout/>
      <c:barChart>
        <c:barDir val="col"/>
        <c:grouping val="clustered"/>
        <c:varyColors val="0"/>
        <c:ser>
          <c:idx val="0"/>
          <c:order val="0"/>
          <c:tx>
            <c:strRef>
              <c:f>Sheet1!$B$1</c:f>
              <c:strCache>
                <c:ptCount val="1"/>
                <c:pt idx="0">
                  <c:v>First frontend image</c:v>
                </c:pt>
              </c:strCache>
            </c:strRef>
          </c:tx>
          <c:spPr>
            <a:solidFill>
              <a:srgbClr val="DC2626"/>
            </a:solidFill>
            <a:effectLst/>
          </c:spPr>
          <c:invertIfNegative val="0"/>
          <c:dLbls>
            <c:numFmt formatCode="#,##0" sourceLinked="0"/>
            <c:txPr>
              <a:bodyPr/>
              <a:lstStyle/>
              <a:p>
                <a:pPr>
                  <a:defRPr b="0" i="0" strike="noStrike" sz="1200" u="none">
                    <a:solidFill>
                      <a:srgbClr val="0F172A"/>
                    </a:solidFill>
                    <a:latin typeface="+mn-lt"/>
                  </a:defRPr>
                </a:pPr>
              </a:p>
            </c:txPr>
            <c:showLegendKey val="0"/>
            <c:showVal val="1"/>
            <c:showCatName val="0"/>
            <c:showSerName val="0"/>
            <c:showPercent val="0"/>
            <c:showBubbleSize val="0"/>
            <c:showLeaderLines val="0"/>
          </c:dLbls>
          <c:cat>
            <c:multiLvlStrRef>
              <c:f>Sheet1!$A$2:$A$4</c:f>
              <c:multiLvlStrCache>
                <c:ptCount val="3"/>
                <c:lvl>
                  <c:pt idx="0">
                    <c:v>HIGH</c:v>
                  </c:pt>
                  <c:pt idx="1">
                    <c:v>MEDIUM</c:v>
                  </c:pt>
                  <c:pt idx="2">
                    <c:v>LOW</c:v>
                  </c:pt>
                </c:lvl>
              </c:multiLvlStrCache>
            </c:multiLvlStrRef>
          </c:cat>
          <c:val>
            <c:numRef>
              <c:f>Sheet1!$B$2:$B$4</c:f>
              <c:numCache>
                <c:formatCode>General</c:formatCode>
                <c:ptCount val="3"/>
                <c:pt idx="0">
                  <c:v>43</c:v>
                </c:pt>
                <c:pt idx="1">
                  <c:v>81</c:v>
                </c:pt>
                <c:pt idx="2">
                  <c:v>50</c:v>
                </c:pt>
              </c:numCache>
            </c:numRef>
          </c:val>
        </c:ser>
        <c:ser>
          <c:idx val="1"/>
          <c:order val="1"/>
          <c:tx>
            <c:strRef>
              <c:f>Sheet1!$C$1</c:f>
              <c:strCache>
                <c:ptCount val="1"/>
                <c:pt idx="0">
                  <c:v>After the fix</c:v>
                </c:pt>
              </c:strCache>
            </c:strRef>
          </c:tx>
          <c:spPr>
            <a:solidFill>
              <a:srgbClr val="0F766E"/>
            </a:solidFill>
            <a:effectLst/>
          </c:spPr>
          <c:invertIfNegative val="0"/>
          <c:dLbls>
            <c:numFmt formatCode="#,##0" sourceLinked="0"/>
            <c:txPr>
              <a:bodyPr/>
              <a:lstStyle/>
              <a:p>
                <a:pPr>
                  <a:defRPr b="0" i="0" strike="noStrike" sz="1200" u="none">
                    <a:solidFill>
                      <a:srgbClr val="0F172A"/>
                    </a:solidFill>
                    <a:latin typeface="+mn-lt"/>
                  </a:defRPr>
                </a:pPr>
              </a:p>
            </c:txPr>
            <c:showLegendKey val="0"/>
            <c:showVal val="1"/>
            <c:showCatName val="0"/>
            <c:showSerName val="0"/>
            <c:showPercent val="0"/>
            <c:showBubbleSize val="0"/>
            <c:showLeaderLines val="0"/>
          </c:dLbls>
          <c:cat>
            <c:multiLvlStrRef>
              <c:f>Sheet1!$A$2:$A$4</c:f>
              <c:multiLvlStrCache>
                <c:ptCount val="3"/>
                <c:lvl>
                  <c:pt idx="0">
                    <c:v>HIGH</c:v>
                  </c:pt>
                  <c:pt idx="1">
                    <c:v>MEDIUM</c:v>
                  </c:pt>
                  <c:pt idx="2">
                    <c:v>LOW</c:v>
                  </c:pt>
                </c:lvl>
              </c:multiLvlStrCache>
            </c:multiLvlStrRef>
          </c:cat>
          <c:val>
            <c:numRef>
              <c:f>Sheet1!$C$2:$C$4</c:f>
              <c:numCache>
                <c:formatCode>General</c:formatCode>
                <c:ptCount val="3"/>
                <c:pt idx="0">
                  <c:v>0</c:v>
                </c:pt>
                <c:pt idx="1">
                  <c:v>0</c:v>
                </c:pt>
                <c:pt idx="2">
                  <c:v>0</c:v>
                </c:pt>
              </c:numCache>
            </c:numRef>
          </c:val>
        </c:ser>
        <c:dLbls>
          <c:numFmt formatCode="#,##0" sourceLinked="0"/>
          <c:txPr>
            <a:bodyPr/>
            <a:lstStyle/>
            <a:p>
              <a:pPr>
                <a:defRPr b="0" i="0" strike="noStrike" sz="1200" u="none">
                  <a:solidFill>
                    <a:srgbClr val="0F172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0F172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172A"/>
                </a:solidFill>
                <a:latin typeface="+mn-lt"/>
              </a:defRPr>
            </a:pPr>
            <a:r>
              <a:rPr sz="1400" b="0" i="0" u="none" strike="noStrike">
                <a:solidFill>
                  <a:srgbClr val="0F172A"/>
                </a:solidFill>
                <a:latin typeface="+mn-lt"/>
              </a:rPr>
              <a:t>Backend pods during the load test (UTC)</a:t>
            </a:r>
          </a:p>
        </c:rich>
      </c:tx>
      <c:layout/>
      <c:overlay val="0"/>
    </c:title>
    <c:autoTitleDeleted val="0"/>
    <c:plotArea>
      <c:layout/>
      <c:lineChart>
        <c:varyColors val="0"/>
        <c:ser>
          <c:idx val="0"/>
          <c:order val="0"/>
          <c:tx>
            <c:strRef>
              <c:f>Sheet1!$B$1</c:f>
              <c:strCache>
                <c:ptCount val="1"/>
                <c:pt idx="0">
                  <c:v>Backend pods</c:v>
                </c:pt>
              </c:strCache>
            </c:strRef>
          </c:tx>
          <c:spPr>
            <a:solidFill>
              <a:srgbClr val="0F766E"/>
            </a:solidFill>
            <a:ln w="38100" cap="flat">
              <a:solidFill>
                <a:srgbClr val="0F766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0F766E"/>
              </a:solidFill>
              <a:ln w="9525" cap="flat">
                <a:solidFill>
                  <a:srgbClr val="0F766E"/>
                </a:solidFill>
                <a:prstDash val="solid"/>
                <a:round/>
              </a:ln>
              <a:effectLst/>
            </c:spPr>
          </c:marker>
          <c:cat>
            <c:multiLvlStrRef>
              <c:f>Sheet1!$A$2:$A$8</c:f>
              <c:multiLvlStrCache>
                <c:ptCount val="7"/>
                <c:lvl>
                  <c:pt idx="0">
                    <c:v>19:39:57</c:v>
                  </c:pt>
                  <c:pt idx="1">
                    <c:v>19:40:09</c:v>
                  </c:pt>
                  <c:pt idx="2">
                    <c:v>19:40:22</c:v>
                  </c:pt>
                  <c:pt idx="3">
                    <c:v>19:40:37</c:v>
                  </c:pt>
                  <c:pt idx="4">
                    <c:v>19:40:57</c:v>
                  </c:pt>
                  <c:pt idx="5">
                    <c:v>19:41:13</c:v>
                  </c:pt>
                  <c:pt idx="6">
                    <c:v>19:41:29</c:v>
                  </c:pt>
                </c:lvl>
              </c:multiLvlStrCache>
            </c:multiLvlStrRef>
          </c:cat>
          <c:val>
            <c:numRef>
              <c:f>Sheet1!$B$2:$B$8</c:f>
              <c:numCache>
                <c:formatCode>General</c:formatCode>
                <c:ptCount val="7"/>
                <c:pt idx="0">
                  <c:v>2</c:v>
                </c:pt>
                <c:pt idx="1">
                  <c:v>2</c:v>
                </c:pt>
                <c:pt idx="2">
                  <c:v>2</c:v>
                </c:pt>
                <c:pt idx="3">
                  <c:v>4</c:v>
                </c:pt>
                <c:pt idx="4">
                  <c:v>6</c:v>
                </c:pt>
                <c:pt idx="5">
                  <c:v>6</c:v>
                </c:pt>
                <c:pt idx="6">
                  <c:v>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4748B"/>
                </a:solidFill>
                <a:latin typeface="+mn-lt"/>
              </a:defRPr>
            </a:pPr>
            <a:endParaRPr lang="en-US"/>
          </a:p>
        </c:txPr>
        <c:crossAx val="2094734552"/>
        <c:crosses val="autoZero"/>
        <c:auto val="1"/>
        <c:lblAlgn val="ctr"/>
        <c:noMultiLvlLbl val="1"/>
      </c:catAx>
      <c:valAx>
        <c:axId val="2094734552"/>
        <c:scaling>
          <c:orientation val="minMax"/>
          <c:max val="7"/>
          <c:min val="0"/>
        </c:scaling>
        <c:delete val="0"/>
        <c:axPos val="l"/>
        <c:majorGridlines>
          <c:spPr>
            <a:ln w="9525"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4748B"/>
                </a:solidFill>
                <a:latin typeface="+mn-lt"/>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Lavya. This is my final DevOps capstone, and the app is called Kharcha. Kharcha is the Hindi word for expense.
The course rules say the app has to be our own idea, not a copy of the TaskBoard reference. So I built a small expense tracker, and then I took it through every layer we learned: tests, Docker, a CI/CD pipeline with security scanning, Kubernetes and Helm, Terraform for AWS, Prometheus and Grafana, and GitOps with ArgoCD.
Everything I show in this video really ran, on my laptop with Minikube and on GitHub Actions. The numbers and screenshots are from those runs, not made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what the app actually does, because everything else exists to ship this.
You log what you spend: a title, an amount in rupees, a category like food or rent, and a date. You can edit or delete entries and filter by month.
The top cards answer the real question: how much have I spent, how much of my monthly budget is gone, and how much is left. When you cross 80 percent the meter turns amber, and when you go over budget it turns red. The first card also shows your pace, the average you are spending per day so far.
On the right side, "where it went" breaks the month down by category.
It's a React frontend, a FastAPI backend and a Postgres database. Small on purpose, so the focus can be the DevOps around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story in one picture, and it's the order I'll follow.
I push code. GitHub Actions runs the tests, then the security scanners, then builds both Docker images and scans them with Trivy. A security gate checks that every stage passed. Only then are the images pushed to the GitHub Container Registry, tagged with the commit hash, never "latest".
The pipeline then deploys those exact images to a throwaway Kubernetes cluster to prove they work. Its very last job doesn't touch my real cluster at all. It just commits the new image tag into git.
ArgoCD, running inside my cluster, sees that commit and rolls the app forward. Prometheus and Grafana watch the result.
In my timed demo this took about seven minutes, from git push to new pods serving traffic, without anyone typing kubectl.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the pieces fit.
On the left is GitHub. Actions builds and tests, the images go to the GitHub Container Registry, and a values file in the repo holds the image tag that should be running.
On the right is my Minikube cluster. A request comes in through the ingress-nginx Ingress. The root path goes to the frontend, which is nginx serving the React build. Anything under /api goes to the FastAPI backend. The browser only ever talks to nginx, so there's no CORS and the API is never exposed directly. The backend scales between 2 and 6 pods with an autoscaler, and all the state lives in one Postgres StatefulSet with a persistent volume.
Along the bottom, ArgoCD pulls the desired state from git, Prometheus scrapes the backend's /metrics endpoint, and Grafana shows the dashboard.
Separately, Terraform describes the AWS version, a VPC and an EKS cluster. I'll be honest about that part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Quickly, the tools, layer by layer.
The backend is Python with FastAPI, SQLAlchemy for the database and Alembic for migrations. The frontend is React built with Vite and served by an nginx image that runs without root. The database is Postgres 16.
Everything is containerised with multi-stage Docker builds and runs locally with Docker Compose.
The pipeline is GitHub Actions, pushing to GitHub's container registry. Security uses four scanners: Trivy for images and config, bandit for Python code, pip-audit and npm audit for dependencies, and gitleaks for secrets.
It runs on Kubernetes, packaged as a Helm chart, behind ingress-nginx. Terraform describes the AWS infrastructure. Prometheus and Grafana handle monitoring, and ArgoCD does GitOps.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is a normal REST API: list expenses filtered by month and category, create one, get, update or delete one by ID, and a monthly summary.
Two endpoints are just for Kubernetes. /health is liveness: it only says the process is alive, and it deliberately does not check the database. /ready is readiness, and it does check the database. Why split them? If Postgres has a hiccup, readiness takes the pods out of traffic, but liveness stays green, so Kubernetes doesn't pointlessly restart every API pod.
Money is stored as an exact decimal, never a float, and the database itself has a rule that the amount must be more than zero, so bad data can't sneak in around the API.
There are 33 tests at 100 percent coverage. They run on an in-memory SQLite database, never a real one, and the pipeline fails if coverage drops under 90 percent. That floor actually caught me once: I added a database retry loop with no tests, the first pipeline run went red at 89 percent, and I had to write the missing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images are multi-stage builds. The backend compiles its Python packages in a builder stage and only copies the finished ones into a slim runtime image. The frontend uses Node only to build the React app; the final image is just nginx and static files, so there's no Node, no node_modules, nothing extra.
Neither container runs as root. The backend runs as user 10001 and the frontend as nginx's user 101 on port 8080, which is why it doesn't need root to bind a port.
For local development, one command, docker compose up, starts Postgres, the API and the UI, and each service waits for the one before it to be actually healthy, not just started.
I also measured and fixed something here: nginx's default "one worker per CPU" counts the whole machine, so on my 24-core laptop a tiny container was running 24 workers. I pinned it to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pipeline, 14 jobs, about four minutes when everything is green.
First, tests: lint and unit tests, then a job that runs the real database migrations against a real Postgres, up, down and up again. That job exists because my unit tests never ran a migration, and a broken migration config once crash-looped the real container while every unit test passed.
Then the scanners run in parallel. Then both images are built and scanned with Trivy.
The security gate is one job that checks every scanner passed. Everything that ships depends on it, so a red scanner stops the release.
Then, only on the main branch, the images are pushed to GHCR. An important detail: it pushes the exact image that was scanned, not a rebuild, because a rebuild could pull in a newer, unscanned base layer.
Then it deploys to a temporary kind cluster with a real Ingress and runs smoke tests and helm test. The last job commits the new image tag. That's the hand-off to GitOps.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security story, and it's my favourite part because the gate actually stopped me.
Trivy looks inside the built image at every operating system package and library and checks them against known vulnerability databases. The first time I scanned my frontend image it found 43 fixable HIGH severity vulnerabilities. None were in my code. They all came from the Alpine packages in the official nginx base image: curl, openssl, expat and a few others. The gate failed the build and nothing was shipped.
I fixed it two ways. I upgraded the Alpine packages inside the Dockerfile, and I removed curl completely, because nothing in my image used it, and 20 of the 43 findings were in curl alone. Removing something beats patching it.
The next scan found zero vulnerabilities at any severity.
The backend still has some HIGH findings listed in its report, but they're Debian packages with no fix released yet. The gate fails on what I can actually fix today and reports everything else.
Secret scanning works too: I planted a fake AWS key in a scratch folder and gitleaks caught both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Kubernetes, the app lives in its own namespace that enforces the "restricted" Pod Security Standard. That means the API server refuses any pod that wants to run as root or keep extra Linux permissions. I proved it: a test pod asking for root was rejected straight away.
The backend and frontend are Deployments with at least two pods each. Postgres is a StatefulSet with a persistent volume, so the data survives restarts. ClusterIP Services connect them, and the Ingress routes slash to the frontend and /api to the backend.
Settings like the budget live in a ConfigMap. The database password is a Secret, and it's generated inside the cluster by a script, so it's never in git and never printed.
Each container has startup, readiness and liveness probes. The autoscaler grows the backend from 2 to 6 pods on CPU, and disruption budgets make sure maintenance can never take every pod down at once. A quota caps what the whole namespace can use.
And every single pod runs as a normal user with a read-only filesystem. I tested that too: trying to write a file inside the backend gives "read-only file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app is one Helm chart. A few decisions in it are worth explaining.
One: rollouts never drop below the desired number of pods, and each pod waits five seconds before shutting down. I'll show later why that pause matters, because I measured requests failing without it.
Two: the autoscaler owns the backend's replica count, so the chart simply doesn't set one. Otherwise every deploy would fight the autoscaler.
Three: environment variables are only read when a pod starts, so changing a ConfigMap normally does nothing. The chart puts a hash of the ConfigMap into the pod template, so a config change automatically rolls the pods.
Four: there's no password anywhere in the chart. It just names a Secret that already exists.
Five: the image tag must be a commit hash. If you try "latest", the chart refuses to render.
Six: database migrations run in an init container before each pod starts, and a Postgres lock makes sure two pods starting together don't both migrate.
Finally, helm test runs a pod inside the cluster that checks the whole path end to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show autoscaling for real, I wrote a load test script that sends traffic through the Ingress with 40 parallel workers for four minutes.
Within about 35 seconds, CPU went far above the 70 percent target and the autoscaler went from 2 pods to 4, then to 6, its maximum. ArgoCD stayed in sync the whole time, because the chart leaves the replica count to the autoscaler.
But the first run also showed a problem: 409 of about 21 thousand requests failed. I didn't hide that. I dug in, and it turned out the database itself was being restarted in the middle of the test. I'll explain why on the bugs slide.
After the fix I ran the exact same test again: more throughput, 138 requests a second instead of 88, and zero failed requests out of 33 thousand.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AWS side is Terraform. It builds a VPC across two availability zones in Mumbai, with a public and a private subnet in each. The worker nodes live in the private subnets with no public IP addresses. They reach the internet through a NAT gateway, and the only way in is a load balancer in a public subnet.
The EKS cluster is secure by default: its API endpoint is private unless you list your own IP, and Kubernetes Secrets are encrypted with my own KMS key. Validations even refuse to open the API to the whole internet.
Now the honest part. I don't have a paid AWS account, so I ran all of this against LocalStack, which emulates AWS in a container. No real credentials were used anywhere. The full plan is 39 resources. The network part, 23 resources, really applied, and I checked it by asking the emulated AWS API directly. EKS fails with a 501, because LocalStack's free edition doesn't emulate EKS at all. I show that error instead of hiding it, and the README has the exact commands to run it on a real account. Destroy removed everything cleanly.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monitoring, the backend exposes a /metrics endpoint in Prometheus format: requests by route and status code, latency as a histogram, and two business metrics, expenses created and money recorded per category.
Prometheus finds the backend pods through annotations on the pods themselves. So when the autoscaler adds a pod, Prometheus starts scraping it immediately, with no config to update.
One detail I'm proud of: metrics are labelled by the route template, like /api/expenses/{id}, never the real ID. Otherwise every expense would create its own time series, which is the classic way to take down a Prometheus server.
The Grafana dashboard is provisioned from a JSON file in git, nothing clicked together. It shows the running version, pods up, requests per second, error rate and p95 latency, then per-pod CPU and memory and the autoscaler. In this screenshot you can even see two versions running at once, because a rollout was happening.
There are five alert rules too, for things like the backend going down or the error rate climbing.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GitOps means git is the only way anything changes in the cluster. My pipeline never runs kubectl or helm against my cluster. It doesn't even have credentials for it. Its last job just commits the new image tag, and ArgoCD, running inside the cluster, pulls that commit and makes the cluster match.
This is a real timed run, in UTC. I pushed at 16:53. By 16:55 every test and scan had passed. At 16:57 the bot committed the new tag. ArgoCD noticed on its next check at 16:59 and started new pods, and by 17:00 every pod was on the new version, and the app's /health endpoint said so. About seven minutes, with nobody typing kubectl.
Self-heal is the other half. I made three manual changes in the live cluster: I broke the Service port, I scaled the frontend by hand, and I deleted the ConfigMap. ArgoCD put each one back by itself in two, two and six seconds.
Rolling back is just git revert.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challenge asks us to break the project on purpose and debug it. I did that in a separate copy of the app, a lab namespace, because in the real namespace ArgoCD fixes my "mistakes" in two seconds and I couldn't debug anything.
Each scenario follows the same steps: identify what the user sees, investigate, find the root cause, fix it, and verify.
A typo in the database host: new pods hang in their init container, but users notice nothing, because the old pods keep serving until new ones are ready. The init container's log and a DNS lookup show the name doesn't exist.
An image tag that was never pushed gives ImagePullBackOff, and describe pod says "not found".
Re-creating the database Secret looks vague from the app, just "OperationalError", but the Postgres log says exactly which password failed. I wrote a small script that fixes it without ever printing the password.
Two scenarios break Services: a wrong target port gives 502 errors, and a wrong label selector gives "connection refused", both while every pod looks perfectly healthy. Checking the Service's endpoints is what gives it away.
And a wrong scrape annotation leaves the app fine but monitoring blind.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were real bugs, not planned scenarios, and finding them taught me the most.
One: through the Ingress, about one request in four just hung. Measuring instead of guessing helped: 29 out of 100. nginx had started 24 workers, one per CPU on my laptop, and 7 of them died during a reload, but their sockets kept accepting connections. 7 out of 24 is 29 percent. Exactly the hang rate. Capping the workers at 4 fixed it.
Two, the scariest: a typo in the database host setting made my chart quietly create a second, empty database, and the app switched to it with every health check green. A user would have seen all their data disappear. The chart now refuses that setting.
Three: during every rolling update, about 1 percent of requests failed, because a pod stopped listening a moment before Kubernetes stopped sending it traffic. A five second pause before shutdown took it from 5 failures in 450 to 0 in 900.
Four: under load, the database's liveness probe, with only a one second timeout, decided a busy Postgres was dead and restarted it. I made the probe patient and gave the database more CPU, and the failures went to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I'll switch to the screen and show it working, in the same order as the story.
I'll add an expense in the app and watch the budget card and daily pace change. Then the same API in Swagger at /docs, creating, editing and deleting an expense.
Then the core of the demo: I'll make a small visible change, commit it and push. We'll watch the pipeline run: tests, scanners, the Trivy scan, the security gate, and the images landing on GHCR tagged with the commit hash.
While that runs I'll show the cluster with kubectl: pods, services and the autoscaler. When the pipeline finishes, the bot commits the new tag, ArgoCD picks it up, and the footer of the app changes to the new version.
Then I'll run the load test and watch the autoscaler go from 2 to 6 pods, live in Grafana and Prometheus.
And to finish, I'll break a Service on purpose and find the problem from its endpoints.
(Recording tip: the pipeline plus ArgoCD takes about 7 minutes. Start the push first, show the other parts while it runs, then come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the lessons I'll actually keep.
Green is not the same as correct. My most dangerous bug passed every probe. A health check proves a database answers, not that it's the right one.
Measure, don't guess. "The Ingress is sometimes slow" told me nothing. "29 out of 100 requests" pointed straight at 7 dead workers out of 24.
Defaults are sized for someone else's machine. nginx's automatic worker count looked at my 24-core laptop, not at the tiny container it was running in.
A liveness probe can turn a slow service into a down one. It should only fire when something is truly stuck, never just busy.
Let the gates fail you. The coverage check and Trivy both failed my builds, and both times they were right. Lowering the bar would have been easier and wrong.
And say what you couldn't do. LocalStack can't run EKS, so I showed the real error and documented how to run it on AWS, instead of pretending.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Kharcha: a small expense tracker, with a complete DevOps pipeline around it, from git push to monitored, self-healing pods.
Everything I showed, the code, the pipeline, the screenshots and a written explanation of every part, is in the repository linked here, in the final-devops-project folder. The README there maps each part of the grading rubric to the exact files and evidence.
Thanks for watching.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H_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00584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548640" y="2514600"/>
            <a:ext cx="8046720" cy="548640"/>
          </a:xfrm>
          <a:prstGeom prst="rect">
            <a:avLst/>
          </a:prstGeom>
          <a:noFill/>
          <a:ln/>
        </p:spPr>
        <p:txBody>
          <a:bodyPr wrap="square" rtlCol="0"/>
          <a:lstStyle>
            <a:lvl1pPr indent="0" marL="0">
              <a:buNone/>
              <a:defRPr lang="en-US" sz="2200" dirty="0">
                <a:solidFill>
                  <a:schemeClr val="accent6"/>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H_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rtlCol="0"/>
          <a:lstStyle>
            <a:lvl1pPr indent="0" marL="0">
              <a:buNone/>
              <a:defRPr lang="en-US" sz="3600" b="1" dirty="0">
                <a:solidFill>
                  <a:schemeClr val="tx1"/>
                </a:solidFill>
              </a:defRPr>
            </a:lvl1pPr>
          </a:lstStyle>
          <a:p>
            <a:pPr indent="0" marL="0">
              <a:buNone/>
            </a:pPr>
            <a:endParaRPr lang="en-US" sz="3600" dirty="0"/>
          </a:p>
        </p:txBody>
      </p:sp>
      <p:sp>
        <p:nvSpPr>
          <p:cNvPr id="3" name="Text 0"/>
          <p:cNvSpPr/>
          <p:nvPr/>
        </p:nvSpPr>
        <p:spPr>
          <a:xfrm>
            <a:off x="457200" y="4754880"/>
            <a:ext cx="4572000" cy="274320"/>
          </a:xfrm>
          <a:prstGeom prst="rect">
            <a:avLst/>
          </a:prstGeom>
          <a:noFill/>
          <a:ln/>
        </p:spPr>
        <p:txBody>
          <a:bodyPr wrap="square" lIns="0" tIns="0" rIns="0" bIns="0" rtlCol="0" anchor="ctr"/>
          <a:lstStyle/>
          <a:p>
            <a:pPr indent="0" marL="0">
              <a:buNone/>
            </a:pPr>
            <a:r>
              <a:rPr lang="en-US" sz="1000" dirty="0">
                <a:solidFill>
                  <a:schemeClr val="accent5"/>
                </a:solidFill>
              </a:rPr>
              <a:t>Kharcha · Final DevOps Project</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H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rtlCol="0"/>
          <a:lstStyle>
            <a:lvl1pPr indent="0" marL="0">
              <a:buNone/>
              <a:defRPr lang="en-US" sz="3600" b="1" dirty="0">
                <a:solidFill>
                  <a:schemeClr val="bg1"/>
                </a:solidFill>
              </a:defRPr>
            </a:lvl1pPr>
          </a:lstStyle>
          <a:p>
            <a:pPr indent="0" marL="0">
              <a:buNone/>
            </a:pPr>
            <a:endParaRPr lang="en-US" sz="3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slideLayout" Target="../slideLayouts/slideLayout3.xml"/><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slideLayout" Target="../slideLayouts/slideLayout3.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slideLayout" Target="../slideLayouts/slideLayout3.xml"/><Relationship Id="rId1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jpg"/><Relationship Id="rId9" Type="http://schemas.openxmlformats.org/officeDocument/2006/relationships/slideLayout" Target="../slideLayouts/slideLayout3.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9-1.png"/><Relationship Id="rId3" Type="http://schemas.openxmlformats.org/officeDocument/2006/relationships/image" Target="../media/image-9-2.png"/><Relationship Id="rId4" Type="http://schemas.openxmlformats.org/officeDocument/2006/relationships/image" Target="../media/image-9-3.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slideLayout" Target="../slideLayouts/slideLayout3.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3.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3.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4.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2" Type="http://schemas.openxmlformats.org/officeDocument/2006/relationships/hyperlink" Target="https://github.com/LAVYA255/devops-heros/tree/main/final-devops-project" TargetMode="External"/><Relationship Id="rId3" Type="http://schemas.openxmlformats.org/officeDocument/2006/relationships/hyperlink" Target="https://github.com/LAVYA255/devops-heros/actions/workflows/final-project.yml" TargetMode="External"/><Relationship Id="rId1" Type="http://schemas.openxmlformats.org/officeDocument/2006/relationships/image" Target="../media/image-20-1.png"/><Relationship Id="rId4" Type="http://schemas.openxmlformats.org/officeDocument/2006/relationships/slideLayout" Target="../slideLayouts/slideLayout2.xml"/><Relationship Id="rId5"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005840"/>
          </a:xfrm>
          <a:prstGeom prst="rect">
            <a:avLst/>
          </a:prstGeom>
          <a:noFill/>
          <a:ln/>
        </p:spPr>
        <p:txBody>
          <a:bodyPr wrap="square" lIns="0" tIns="0" rIns="0" bIns="0" rtlCol="0" anchor="b"/>
          <a:lstStyle/>
          <a:p>
            <a:pPr algn="l" indent="0" marL="0">
              <a:buNone/>
            </a:pPr>
            <a:r>
              <a:rPr lang="en-US" sz="5400" b="1" dirty="0">
                <a:solidFill>
                  <a:schemeClr val="bg1"/>
                </a:solidFill>
              </a:rPr>
              <a:t>Kharcha</a:t>
            </a:r>
            <a:endParaRPr lang="en-US" sz="5400" dirty="0"/>
          </a:p>
        </p:txBody>
      </p:sp>
      <p:sp>
        <p:nvSpPr>
          <p:cNvPr id="3" name="Text 0"/>
          <p:cNvSpPr/>
          <p:nvPr>
            <p:ph idx="101" type="body" hasCustomPrompt="1"/>
          </p:nvPr>
        </p:nvSpPr>
        <p:spPr>
          <a:xfrm>
            <a:off x="548640" y="2514600"/>
            <a:ext cx="8046720" cy="548640"/>
          </a:xfrm>
          <a:prstGeom prst="rect">
            <a:avLst/>
          </a:prstGeom>
          <a:noFill/>
          <a:ln/>
        </p:spPr>
        <p:txBody>
          <a:bodyPr wrap="square" lIns="0" tIns="0" rIns="0" bIns="0" rtlCol="0"/>
          <a:lstStyle/>
          <a:p>
            <a:pPr indent="0" marL="0">
              <a:buNone/>
            </a:pPr>
            <a:r>
              <a:rPr lang="en-US" sz="2200" dirty="0">
                <a:solidFill>
                  <a:schemeClr val="accent6"/>
                </a:solidFill>
              </a:rPr>
              <a:t>An expense tracker, shipped the DevOps way</a:t>
            </a:r>
            <a:endParaRPr lang="en-US" sz="2200" dirty="0"/>
          </a:p>
        </p:txBody>
      </p:sp>
      <p:sp>
        <p:nvSpPr>
          <p:cNvPr id="4" name="logo tile"/>
          <p:cNvSpPr/>
          <p:nvPr/>
        </p:nvSpPr>
        <p:spPr>
          <a:xfrm>
            <a:off x="548640" y="502920"/>
            <a:ext cx="777240" cy="777240"/>
          </a:xfrm>
          <a:prstGeom prst="roundRect">
            <a:avLst>
              <a:gd name="adj" fmla="val 16471"/>
            </a:avLst>
          </a:prstGeom>
          <a:solidFill>
            <a:schemeClr val="accent1"/>
          </a:solidFill>
          <a:ln w="12700">
            <a:solidFill>
              <a:schemeClr val="accent1"/>
            </a:solidFill>
            <a:prstDash val="solid"/>
          </a:ln>
        </p:spPr>
      </p:sp>
      <p:pic>
        <p:nvPicPr>
          <p:cNvPr id="5" name="logo rupee" descr="Kharcha logo">    </p:cNvPr>
          <p:cNvPicPr>
            <a:picLocks noChangeAspect="1"/>
          </p:cNvPicPr>
          <p:nvPr/>
        </p:nvPicPr>
        <p:blipFill>
          <a:blip r:embed="rId1"/>
          <a:stretch>
            <a:fillRect/>
          </a:stretch>
        </p:blipFill>
        <p:spPr>
          <a:xfrm>
            <a:off x="713232" y="667512"/>
            <a:ext cx="448056" cy="448056"/>
          </a:xfrm>
          <a:prstGeom prst="rect">
            <a:avLst/>
          </a:prstGeom>
        </p:spPr>
      </p:pic>
      <p:sp>
        <p:nvSpPr>
          <p:cNvPr id="6" name="Text 3"/>
          <p:cNvSpPr txBox="1"/>
          <p:nvPr/>
        </p:nvSpPr>
        <p:spPr>
          <a:xfrm>
            <a:off x="1508760" y="658368"/>
            <a:ext cx="3657600" cy="457200"/>
          </a:xfrm>
          <a:prstGeom prst="rect">
            <a:avLst/>
          </a:prstGeom>
          <a:noFill/>
          <a:ln/>
        </p:spPr>
        <p:txBody>
          <a:bodyPr wrap="square" lIns="0" tIns="0" rIns="0" bIns="0" rtlCol="0" anchor="ctr"/>
          <a:lstStyle/>
          <a:p>
            <a:pPr indent="0" marL="0">
              <a:buNone/>
            </a:pPr>
            <a:r>
              <a:rPr lang="en-US" sz="1600" i="1" dirty="0">
                <a:solidFill>
                  <a:schemeClr val="accent6"/>
                </a:solidFill>
              </a:rPr>
              <a:t>खर्चा  =  "expense"</a:t>
            </a:r>
            <a:endParaRPr lang="en-US" sz="1600" dirty="0"/>
          </a:p>
        </p:txBody>
      </p:sp>
      <p:sp>
        <p:nvSpPr>
          <p:cNvPr id="7" name="Text 4"/>
          <p:cNvSpPr txBox="1"/>
          <p:nvPr/>
        </p:nvSpPr>
        <p:spPr>
          <a:xfrm>
            <a:off x="548640" y="3931920"/>
            <a:ext cx="8046720" cy="685800"/>
          </a:xfrm>
          <a:prstGeom prst="rect">
            <a:avLst/>
          </a:prstGeom>
          <a:noFill/>
          <a:ln/>
        </p:spPr>
        <p:txBody>
          <a:bodyPr wrap="square" lIns="0" tIns="0" rIns="0" bIns="0" rtlCol="0" anchor="t"/>
          <a:lstStyle/>
          <a:p>
            <a:pPr indent="0" marL="0">
              <a:spcAft>
                <a:spcPts val="400"/>
              </a:spcAft>
              <a:buNone/>
            </a:pPr>
            <a:r>
              <a:rPr lang="en-US" sz="1400" dirty="0">
                <a:solidFill>
                  <a:schemeClr val="bg1"/>
                </a:solidFill>
              </a:rPr>
              <a:t>Session 21 · Final DevOps Capstone</a:t>
            </a:r>
            <a:endParaRPr lang="en-US" sz="1400" dirty="0"/>
          </a:p>
          <a:p>
            <a:pPr indent="0" marL="0">
              <a:spcAft>
                <a:spcPts val="400"/>
              </a:spcAft>
              <a:buNone/>
            </a:pPr>
            <a:r>
              <a:rPr lang="en-US" sz="1400" dirty="0">
                <a:solidFill>
                  <a:schemeClr val="bg1"/>
                </a:solidFill>
              </a:rPr>
              <a:t>Lavya  ·  github.com/LAVYA255/devops-heros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indent="0" marL="0">
              <a:buNone/>
            </a:pPr>
            <a:r>
              <a:rPr lang="en-US" sz="3600" b="1" dirty="0">
                <a:solidFill>
                  <a:schemeClr val="tx1"/>
                </a:solidFill>
              </a:rPr>
              <a:t>What Kharcha does</a:t>
            </a:r>
            <a:endParaRPr lang="en-US" sz="3600" dirty="0"/>
          </a:p>
        </p:txBody>
      </p:sp>
      <p:sp>
        <p:nvSpPr>
          <p:cNvPr id="3" name="app screenshot frame"/>
          <p:cNvSpPr/>
          <p:nvPr/>
        </p:nvSpPr>
        <p:spPr>
          <a:xfrm>
            <a:off x="429768" y="1069848"/>
            <a:ext cx="4901184" cy="3501809"/>
          </a:xfrm>
          <a:prstGeom prst="rect">
            <a:avLst/>
          </a:prstGeom>
          <a:solidFill>
            <a:srgbClr val="FFFFFF"/>
          </a:solidFill>
          <a:ln w="12700">
            <a:solidFill>
              <a:srgbClr val="E2E8F0"/>
            </a:solidFill>
            <a:prstDash val="solid"/>
          </a:ln>
          <a:effectLst>
            <a:outerShdw sx="100000" sy="100000" kx="0" ky="0" algn="bl" rotWithShape="0" blurRad="76200" dist="25400" dir="5400000">
              <a:srgbClr val="94A3B8">
                <a:alpha val="35000"/>
              </a:srgbClr>
            </a:outerShdw>
          </a:effectLst>
        </p:spPr>
      </p:sp>
      <p:pic>
        <p:nvPicPr>
          <p:cNvPr id="4" name="app screenshot" descr="Kharcha running in Kubernetes">    </p:cNvPr>
          <p:cNvPicPr>
            <a:picLocks noChangeAspect="1"/>
          </p:cNvPicPr>
          <p:nvPr/>
        </p:nvPicPr>
        <p:blipFill>
          <a:blip r:embed="rId1"/>
          <a:stretch>
            <a:fillRect/>
          </a:stretch>
        </p:blipFill>
        <p:spPr>
          <a:xfrm>
            <a:off x="457200" y="1097280"/>
            <a:ext cx="4846320" cy="3446945"/>
          </a:xfrm>
          <a:prstGeom prst="rect">
            <a:avLst/>
          </a:prstGeom>
        </p:spPr>
      </p:pic>
      <p:sp>
        <p:nvSpPr>
          <p:cNvPr id="5" name="Log every expense circle"/>
          <p:cNvSpPr/>
          <p:nvPr/>
        </p:nvSpPr>
        <p:spPr>
          <a:xfrm>
            <a:off x="5623560" y="1188720"/>
            <a:ext cx="548640" cy="548640"/>
          </a:xfrm>
          <a:prstGeom prst="ellipse">
            <a:avLst/>
          </a:prstGeom>
          <a:solidFill>
            <a:schemeClr val="accent1"/>
          </a:solidFill>
          <a:ln w="12700">
            <a:solidFill>
              <a:schemeClr val="accent1"/>
            </a:solidFill>
            <a:prstDash val="solid"/>
          </a:ln>
        </p:spPr>
      </p:sp>
      <p:pic>
        <p:nvPicPr>
          <p:cNvPr id="6" name="Log every expense icon" descr="Log every expense">    </p:cNvPr>
          <p:cNvPicPr>
            <a:picLocks noChangeAspect="1"/>
          </p:cNvPicPr>
          <p:nvPr/>
        </p:nvPicPr>
        <p:blipFill>
          <a:blip r:embed="rId2"/>
          <a:stretch>
            <a:fillRect/>
          </a:stretch>
        </p:blipFill>
        <p:spPr>
          <a:xfrm>
            <a:off x="5755234" y="1320394"/>
            <a:ext cx="285293" cy="285293"/>
          </a:xfrm>
          <a:prstGeom prst="rect">
            <a:avLst/>
          </a:prstGeom>
        </p:spPr>
      </p:pic>
      <p:sp>
        <p:nvSpPr>
          <p:cNvPr id="7" name="Text 3"/>
          <p:cNvSpPr txBox="1"/>
          <p:nvPr/>
        </p:nvSpPr>
        <p:spPr>
          <a:xfrm>
            <a:off x="6355080" y="1170432"/>
            <a:ext cx="2377440" cy="320040"/>
          </a:xfrm>
          <a:prstGeom prst="rect">
            <a:avLst/>
          </a:prstGeom>
          <a:noFill/>
          <a:ln/>
        </p:spPr>
        <p:txBody>
          <a:bodyPr wrap="square" lIns="0" tIns="0" rIns="0" bIns="0" rtlCol="0" anchor="t"/>
          <a:lstStyle/>
          <a:p>
            <a:pPr indent="0" marL="0">
              <a:buNone/>
            </a:pPr>
            <a:r>
              <a:rPr lang="en-US" sz="1600" b="1" dirty="0">
                <a:solidFill>
                  <a:schemeClr val="tx1"/>
                </a:solidFill>
              </a:rPr>
              <a:t>Log every expense</a:t>
            </a:r>
            <a:endParaRPr lang="en-US" sz="1600" dirty="0"/>
          </a:p>
        </p:txBody>
      </p:sp>
      <p:sp>
        <p:nvSpPr>
          <p:cNvPr id="8" name="Text 4"/>
          <p:cNvSpPr txBox="1"/>
          <p:nvPr/>
        </p:nvSpPr>
        <p:spPr>
          <a:xfrm>
            <a:off x="6355080" y="1517904"/>
            <a:ext cx="2377440" cy="685800"/>
          </a:xfrm>
          <a:prstGeom prst="rect">
            <a:avLst/>
          </a:prstGeom>
          <a:noFill/>
          <a:ln/>
        </p:spPr>
        <p:txBody>
          <a:bodyPr wrap="square" lIns="0" tIns="0" rIns="0" bIns="0" rtlCol="0" anchor="t"/>
          <a:lstStyle/>
          <a:p>
            <a:pPr indent="0" marL="0">
              <a:buNone/>
            </a:pPr>
            <a:r>
              <a:rPr lang="en-US" sz="1300" dirty="0">
                <a:solidFill>
                  <a:schemeClr val="accent5"/>
                </a:solidFill>
              </a:rPr>
              <a:t>Add, edit, delete, nine categories, filter by month</a:t>
            </a:r>
            <a:endParaRPr lang="en-US" sz="1300" dirty="0"/>
          </a:p>
        </p:txBody>
      </p:sp>
      <p:sp>
        <p:nvSpPr>
          <p:cNvPr id="9" name="Know your budget circle"/>
          <p:cNvSpPr/>
          <p:nvPr/>
        </p:nvSpPr>
        <p:spPr>
          <a:xfrm>
            <a:off x="5623560" y="2331720"/>
            <a:ext cx="548640" cy="548640"/>
          </a:xfrm>
          <a:prstGeom prst="ellipse">
            <a:avLst/>
          </a:prstGeom>
          <a:solidFill>
            <a:schemeClr val="accent1"/>
          </a:solidFill>
          <a:ln w="12700">
            <a:solidFill>
              <a:schemeClr val="accent1"/>
            </a:solidFill>
            <a:prstDash val="solid"/>
          </a:ln>
        </p:spPr>
      </p:sp>
      <p:pic>
        <p:nvPicPr>
          <p:cNvPr id="10" name="Know your budget icon" descr="Know your budget">    </p:cNvPr>
          <p:cNvPicPr>
            <a:picLocks noChangeAspect="1"/>
          </p:cNvPicPr>
          <p:nvPr/>
        </p:nvPicPr>
        <p:blipFill>
          <a:blip r:embed="rId3"/>
          <a:stretch>
            <a:fillRect/>
          </a:stretch>
        </p:blipFill>
        <p:spPr>
          <a:xfrm>
            <a:off x="5755234" y="2463394"/>
            <a:ext cx="285293" cy="285293"/>
          </a:xfrm>
          <a:prstGeom prst="rect">
            <a:avLst/>
          </a:prstGeom>
        </p:spPr>
      </p:pic>
      <p:sp>
        <p:nvSpPr>
          <p:cNvPr id="11" name="Text 6"/>
          <p:cNvSpPr txBox="1"/>
          <p:nvPr/>
        </p:nvSpPr>
        <p:spPr>
          <a:xfrm>
            <a:off x="6355080" y="2313432"/>
            <a:ext cx="2377440" cy="320040"/>
          </a:xfrm>
          <a:prstGeom prst="rect">
            <a:avLst/>
          </a:prstGeom>
          <a:noFill/>
          <a:ln/>
        </p:spPr>
        <p:txBody>
          <a:bodyPr wrap="square" lIns="0" tIns="0" rIns="0" bIns="0" rtlCol="0" anchor="t"/>
          <a:lstStyle/>
          <a:p>
            <a:pPr indent="0" marL="0">
              <a:buNone/>
            </a:pPr>
            <a:r>
              <a:rPr lang="en-US" sz="1600" b="1" dirty="0">
                <a:solidFill>
                  <a:schemeClr val="tx1"/>
                </a:solidFill>
              </a:rPr>
              <a:t>Know your budget</a:t>
            </a:r>
            <a:endParaRPr lang="en-US" sz="1600" dirty="0"/>
          </a:p>
        </p:txBody>
      </p:sp>
      <p:sp>
        <p:nvSpPr>
          <p:cNvPr id="12" name="Text 7"/>
          <p:cNvSpPr txBox="1"/>
          <p:nvPr/>
        </p:nvSpPr>
        <p:spPr>
          <a:xfrm>
            <a:off x="6355080" y="2660904"/>
            <a:ext cx="2377440" cy="685800"/>
          </a:xfrm>
          <a:prstGeom prst="rect">
            <a:avLst/>
          </a:prstGeom>
          <a:noFill/>
          <a:ln/>
        </p:spPr>
        <p:txBody>
          <a:bodyPr wrap="square" lIns="0" tIns="0" rIns="0" bIns="0" rtlCol="0" anchor="t"/>
          <a:lstStyle/>
          <a:p>
            <a:pPr indent="0" marL="0">
              <a:buNone/>
            </a:pPr>
            <a:r>
              <a:rPr lang="en-US" sz="1300" dirty="0">
                <a:solidFill>
                  <a:schemeClr val="accent5"/>
                </a:solidFill>
              </a:rPr>
              <a:t>Budget used, money left, the card turns red when you overspend</a:t>
            </a:r>
            <a:endParaRPr lang="en-US" sz="1300" dirty="0"/>
          </a:p>
        </p:txBody>
      </p:sp>
      <p:sp>
        <p:nvSpPr>
          <p:cNvPr id="13" name="See where it went circle"/>
          <p:cNvSpPr/>
          <p:nvPr/>
        </p:nvSpPr>
        <p:spPr>
          <a:xfrm>
            <a:off x="5623560" y="3474720"/>
            <a:ext cx="548640" cy="548640"/>
          </a:xfrm>
          <a:prstGeom prst="ellipse">
            <a:avLst/>
          </a:prstGeom>
          <a:solidFill>
            <a:schemeClr val="accent1"/>
          </a:solidFill>
          <a:ln w="12700">
            <a:solidFill>
              <a:schemeClr val="accent1"/>
            </a:solidFill>
            <a:prstDash val="solid"/>
          </a:ln>
        </p:spPr>
      </p:sp>
      <p:pic>
        <p:nvPicPr>
          <p:cNvPr id="14" name="See where it went icon" descr="See where it went">    </p:cNvPr>
          <p:cNvPicPr>
            <a:picLocks noChangeAspect="1"/>
          </p:cNvPicPr>
          <p:nvPr/>
        </p:nvPicPr>
        <p:blipFill>
          <a:blip r:embed="rId4"/>
          <a:stretch>
            <a:fillRect/>
          </a:stretch>
        </p:blipFill>
        <p:spPr>
          <a:xfrm>
            <a:off x="5755234" y="3606394"/>
            <a:ext cx="285293" cy="285293"/>
          </a:xfrm>
          <a:prstGeom prst="rect">
            <a:avLst/>
          </a:prstGeom>
        </p:spPr>
      </p:pic>
      <p:sp>
        <p:nvSpPr>
          <p:cNvPr id="15" name="Text 9"/>
          <p:cNvSpPr txBox="1"/>
          <p:nvPr/>
        </p:nvSpPr>
        <p:spPr>
          <a:xfrm>
            <a:off x="6355080" y="3456432"/>
            <a:ext cx="2377440" cy="320040"/>
          </a:xfrm>
          <a:prstGeom prst="rect">
            <a:avLst/>
          </a:prstGeom>
          <a:noFill/>
          <a:ln/>
        </p:spPr>
        <p:txBody>
          <a:bodyPr wrap="square" lIns="0" tIns="0" rIns="0" bIns="0" rtlCol="0" anchor="t"/>
          <a:lstStyle/>
          <a:p>
            <a:pPr indent="0" marL="0">
              <a:buNone/>
            </a:pPr>
            <a:r>
              <a:rPr lang="en-US" sz="1600" b="1" dirty="0">
                <a:solidFill>
                  <a:schemeClr val="tx1"/>
                </a:solidFill>
              </a:rPr>
              <a:t>See where it went</a:t>
            </a:r>
            <a:endParaRPr lang="en-US" sz="1600" dirty="0"/>
          </a:p>
        </p:txBody>
      </p:sp>
      <p:sp>
        <p:nvSpPr>
          <p:cNvPr id="16" name="Text 10"/>
          <p:cNvSpPr txBox="1"/>
          <p:nvPr/>
        </p:nvSpPr>
        <p:spPr>
          <a:xfrm>
            <a:off x="6355080" y="3803904"/>
            <a:ext cx="2377440" cy="685800"/>
          </a:xfrm>
          <a:prstGeom prst="rect">
            <a:avLst/>
          </a:prstGeom>
          <a:noFill/>
          <a:ln/>
        </p:spPr>
        <p:txBody>
          <a:bodyPr wrap="square" lIns="0" tIns="0" rIns="0" bIns="0" rtlCol="0" anchor="t"/>
          <a:lstStyle/>
          <a:p>
            <a:pPr indent="0" marL="0">
              <a:buNone/>
            </a:pPr>
            <a:r>
              <a:rPr lang="en-US" sz="1300" dirty="0">
                <a:solidFill>
                  <a:schemeClr val="accent5"/>
                </a:solidFill>
              </a:rPr>
              <a:t>Per-category bars and your spending pace per day</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indent="0" marL="0">
              <a:buNone/>
            </a:pPr>
            <a:r>
              <a:rPr lang="en-US" sz="3600" b="1" dirty="0">
                <a:solidFill>
                  <a:schemeClr val="tx1"/>
                </a:solidFill>
              </a:rPr>
              <a:t>From one commit to running pods</a:t>
            </a:r>
            <a:endParaRPr lang="en-US" sz="3600" dirty="0"/>
          </a:p>
        </p:txBody>
      </p:sp>
      <p:sp>
        <p:nvSpPr>
          <p:cNvPr id="3" name="step 1"/>
          <p:cNvSpPr/>
          <p:nvPr/>
        </p:nvSpPr>
        <p:spPr>
          <a:xfrm>
            <a:off x="457200" y="1234440"/>
            <a:ext cx="1481328" cy="1143000"/>
          </a:xfrm>
          <a:prstGeom prst="roundRect">
            <a:avLst>
              <a:gd name="adj" fmla="val 6400"/>
            </a:avLst>
          </a:prstGeom>
          <a:solidFill>
            <a:schemeClr val="bg2"/>
          </a:solidFill>
          <a:ln w="12700">
            <a:solidFill>
              <a:schemeClr val="bg2"/>
            </a:solidFill>
            <a:prstDash val="solid"/>
          </a:ln>
        </p:spPr>
      </p:sp>
      <p:sp>
        <p:nvSpPr>
          <p:cNvPr id="4" name="Git push circle"/>
          <p:cNvSpPr/>
          <p:nvPr/>
        </p:nvSpPr>
        <p:spPr>
          <a:xfrm>
            <a:off x="923544" y="1371600"/>
            <a:ext cx="548640" cy="548640"/>
          </a:xfrm>
          <a:prstGeom prst="ellipse">
            <a:avLst/>
          </a:prstGeom>
          <a:solidFill>
            <a:schemeClr val="accent1"/>
          </a:solidFill>
          <a:ln w="12700">
            <a:solidFill>
              <a:schemeClr val="accent1"/>
            </a:solidFill>
            <a:prstDash val="solid"/>
          </a:ln>
        </p:spPr>
      </p:sp>
      <p:pic>
        <p:nvPicPr>
          <p:cNvPr id="5" name="Git push icon" descr="Git push">    </p:cNvPr>
          <p:cNvPicPr>
            <a:picLocks noChangeAspect="1"/>
          </p:cNvPicPr>
          <p:nvPr/>
        </p:nvPicPr>
        <p:blipFill>
          <a:blip r:embed="rId1"/>
          <a:stretch>
            <a:fillRect/>
          </a:stretch>
        </p:blipFill>
        <p:spPr>
          <a:xfrm>
            <a:off x="1055218" y="1503274"/>
            <a:ext cx="285293" cy="285293"/>
          </a:xfrm>
          <a:prstGeom prst="rect">
            <a:avLst/>
          </a:prstGeom>
        </p:spPr>
      </p:pic>
      <p:sp>
        <p:nvSpPr>
          <p:cNvPr id="6" name="Text 3"/>
          <p:cNvSpPr txBox="1"/>
          <p:nvPr/>
        </p:nvSpPr>
        <p:spPr>
          <a:xfrm>
            <a:off x="502920" y="1984248"/>
            <a:ext cx="1389888" cy="320040"/>
          </a:xfrm>
          <a:prstGeom prst="rect">
            <a:avLst/>
          </a:prstGeom>
          <a:noFill/>
          <a:ln/>
        </p:spPr>
        <p:txBody>
          <a:bodyPr wrap="square" lIns="0" tIns="0" rIns="0" bIns="0" rtlCol="0" anchor="t"/>
          <a:lstStyle/>
          <a:p>
            <a:pPr algn="ctr" indent="0" marL="0">
              <a:buNone/>
            </a:pPr>
            <a:r>
              <a:rPr lang="en-US" sz="1400" b="1" dirty="0">
                <a:solidFill>
                  <a:schemeClr val="tx1"/>
                </a:solidFill>
              </a:rPr>
              <a:t>Git push</a:t>
            </a:r>
            <a:endParaRPr lang="en-US" sz="1400" dirty="0"/>
          </a:p>
        </p:txBody>
      </p:sp>
      <p:sp>
        <p:nvSpPr>
          <p:cNvPr id="7" name="Text 4"/>
          <p:cNvSpPr txBox="1"/>
          <p:nvPr/>
        </p:nvSpPr>
        <p:spPr>
          <a:xfrm>
            <a:off x="530352" y="1289304"/>
            <a:ext cx="274320" cy="228600"/>
          </a:xfrm>
          <a:prstGeom prst="rect">
            <a:avLst/>
          </a:prstGeom>
          <a:noFill/>
          <a:ln/>
        </p:spPr>
        <p:txBody>
          <a:bodyPr wrap="square" lIns="0" tIns="0" rIns="0" bIns="0" rtlCol="0" anchor="t"/>
          <a:lstStyle/>
          <a:p>
            <a:pPr indent="0" marL="0">
              <a:buNone/>
            </a:pPr>
            <a:r>
              <a:rPr lang="en-US" sz="1100" dirty="0">
                <a:solidFill>
                  <a:schemeClr val="accent5"/>
                </a:solidFill>
              </a:rPr>
              <a:t>1</a:t>
            </a:r>
            <a:endParaRPr lang="en-US" sz="1100" dirty="0"/>
          </a:p>
        </p:txBody>
      </p:sp>
      <p:sp>
        <p:nvSpPr>
          <p:cNvPr id="8" name="step 2"/>
          <p:cNvSpPr/>
          <p:nvPr/>
        </p:nvSpPr>
        <p:spPr>
          <a:xfrm>
            <a:off x="2121408" y="1234440"/>
            <a:ext cx="1481328" cy="1143000"/>
          </a:xfrm>
          <a:prstGeom prst="roundRect">
            <a:avLst>
              <a:gd name="adj" fmla="val 6400"/>
            </a:avLst>
          </a:prstGeom>
          <a:solidFill>
            <a:schemeClr val="bg2"/>
          </a:solidFill>
          <a:ln w="12700">
            <a:solidFill>
              <a:schemeClr val="bg2"/>
            </a:solidFill>
            <a:prstDash val="solid"/>
          </a:ln>
        </p:spPr>
      </p:sp>
      <p:sp>
        <p:nvSpPr>
          <p:cNvPr id="9" name="Tests circle"/>
          <p:cNvSpPr/>
          <p:nvPr/>
        </p:nvSpPr>
        <p:spPr>
          <a:xfrm>
            <a:off x="2587752" y="1371600"/>
            <a:ext cx="548640" cy="548640"/>
          </a:xfrm>
          <a:prstGeom prst="ellipse">
            <a:avLst/>
          </a:prstGeom>
          <a:solidFill>
            <a:schemeClr val="accent1"/>
          </a:solidFill>
          <a:ln w="12700">
            <a:solidFill>
              <a:schemeClr val="accent1"/>
            </a:solidFill>
            <a:prstDash val="solid"/>
          </a:ln>
        </p:spPr>
      </p:sp>
      <p:pic>
        <p:nvPicPr>
          <p:cNvPr id="10" name="Tests icon" descr="Tests">    </p:cNvPr>
          <p:cNvPicPr>
            <a:picLocks noChangeAspect="1"/>
          </p:cNvPicPr>
          <p:nvPr/>
        </p:nvPicPr>
        <p:blipFill>
          <a:blip r:embed="rId2"/>
          <a:stretch>
            <a:fillRect/>
          </a:stretch>
        </p:blipFill>
        <p:spPr>
          <a:xfrm>
            <a:off x="2719426" y="1503274"/>
            <a:ext cx="285293" cy="285293"/>
          </a:xfrm>
          <a:prstGeom prst="rect">
            <a:avLst/>
          </a:prstGeom>
        </p:spPr>
      </p:pic>
      <p:sp>
        <p:nvSpPr>
          <p:cNvPr id="11" name="Text 7"/>
          <p:cNvSpPr txBox="1"/>
          <p:nvPr/>
        </p:nvSpPr>
        <p:spPr>
          <a:xfrm>
            <a:off x="2167128" y="1984248"/>
            <a:ext cx="1389888" cy="320040"/>
          </a:xfrm>
          <a:prstGeom prst="rect">
            <a:avLst/>
          </a:prstGeom>
          <a:noFill/>
          <a:ln/>
        </p:spPr>
        <p:txBody>
          <a:bodyPr wrap="square" lIns="0" tIns="0" rIns="0" bIns="0" rtlCol="0" anchor="t"/>
          <a:lstStyle/>
          <a:p>
            <a:pPr algn="ctr" indent="0" marL="0">
              <a:buNone/>
            </a:pPr>
            <a:r>
              <a:rPr lang="en-US" sz="1400" b="1" dirty="0">
                <a:solidFill>
                  <a:schemeClr val="tx1"/>
                </a:solidFill>
              </a:rPr>
              <a:t>Tests</a:t>
            </a:r>
            <a:endParaRPr lang="en-US" sz="1400" dirty="0"/>
          </a:p>
        </p:txBody>
      </p:sp>
      <p:sp>
        <p:nvSpPr>
          <p:cNvPr id="12" name="Text 8"/>
          <p:cNvSpPr txBox="1"/>
          <p:nvPr/>
        </p:nvSpPr>
        <p:spPr>
          <a:xfrm>
            <a:off x="2194560" y="1289304"/>
            <a:ext cx="274320" cy="228600"/>
          </a:xfrm>
          <a:prstGeom prst="rect">
            <a:avLst/>
          </a:prstGeom>
          <a:noFill/>
          <a:ln/>
        </p:spPr>
        <p:txBody>
          <a:bodyPr wrap="square" lIns="0" tIns="0" rIns="0" bIns="0" rtlCol="0" anchor="t"/>
          <a:lstStyle/>
          <a:p>
            <a:pPr indent="0" marL="0">
              <a:buNone/>
            </a:pPr>
            <a:r>
              <a:rPr lang="en-US" sz="1100" dirty="0">
                <a:solidFill>
                  <a:schemeClr val="accent5"/>
                </a:solidFill>
              </a:rPr>
              <a:t>2</a:t>
            </a:r>
            <a:endParaRPr lang="en-US" sz="1100" dirty="0"/>
          </a:p>
        </p:txBody>
      </p:sp>
      <p:sp>
        <p:nvSpPr>
          <p:cNvPr id="13" name="step 3"/>
          <p:cNvSpPr/>
          <p:nvPr/>
        </p:nvSpPr>
        <p:spPr>
          <a:xfrm>
            <a:off x="3785616" y="1234440"/>
            <a:ext cx="1481328" cy="1143000"/>
          </a:xfrm>
          <a:prstGeom prst="roundRect">
            <a:avLst>
              <a:gd name="adj" fmla="val 6400"/>
            </a:avLst>
          </a:prstGeom>
          <a:solidFill>
            <a:schemeClr val="bg2"/>
          </a:solidFill>
          <a:ln w="12700">
            <a:solidFill>
              <a:schemeClr val="bg2"/>
            </a:solidFill>
            <a:prstDash val="solid"/>
          </a:ln>
        </p:spPr>
      </p:sp>
      <p:sp>
        <p:nvSpPr>
          <p:cNvPr id="14" name="Security scans circle"/>
          <p:cNvSpPr/>
          <p:nvPr/>
        </p:nvSpPr>
        <p:spPr>
          <a:xfrm>
            <a:off x="4251960" y="1371600"/>
            <a:ext cx="548640" cy="548640"/>
          </a:xfrm>
          <a:prstGeom prst="ellipse">
            <a:avLst/>
          </a:prstGeom>
          <a:solidFill>
            <a:schemeClr val="accent1"/>
          </a:solidFill>
          <a:ln w="12700">
            <a:solidFill>
              <a:schemeClr val="accent1"/>
            </a:solidFill>
            <a:prstDash val="solid"/>
          </a:ln>
        </p:spPr>
      </p:sp>
      <p:pic>
        <p:nvPicPr>
          <p:cNvPr id="15" name="Security scans icon" descr="Security scans">    </p:cNvPr>
          <p:cNvPicPr>
            <a:picLocks noChangeAspect="1"/>
          </p:cNvPicPr>
          <p:nvPr/>
        </p:nvPicPr>
        <p:blipFill>
          <a:blip r:embed="rId3"/>
          <a:stretch>
            <a:fillRect/>
          </a:stretch>
        </p:blipFill>
        <p:spPr>
          <a:xfrm>
            <a:off x="4383634" y="1503274"/>
            <a:ext cx="285293" cy="285293"/>
          </a:xfrm>
          <a:prstGeom prst="rect">
            <a:avLst/>
          </a:prstGeom>
        </p:spPr>
      </p:pic>
      <p:sp>
        <p:nvSpPr>
          <p:cNvPr id="16" name="Text 11"/>
          <p:cNvSpPr txBox="1"/>
          <p:nvPr/>
        </p:nvSpPr>
        <p:spPr>
          <a:xfrm>
            <a:off x="3831336" y="1984248"/>
            <a:ext cx="1389888" cy="320040"/>
          </a:xfrm>
          <a:prstGeom prst="rect">
            <a:avLst/>
          </a:prstGeom>
          <a:noFill/>
          <a:ln/>
        </p:spPr>
        <p:txBody>
          <a:bodyPr wrap="square" lIns="0" tIns="0" rIns="0" bIns="0" rtlCol="0" anchor="t"/>
          <a:lstStyle/>
          <a:p>
            <a:pPr algn="ctr" indent="0" marL="0">
              <a:buNone/>
            </a:pPr>
            <a:r>
              <a:rPr lang="en-US" sz="1400" b="1" dirty="0">
                <a:solidFill>
                  <a:schemeClr val="tx1"/>
                </a:solidFill>
              </a:rPr>
              <a:t>Security scans</a:t>
            </a:r>
            <a:endParaRPr lang="en-US" sz="1400" dirty="0"/>
          </a:p>
        </p:txBody>
      </p:sp>
      <p:sp>
        <p:nvSpPr>
          <p:cNvPr id="17" name="Text 12"/>
          <p:cNvSpPr txBox="1"/>
          <p:nvPr/>
        </p:nvSpPr>
        <p:spPr>
          <a:xfrm>
            <a:off x="3858768" y="1289304"/>
            <a:ext cx="274320" cy="228600"/>
          </a:xfrm>
          <a:prstGeom prst="rect">
            <a:avLst/>
          </a:prstGeom>
          <a:noFill/>
          <a:ln/>
        </p:spPr>
        <p:txBody>
          <a:bodyPr wrap="square" lIns="0" tIns="0" rIns="0" bIns="0" rtlCol="0" anchor="t"/>
          <a:lstStyle/>
          <a:p>
            <a:pPr indent="0" marL="0">
              <a:buNone/>
            </a:pPr>
            <a:r>
              <a:rPr lang="en-US" sz="1100" dirty="0">
                <a:solidFill>
                  <a:schemeClr val="accent5"/>
                </a:solidFill>
              </a:rPr>
              <a:t>3</a:t>
            </a:r>
            <a:endParaRPr lang="en-US" sz="1100" dirty="0"/>
          </a:p>
        </p:txBody>
      </p:sp>
      <p:sp>
        <p:nvSpPr>
          <p:cNvPr id="18" name="step 4"/>
          <p:cNvSpPr/>
          <p:nvPr/>
        </p:nvSpPr>
        <p:spPr>
          <a:xfrm>
            <a:off x="5449824" y="1234440"/>
            <a:ext cx="1481328" cy="1143000"/>
          </a:xfrm>
          <a:prstGeom prst="roundRect">
            <a:avLst>
              <a:gd name="adj" fmla="val 6400"/>
            </a:avLst>
          </a:prstGeom>
          <a:solidFill>
            <a:schemeClr val="bg2"/>
          </a:solidFill>
          <a:ln w="12700">
            <a:solidFill>
              <a:schemeClr val="bg2"/>
            </a:solidFill>
            <a:prstDash val="solid"/>
          </a:ln>
        </p:spPr>
      </p:sp>
      <p:sp>
        <p:nvSpPr>
          <p:cNvPr id="19" name="Docker build circle"/>
          <p:cNvSpPr/>
          <p:nvPr/>
        </p:nvSpPr>
        <p:spPr>
          <a:xfrm>
            <a:off x="5916168" y="1371600"/>
            <a:ext cx="548640" cy="548640"/>
          </a:xfrm>
          <a:prstGeom prst="ellipse">
            <a:avLst/>
          </a:prstGeom>
          <a:solidFill>
            <a:schemeClr val="accent1"/>
          </a:solidFill>
          <a:ln w="12700">
            <a:solidFill>
              <a:schemeClr val="accent1"/>
            </a:solidFill>
            <a:prstDash val="solid"/>
          </a:ln>
        </p:spPr>
      </p:sp>
      <p:pic>
        <p:nvPicPr>
          <p:cNvPr id="20" name="Docker build icon" descr="Docker build">    </p:cNvPr>
          <p:cNvPicPr>
            <a:picLocks noChangeAspect="1"/>
          </p:cNvPicPr>
          <p:nvPr/>
        </p:nvPicPr>
        <p:blipFill>
          <a:blip r:embed="rId4"/>
          <a:stretch>
            <a:fillRect/>
          </a:stretch>
        </p:blipFill>
        <p:spPr>
          <a:xfrm>
            <a:off x="6047842" y="1503274"/>
            <a:ext cx="285293" cy="285293"/>
          </a:xfrm>
          <a:prstGeom prst="rect">
            <a:avLst/>
          </a:prstGeom>
        </p:spPr>
      </p:pic>
      <p:sp>
        <p:nvSpPr>
          <p:cNvPr id="21" name="Text 15"/>
          <p:cNvSpPr txBox="1"/>
          <p:nvPr/>
        </p:nvSpPr>
        <p:spPr>
          <a:xfrm>
            <a:off x="5495544" y="1984248"/>
            <a:ext cx="1389888" cy="320040"/>
          </a:xfrm>
          <a:prstGeom prst="rect">
            <a:avLst/>
          </a:prstGeom>
          <a:noFill/>
          <a:ln/>
        </p:spPr>
        <p:txBody>
          <a:bodyPr wrap="square" lIns="0" tIns="0" rIns="0" bIns="0" rtlCol="0" anchor="t"/>
          <a:lstStyle/>
          <a:p>
            <a:pPr algn="ctr" indent="0" marL="0">
              <a:buNone/>
            </a:pPr>
            <a:r>
              <a:rPr lang="en-US" sz="1400" b="1" dirty="0">
                <a:solidFill>
                  <a:schemeClr val="tx1"/>
                </a:solidFill>
              </a:rPr>
              <a:t>Docker build</a:t>
            </a:r>
            <a:endParaRPr lang="en-US" sz="1400" dirty="0"/>
          </a:p>
        </p:txBody>
      </p:sp>
      <p:sp>
        <p:nvSpPr>
          <p:cNvPr id="22" name="Text 16"/>
          <p:cNvSpPr txBox="1"/>
          <p:nvPr/>
        </p:nvSpPr>
        <p:spPr>
          <a:xfrm>
            <a:off x="5522976" y="1289304"/>
            <a:ext cx="274320" cy="228600"/>
          </a:xfrm>
          <a:prstGeom prst="rect">
            <a:avLst/>
          </a:prstGeom>
          <a:noFill/>
          <a:ln/>
        </p:spPr>
        <p:txBody>
          <a:bodyPr wrap="square" lIns="0" tIns="0" rIns="0" bIns="0" rtlCol="0" anchor="t"/>
          <a:lstStyle/>
          <a:p>
            <a:pPr indent="0" marL="0">
              <a:buNone/>
            </a:pPr>
            <a:r>
              <a:rPr lang="en-US" sz="1100" dirty="0">
                <a:solidFill>
                  <a:schemeClr val="accent5"/>
                </a:solidFill>
              </a:rPr>
              <a:t>4</a:t>
            </a:r>
            <a:endParaRPr lang="en-US" sz="1100" dirty="0"/>
          </a:p>
        </p:txBody>
      </p:sp>
      <p:sp>
        <p:nvSpPr>
          <p:cNvPr id="23" name="step 5"/>
          <p:cNvSpPr/>
          <p:nvPr/>
        </p:nvSpPr>
        <p:spPr>
          <a:xfrm>
            <a:off x="7114032" y="1234440"/>
            <a:ext cx="1481328" cy="1143000"/>
          </a:xfrm>
          <a:prstGeom prst="roundRect">
            <a:avLst>
              <a:gd name="adj" fmla="val 6400"/>
            </a:avLst>
          </a:prstGeom>
          <a:solidFill>
            <a:schemeClr val="bg2"/>
          </a:solidFill>
          <a:ln w="12700">
            <a:solidFill>
              <a:schemeClr val="bg2"/>
            </a:solidFill>
            <a:prstDash val="solid"/>
          </a:ln>
        </p:spPr>
      </p:sp>
      <p:sp>
        <p:nvSpPr>
          <p:cNvPr id="24" name="Security gate circle"/>
          <p:cNvSpPr/>
          <p:nvPr/>
        </p:nvSpPr>
        <p:spPr>
          <a:xfrm>
            <a:off x="7580376" y="1371600"/>
            <a:ext cx="548640" cy="548640"/>
          </a:xfrm>
          <a:prstGeom prst="ellipse">
            <a:avLst/>
          </a:prstGeom>
          <a:solidFill>
            <a:schemeClr val="accent3"/>
          </a:solidFill>
          <a:ln w="12700">
            <a:solidFill>
              <a:schemeClr val="accent3"/>
            </a:solidFill>
            <a:prstDash val="solid"/>
          </a:ln>
        </p:spPr>
      </p:sp>
      <p:pic>
        <p:nvPicPr>
          <p:cNvPr id="25" name="Security gate icon" descr="Security gate">    </p:cNvPr>
          <p:cNvPicPr>
            <a:picLocks noChangeAspect="1"/>
          </p:cNvPicPr>
          <p:nvPr/>
        </p:nvPicPr>
        <p:blipFill>
          <a:blip r:embed="rId5"/>
          <a:stretch>
            <a:fillRect/>
          </a:stretch>
        </p:blipFill>
        <p:spPr>
          <a:xfrm>
            <a:off x="7712050" y="1503274"/>
            <a:ext cx="285293" cy="285293"/>
          </a:xfrm>
          <a:prstGeom prst="rect">
            <a:avLst/>
          </a:prstGeom>
        </p:spPr>
      </p:pic>
      <p:sp>
        <p:nvSpPr>
          <p:cNvPr id="26" name="Text 19"/>
          <p:cNvSpPr txBox="1"/>
          <p:nvPr/>
        </p:nvSpPr>
        <p:spPr>
          <a:xfrm>
            <a:off x="7159752" y="1984248"/>
            <a:ext cx="1389888" cy="320040"/>
          </a:xfrm>
          <a:prstGeom prst="rect">
            <a:avLst/>
          </a:prstGeom>
          <a:noFill/>
          <a:ln/>
        </p:spPr>
        <p:txBody>
          <a:bodyPr wrap="square" lIns="0" tIns="0" rIns="0" bIns="0" rtlCol="0" anchor="t"/>
          <a:lstStyle/>
          <a:p>
            <a:pPr algn="ctr" indent="0" marL="0">
              <a:buNone/>
            </a:pPr>
            <a:r>
              <a:rPr lang="en-US" sz="1400" b="1" dirty="0">
                <a:solidFill>
                  <a:schemeClr val="tx1"/>
                </a:solidFill>
              </a:rPr>
              <a:t>Security gate</a:t>
            </a:r>
            <a:endParaRPr lang="en-US" sz="1400" dirty="0"/>
          </a:p>
        </p:txBody>
      </p:sp>
      <p:sp>
        <p:nvSpPr>
          <p:cNvPr id="27" name="Text 20"/>
          <p:cNvSpPr txBox="1"/>
          <p:nvPr/>
        </p:nvSpPr>
        <p:spPr>
          <a:xfrm>
            <a:off x="7187184" y="1289304"/>
            <a:ext cx="274320" cy="228600"/>
          </a:xfrm>
          <a:prstGeom prst="rect">
            <a:avLst/>
          </a:prstGeom>
          <a:noFill/>
          <a:ln/>
        </p:spPr>
        <p:txBody>
          <a:bodyPr wrap="square" lIns="0" tIns="0" rIns="0" bIns="0" rtlCol="0" anchor="t"/>
          <a:lstStyle/>
          <a:p>
            <a:pPr indent="0" marL="0">
              <a:buNone/>
            </a:pPr>
            <a:r>
              <a:rPr lang="en-US" sz="1100" dirty="0">
                <a:solidFill>
                  <a:schemeClr val="accent5"/>
                </a:solidFill>
              </a:rPr>
              <a:t>5</a:t>
            </a:r>
            <a:endParaRPr lang="en-US" sz="1100" dirty="0"/>
          </a:p>
        </p:txBody>
      </p:sp>
      <p:sp>
        <p:nvSpPr>
          <p:cNvPr id="28" name="step 6"/>
          <p:cNvSpPr/>
          <p:nvPr/>
        </p:nvSpPr>
        <p:spPr>
          <a:xfrm>
            <a:off x="7114032" y="2834640"/>
            <a:ext cx="1481328" cy="1143000"/>
          </a:xfrm>
          <a:prstGeom prst="roundRect">
            <a:avLst>
              <a:gd name="adj" fmla="val 6400"/>
            </a:avLst>
          </a:prstGeom>
          <a:solidFill>
            <a:schemeClr val="bg2"/>
          </a:solidFill>
          <a:ln w="12700">
            <a:solidFill>
              <a:schemeClr val="bg2"/>
            </a:solidFill>
            <a:prstDash val="solid"/>
          </a:ln>
        </p:spPr>
      </p:sp>
      <p:sp>
        <p:nvSpPr>
          <p:cNvPr id="29" name="GHCR :sha circle"/>
          <p:cNvSpPr/>
          <p:nvPr/>
        </p:nvSpPr>
        <p:spPr>
          <a:xfrm>
            <a:off x="7580376" y="2971800"/>
            <a:ext cx="548640" cy="548640"/>
          </a:xfrm>
          <a:prstGeom prst="ellipse">
            <a:avLst/>
          </a:prstGeom>
          <a:solidFill>
            <a:schemeClr val="accent1"/>
          </a:solidFill>
          <a:ln w="12700">
            <a:solidFill>
              <a:schemeClr val="accent1"/>
            </a:solidFill>
            <a:prstDash val="solid"/>
          </a:ln>
        </p:spPr>
      </p:sp>
      <p:pic>
        <p:nvPicPr>
          <p:cNvPr id="30" name="GHCR :sha icon" descr="GHCR :sha">    </p:cNvPr>
          <p:cNvPicPr>
            <a:picLocks noChangeAspect="1"/>
          </p:cNvPicPr>
          <p:nvPr/>
        </p:nvPicPr>
        <p:blipFill>
          <a:blip r:embed="rId6"/>
          <a:stretch>
            <a:fillRect/>
          </a:stretch>
        </p:blipFill>
        <p:spPr>
          <a:xfrm>
            <a:off x="7712050" y="3103474"/>
            <a:ext cx="285293" cy="285293"/>
          </a:xfrm>
          <a:prstGeom prst="rect">
            <a:avLst/>
          </a:prstGeom>
        </p:spPr>
      </p:pic>
      <p:sp>
        <p:nvSpPr>
          <p:cNvPr id="31" name="Text 23"/>
          <p:cNvSpPr txBox="1"/>
          <p:nvPr/>
        </p:nvSpPr>
        <p:spPr>
          <a:xfrm>
            <a:off x="7159752" y="3584448"/>
            <a:ext cx="1389888" cy="320040"/>
          </a:xfrm>
          <a:prstGeom prst="rect">
            <a:avLst/>
          </a:prstGeom>
          <a:noFill/>
          <a:ln/>
        </p:spPr>
        <p:txBody>
          <a:bodyPr wrap="square" lIns="0" tIns="0" rIns="0" bIns="0" rtlCol="0" anchor="t"/>
          <a:lstStyle/>
          <a:p>
            <a:pPr algn="ctr" indent="0" marL="0">
              <a:buNone/>
            </a:pPr>
            <a:r>
              <a:rPr lang="en-US" sz="1400" b="1" dirty="0">
                <a:solidFill>
                  <a:schemeClr val="tx1"/>
                </a:solidFill>
              </a:rPr>
              <a:t>GHCR :sha</a:t>
            </a:r>
            <a:endParaRPr lang="en-US" sz="1400" dirty="0"/>
          </a:p>
        </p:txBody>
      </p:sp>
      <p:sp>
        <p:nvSpPr>
          <p:cNvPr id="32" name="Text 24"/>
          <p:cNvSpPr txBox="1"/>
          <p:nvPr/>
        </p:nvSpPr>
        <p:spPr>
          <a:xfrm>
            <a:off x="7187184" y="2889504"/>
            <a:ext cx="274320" cy="228600"/>
          </a:xfrm>
          <a:prstGeom prst="rect">
            <a:avLst/>
          </a:prstGeom>
          <a:noFill/>
          <a:ln/>
        </p:spPr>
        <p:txBody>
          <a:bodyPr wrap="square" lIns="0" tIns="0" rIns="0" bIns="0" rtlCol="0" anchor="t"/>
          <a:lstStyle/>
          <a:p>
            <a:pPr indent="0" marL="0">
              <a:buNone/>
            </a:pPr>
            <a:r>
              <a:rPr lang="en-US" sz="1100" dirty="0">
                <a:solidFill>
                  <a:schemeClr val="accent5"/>
                </a:solidFill>
              </a:rPr>
              <a:t>6</a:t>
            </a:r>
            <a:endParaRPr lang="en-US" sz="1100" dirty="0"/>
          </a:p>
        </p:txBody>
      </p:sp>
      <p:sp>
        <p:nvSpPr>
          <p:cNvPr id="33" name="step 7"/>
          <p:cNvSpPr/>
          <p:nvPr/>
        </p:nvSpPr>
        <p:spPr>
          <a:xfrm>
            <a:off x="5449824" y="2834640"/>
            <a:ext cx="1481328" cy="1143000"/>
          </a:xfrm>
          <a:prstGeom prst="roundRect">
            <a:avLst>
              <a:gd name="adj" fmla="val 6400"/>
            </a:avLst>
          </a:prstGeom>
          <a:solidFill>
            <a:schemeClr val="bg2"/>
          </a:solidFill>
          <a:ln w="12700">
            <a:solidFill>
              <a:schemeClr val="bg2"/>
            </a:solidFill>
            <a:prstDash val="solid"/>
          </a:ln>
        </p:spPr>
      </p:sp>
      <p:sp>
        <p:nvSpPr>
          <p:cNvPr id="34" name="Kind deploy test circle"/>
          <p:cNvSpPr/>
          <p:nvPr/>
        </p:nvSpPr>
        <p:spPr>
          <a:xfrm>
            <a:off x="5916168" y="2971800"/>
            <a:ext cx="548640" cy="548640"/>
          </a:xfrm>
          <a:prstGeom prst="ellipse">
            <a:avLst/>
          </a:prstGeom>
          <a:solidFill>
            <a:schemeClr val="accent1"/>
          </a:solidFill>
          <a:ln w="12700">
            <a:solidFill>
              <a:schemeClr val="accent1"/>
            </a:solidFill>
            <a:prstDash val="solid"/>
          </a:ln>
        </p:spPr>
      </p:sp>
      <p:pic>
        <p:nvPicPr>
          <p:cNvPr id="35" name="Kind deploy test icon" descr="Kind deploy test">    </p:cNvPr>
          <p:cNvPicPr>
            <a:picLocks noChangeAspect="1"/>
          </p:cNvPicPr>
          <p:nvPr/>
        </p:nvPicPr>
        <p:blipFill>
          <a:blip r:embed="rId7"/>
          <a:stretch>
            <a:fillRect/>
          </a:stretch>
        </p:blipFill>
        <p:spPr>
          <a:xfrm>
            <a:off x="6047842" y="3103474"/>
            <a:ext cx="285293" cy="285293"/>
          </a:xfrm>
          <a:prstGeom prst="rect">
            <a:avLst/>
          </a:prstGeom>
        </p:spPr>
      </p:pic>
      <p:sp>
        <p:nvSpPr>
          <p:cNvPr id="36" name="Text 27"/>
          <p:cNvSpPr txBox="1"/>
          <p:nvPr/>
        </p:nvSpPr>
        <p:spPr>
          <a:xfrm>
            <a:off x="5495544" y="3584448"/>
            <a:ext cx="1389888" cy="320040"/>
          </a:xfrm>
          <a:prstGeom prst="rect">
            <a:avLst/>
          </a:prstGeom>
          <a:noFill/>
          <a:ln/>
        </p:spPr>
        <p:txBody>
          <a:bodyPr wrap="square" lIns="0" tIns="0" rIns="0" bIns="0" rtlCol="0" anchor="t"/>
          <a:lstStyle/>
          <a:p>
            <a:pPr algn="ctr" indent="0" marL="0">
              <a:buNone/>
            </a:pPr>
            <a:r>
              <a:rPr lang="en-US" sz="1400" b="1" dirty="0">
                <a:solidFill>
                  <a:schemeClr val="tx1"/>
                </a:solidFill>
              </a:rPr>
              <a:t>Kind deploy test</a:t>
            </a:r>
            <a:endParaRPr lang="en-US" sz="1400" dirty="0"/>
          </a:p>
        </p:txBody>
      </p:sp>
      <p:sp>
        <p:nvSpPr>
          <p:cNvPr id="37" name="Text 28"/>
          <p:cNvSpPr txBox="1"/>
          <p:nvPr/>
        </p:nvSpPr>
        <p:spPr>
          <a:xfrm>
            <a:off x="5522976" y="2889504"/>
            <a:ext cx="274320" cy="228600"/>
          </a:xfrm>
          <a:prstGeom prst="rect">
            <a:avLst/>
          </a:prstGeom>
          <a:noFill/>
          <a:ln/>
        </p:spPr>
        <p:txBody>
          <a:bodyPr wrap="square" lIns="0" tIns="0" rIns="0" bIns="0" rtlCol="0" anchor="t"/>
          <a:lstStyle/>
          <a:p>
            <a:pPr indent="0" marL="0">
              <a:buNone/>
            </a:pPr>
            <a:r>
              <a:rPr lang="en-US" sz="1100" dirty="0">
                <a:solidFill>
                  <a:schemeClr val="accent5"/>
                </a:solidFill>
              </a:rPr>
              <a:t>7</a:t>
            </a:r>
            <a:endParaRPr lang="en-US" sz="1100" dirty="0"/>
          </a:p>
        </p:txBody>
      </p:sp>
      <p:sp>
        <p:nvSpPr>
          <p:cNvPr id="38" name="step 8"/>
          <p:cNvSpPr/>
          <p:nvPr/>
        </p:nvSpPr>
        <p:spPr>
          <a:xfrm>
            <a:off x="3785616" y="2834640"/>
            <a:ext cx="1481328" cy="1143000"/>
          </a:xfrm>
          <a:prstGeom prst="roundRect">
            <a:avLst>
              <a:gd name="adj" fmla="val 6400"/>
            </a:avLst>
          </a:prstGeom>
          <a:solidFill>
            <a:schemeClr val="bg2"/>
          </a:solidFill>
          <a:ln w="12700">
            <a:solidFill>
              <a:schemeClr val="bg2"/>
            </a:solidFill>
            <a:prstDash val="solid"/>
          </a:ln>
        </p:spPr>
      </p:sp>
      <p:sp>
        <p:nvSpPr>
          <p:cNvPr id="39" name="GitOps commit circle"/>
          <p:cNvSpPr/>
          <p:nvPr/>
        </p:nvSpPr>
        <p:spPr>
          <a:xfrm>
            <a:off x="4251960" y="2971800"/>
            <a:ext cx="548640" cy="548640"/>
          </a:xfrm>
          <a:prstGeom prst="ellipse">
            <a:avLst/>
          </a:prstGeom>
          <a:solidFill>
            <a:schemeClr val="accent1"/>
          </a:solidFill>
          <a:ln w="12700">
            <a:solidFill>
              <a:schemeClr val="accent1"/>
            </a:solidFill>
            <a:prstDash val="solid"/>
          </a:ln>
        </p:spPr>
      </p:sp>
      <p:pic>
        <p:nvPicPr>
          <p:cNvPr id="40" name="GitOps commit icon" descr="GitOps commit">    </p:cNvPr>
          <p:cNvPicPr>
            <a:picLocks noChangeAspect="1"/>
          </p:cNvPicPr>
          <p:nvPr/>
        </p:nvPicPr>
        <p:blipFill>
          <a:blip r:embed="rId8"/>
          <a:stretch>
            <a:fillRect/>
          </a:stretch>
        </p:blipFill>
        <p:spPr>
          <a:xfrm>
            <a:off x="4383634" y="3103474"/>
            <a:ext cx="285293" cy="285293"/>
          </a:xfrm>
          <a:prstGeom prst="rect">
            <a:avLst/>
          </a:prstGeom>
        </p:spPr>
      </p:pic>
      <p:sp>
        <p:nvSpPr>
          <p:cNvPr id="41" name="Text 31"/>
          <p:cNvSpPr txBox="1"/>
          <p:nvPr/>
        </p:nvSpPr>
        <p:spPr>
          <a:xfrm>
            <a:off x="3831336" y="3584448"/>
            <a:ext cx="1389888" cy="320040"/>
          </a:xfrm>
          <a:prstGeom prst="rect">
            <a:avLst/>
          </a:prstGeom>
          <a:noFill/>
          <a:ln/>
        </p:spPr>
        <p:txBody>
          <a:bodyPr wrap="square" lIns="0" tIns="0" rIns="0" bIns="0" rtlCol="0" anchor="t"/>
          <a:lstStyle/>
          <a:p>
            <a:pPr algn="ctr" indent="0" marL="0">
              <a:buNone/>
            </a:pPr>
            <a:r>
              <a:rPr lang="en-US" sz="1400" b="1" dirty="0">
                <a:solidFill>
                  <a:schemeClr val="tx1"/>
                </a:solidFill>
              </a:rPr>
              <a:t>GitOps commit</a:t>
            </a:r>
            <a:endParaRPr lang="en-US" sz="1400" dirty="0"/>
          </a:p>
        </p:txBody>
      </p:sp>
      <p:sp>
        <p:nvSpPr>
          <p:cNvPr id="42" name="Text 32"/>
          <p:cNvSpPr txBox="1"/>
          <p:nvPr/>
        </p:nvSpPr>
        <p:spPr>
          <a:xfrm>
            <a:off x="3858768" y="2889504"/>
            <a:ext cx="274320" cy="228600"/>
          </a:xfrm>
          <a:prstGeom prst="rect">
            <a:avLst/>
          </a:prstGeom>
          <a:noFill/>
          <a:ln/>
        </p:spPr>
        <p:txBody>
          <a:bodyPr wrap="square" lIns="0" tIns="0" rIns="0" bIns="0" rtlCol="0" anchor="t"/>
          <a:lstStyle/>
          <a:p>
            <a:pPr indent="0" marL="0">
              <a:buNone/>
            </a:pPr>
            <a:r>
              <a:rPr lang="en-US" sz="1100" dirty="0">
                <a:solidFill>
                  <a:schemeClr val="accent5"/>
                </a:solidFill>
              </a:rPr>
              <a:t>8</a:t>
            </a:r>
            <a:endParaRPr lang="en-US" sz="1100" dirty="0"/>
          </a:p>
        </p:txBody>
      </p:sp>
      <p:sp>
        <p:nvSpPr>
          <p:cNvPr id="43" name="step 9"/>
          <p:cNvSpPr/>
          <p:nvPr/>
        </p:nvSpPr>
        <p:spPr>
          <a:xfrm>
            <a:off x="2121408" y="2834640"/>
            <a:ext cx="1481328" cy="1143000"/>
          </a:xfrm>
          <a:prstGeom prst="roundRect">
            <a:avLst>
              <a:gd name="adj" fmla="val 6400"/>
            </a:avLst>
          </a:prstGeom>
          <a:solidFill>
            <a:schemeClr val="bg2"/>
          </a:solidFill>
          <a:ln w="12700">
            <a:solidFill>
              <a:schemeClr val="bg2"/>
            </a:solidFill>
            <a:prstDash val="solid"/>
          </a:ln>
        </p:spPr>
      </p:sp>
      <p:sp>
        <p:nvSpPr>
          <p:cNvPr id="44" name="ArgoCD sync circle"/>
          <p:cNvSpPr/>
          <p:nvPr/>
        </p:nvSpPr>
        <p:spPr>
          <a:xfrm>
            <a:off x="2587752" y="2971800"/>
            <a:ext cx="548640" cy="548640"/>
          </a:xfrm>
          <a:prstGeom prst="ellipse">
            <a:avLst/>
          </a:prstGeom>
          <a:solidFill>
            <a:schemeClr val="accent1"/>
          </a:solidFill>
          <a:ln w="12700">
            <a:solidFill>
              <a:schemeClr val="accent1"/>
            </a:solidFill>
            <a:prstDash val="solid"/>
          </a:ln>
        </p:spPr>
      </p:sp>
      <p:pic>
        <p:nvPicPr>
          <p:cNvPr id="45" name="ArgoCD sync icon" descr="ArgoCD sync">    </p:cNvPr>
          <p:cNvPicPr>
            <a:picLocks noChangeAspect="1"/>
          </p:cNvPicPr>
          <p:nvPr/>
        </p:nvPicPr>
        <p:blipFill>
          <a:blip r:embed="rId9"/>
          <a:stretch>
            <a:fillRect/>
          </a:stretch>
        </p:blipFill>
        <p:spPr>
          <a:xfrm>
            <a:off x="2719426" y="3103474"/>
            <a:ext cx="285293" cy="285293"/>
          </a:xfrm>
          <a:prstGeom prst="rect">
            <a:avLst/>
          </a:prstGeom>
        </p:spPr>
      </p:pic>
      <p:sp>
        <p:nvSpPr>
          <p:cNvPr id="46" name="Text 35"/>
          <p:cNvSpPr txBox="1"/>
          <p:nvPr/>
        </p:nvSpPr>
        <p:spPr>
          <a:xfrm>
            <a:off x="2167128" y="3584448"/>
            <a:ext cx="1389888" cy="320040"/>
          </a:xfrm>
          <a:prstGeom prst="rect">
            <a:avLst/>
          </a:prstGeom>
          <a:noFill/>
          <a:ln/>
        </p:spPr>
        <p:txBody>
          <a:bodyPr wrap="square" lIns="0" tIns="0" rIns="0" bIns="0" rtlCol="0" anchor="t"/>
          <a:lstStyle/>
          <a:p>
            <a:pPr algn="ctr" indent="0" marL="0">
              <a:buNone/>
            </a:pPr>
            <a:r>
              <a:rPr lang="en-US" sz="1400" b="1" dirty="0">
                <a:solidFill>
                  <a:schemeClr val="tx1"/>
                </a:solidFill>
              </a:rPr>
              <a:t>ArgoCD sync</a:t>
            </a:r>
            <a:endParaRPr lang="en-US" sz="1400" dirty="0"/>
          </a:p>
        </p:txBody>
      </p:sp>
      <p:sp>
        <p:nvSpPr>
          <p:cNvPr id="47" name="Text 36"/>
          <p:cNvSpPr txBox="1"/>
          <p:nvPr/>
        </p:nvSpPr>
        <p:spPr>
          <a:xfrm>
            <a:off x="2194560" y="2889504"/>
            <a:ext cx="274320" cy="228600"/>
          </a:xfrm>
          <a:prstGeom prst="rect">
            <a:avLst/>
          </a:prstGeom>
          <a:noFill/>
          <a:ln/>
        </p:spPr>
        <p:txBody>
          <a:bodyPr wrap="square" lIns="0" tIns="0" rIns="0" bIns="0" rtlCol="0" anchor="t"/>
          <a:lstStyle/>
          <a:p>
            <a:pPr indent="0" marL="0">
              <a:buNone/>
            </a:pPr>
            <a:r>
              <a:rPr lang="en-US" sz="1100" dirty="0">
                <a:solidFill>
                  <a:schemeClr val="accent5"/>
                </a:solidFill>
              </a:rPr>
              <a:t>9</a:t>
            </a:r>
            <a:endParaRPr lang="en-US" sz="1100" dirty="0"/>
          </a:p>
        </p:txBody>
      </p:sp>
      <p:sp>
        <p:nvSpPr>
          <p:cNvPr id="48" name="step 10"/>
          <p:cNvSpPr/>
          <p:nvPr/>
        </p:nvSpPr>
        <p:spPr>
          <a:xfrm>
            <a:off x="457200" y="2834640"/>
            <a:ext cx="1481328" cy="1143000"/>
          </a:xfrm>
          <a:prstGeom prst="roundRect">
            <a:avLst>
              <a:gd name="adj" fmla="val 6400"/>
            </a:avLst>
          </a:prstGeom>
          <a:solidFill>
            <a:schemeClr val="bg2"/>
          </a:solidFill>
          <a:ln w="12700">
            <a:solidFill>
              <a:schemeClr val="bg2"/>
            </a:solidFill>
            <a:prstDash val="solid"/>
          </a:ln>
        </p:spPr>
      </p:sp>
      <p:sp>
        <p:nvSpPr>
          <p:cNvPr id="49" name="Monitoring circle"/>
          <p:cNvSpPr/>
          <p:nvPr/>
        </p:nvSpPr>
        <p:spPr>
          <a:xfrm>
            <a:off x="923544" y="2971800"/>
            <a:ext cx="548640" cy="548640"/>
          </a:xfrm>
          <a:prstGeom prst="ellipse">
            <a:avLst/>
          </a:prstGeom>
          <a:solidFill>
            <a:schemeClr val="accent1"/>
          </a:solidFill>
          <a:ln w="12700">
            <a:solidFill>
              <a:schemeClr val="accent1"/>
            </a:solidFill>
            <a:prstDash val="solid"/>
          </a:ln>
        </p:spPr>
      </p:sp>
      <p:pic>
        <p:nvPicPr>
          <p:cNvPr id="50" name="Monitoring icon" descr="Monitoring">    </p:cNvPr>
          <p:cNvPicPr>
            <a:picLocks noChangeAspect="1"/>
          </p:cNvPicPr>
          <p:nvPr/>
        </p:nvPicPr>
        <p:blipFill>
          <a:blip r:embed="rId10"/>
          <a:stretch>
            <a:fillRect/>
          </a:stretch>
        </p:blipFill>
        <p:spPr>
          <a:xfrm>
            <a:off x="1055218" y="3103474"/>
            <a:ext cx="285293" cy="285293"/>
          </a:xfrm>
          <a:prstGeom prst="rect">
            <a:avLst/>
          </a:prstGeom>
        </p:spPr>
      </p:pic>
      <p:sp>
        <p:nvSpPr>
          <p:cNvPr id="51" name="Text 39"/>
          <p:cNvSpPr txBox="1"/>
          <p:nvPr/>
        </p:nvSpPr>
        <p:spPr>
          <a:xfrm>
            <a:off x="502920" y="3584448"/>
            <a:ext cx="1389888" cy="320040"/>
          </a:xfrm>
          <a:prstGeom prst="rect">
            <a:avLst/>
          </a:prstGeom>
          <a:noFill/>
          <a:ln/>
        </p:spPr>
        <p:txBody>
          <a:bodyPr wrap="square" lIns="0" tIns="0" rIns="0" bIns="0" rtlCol="0" anchor="t"/>
          <a:lstStyle/>
          <a:p>
            <a:pPr algn="ctr" indent="0" marL="0">
              <a:buNone/>
            </a:pPr>
            <a:r>
              <a:rPr lang="en-US" sz="1400" b="1" dirty="0">
                <a:solidFill>
                  <a:schemeClr val="tx1"/>
                </a:solidFill>
              </a:rPr>
              <a:t>Monitoring</a:t>
            </a:r>
            <a:endParaRPr lang="en-US" sz="1400" dirty="0"/>
          </a:p>
        </p:txBody>
      </p:sp>
      <p:sp>
        <p:nvSpPr>
          <p:cNvPr id="52" name="Text 40"/>
          <p:cNvSpPr txBox="1"/>
          <p:nvPr/>
        </p:nvSpPr>
        <p:spPr>
          <a:xfrm>
            <a:off x="530352" y="2889504"/>
            <a:ext cx="274320" cy="228600"/>
          </a:xfrm>
          <a:prstGeom prst="rect">
            <a:avLst/>
          </a:prstGeom>
          <a:noFill/>
          <a:ln/>
        </p:spPr>
        <p:txBody>
          <a:bodyPr wrap="square" lIns="0" tIns="0" rIns="0" bIns="0" rtlCol="0" anchor="t"/>
          <a:lstStyle/>
          <a:p>
            <a:pPr indent="0" marL="0">
              <a:buNone/>
            </a:pPr>
            <a:r>
              <a:rPr lang="en-US" sz="1100" dirty="0">
                <a:solidFill>
                  <a:schemeClr val="accent5"/>
                </a:solidFill>
              </a:rPr>
              <a:t>10</a:t>
            </a:r>
            <a:endParaRPr lang="en-US" sz="1100" dirty="0"/>
          </a:p>
        </p:txBody>
      </p:sp>
      <p:sp>
        <p:nvSpPr>
          <p:cNvPr id="53" name="arrow r1 0"/>
          <p:cNvSpPr/>
          <p:nvPr/>
        </p:nvSpPr>
        <p:spPr>
          <a:xfrm>
            <a:off x="1956816" y="1805940"/>
            <a:ext cx="146304" cy="0"/>
          </a:xfrm>
          <a:prstGeom prst="line">
            <a:avLst/>
          </a:prstGeom>
          <a:noFill/>
          <a:ln w="19050">
            <a:solidFill>
              <a:srgbClr val="64748B"/>
            </a:solidFill>
            <a:prstDash val="solid"/>
            <a:tailEnd type="triangle"/>
          </a:ln>
        </p:spPr>
      </p:sp>
      <p:sp>
        <p:nvSpPr>
          <p:cNvPr id="54" name="arrow r2 0"/>
          <p:cNvSpPr/>
          <p:nvPr/>
        </p:nvSpPr>
        <p:spPr>
          <a:xfrm>
            <a:off x="1956816" y="3406140"/>
            <a:ext cx="146304" cy="0"/>
          </a:xfrm>
          <a:prstGeom prst="line">
            <a:avLst/>
          </a:prstGeom>
          <a:noFill/>
          <a:ln w="19050">
            <a:solidFill>
              <a:srgbClr val="64748B"/>
            </a:solidFill>
            <a:prstDash val="solid"/>
            <a:headEnd type="triangle"/>
          </a:ln>
        </p:spPr>
      </p:sp>
      <p:sp>
        <p:nvSpPr>
          <p:cNvPr id="55" name="arrow r1 1"/>
          <p:cNvSpPr/>
          <p:nvPr/>
        </p:nvSpPr>
        <p:spPr>
          <a:xfrm>
            <a:off x="3621024" y="1805940"/>
            <a:ext cx="146304" cy="0"/>
          </a:xfrm>
          <a:prstGeom prst="line">
            <a:avLst/>
          </a:prstGeom>
          <a:noFill/>
          <a:ln w="19050">
            <a:solidFill>
              <a:srgbClr val="64748B"/>
            </a:solidFill>
            <a:prstDash val="solid"/>
            <a:tailEnd type="triangle"/>
          </a:ln>
        </p:spPr>
      </p:sp>
      <p:sp>
        <p:nvSpPr>
          <p:cNvPr id="56" name="arrow r2 1"/>
          <p:cNvSpPr/>
          <p:nvPr/>
        </p:nvSpPr>
        <p:spPr>
          <a:xfrm>
            <a:off x="3621024" y="3406140"/>
            <a:ext cx="146304" cy="0"/>
          </a:xfrm>
          <a:prstGeom prst="line">
            <a:avLst/>
          </a:prstGeom>
          <a:noFill/>
          <a:ln w="19050">
            <a:solidFill>
              <a:srgbClr val="64748B"/>
            </a:solidFill>
            <a:prstDash val="solid"/>
            <a:headEnd type="triangle"/>
          </a:ln>
        </p:spPr>
      </p:sp>
      <p:sp>
        <p:nvSpPr>
          <p:cNvPr id="57" name="arrow r1 2"/>
          <p:cNvSpPr/>
          <p:nvPr/>
        </p:nvSpPr>
        <p:spPr>
          <a:xfrm>
            <a:off x="5285232" y="1805940"/>
            <a:ext cx="146304" cy="0"/>
          </a:xfrm>
          <a:prstGeom prst="line">
            <a:avLst/>
          </a:prstGeom>
          <a:noFill/>
          <a:ln w="19050">
            <a:solidFill>
              <a:srgbClr val="64748B"/>
            </a:solidFill>
            <a:prstDash val="solid"/>
            <a:tailEnd type="triangle"/>
          </a:ln>
        </p:spPr>
      </p:sp>
      <p:sp>
        <p:nvSpPr>
          <p:cNvPr id="58" name="arrow r2 2"/>
          <p:cNvSpPr/>
          <p:nvPr/>
        </p:nvSpPr>
        <p:spPr>
          <a:xfrm>
            <a:off x="5285232" y="3406140"/>
            <a:ext cx="146304" cy="0"/>
          </a:xfrm>
          <a:prstGeom prst="line">
            <a:avLst/>
          </a:prstGeom>
          <a:noFill/>
          <a:ln w="19050">
            <a:solidFill>
              <a:srgbClr val="64748B"/>
            </a:solidFill>
            <a:prstDash val="solid"/>
            <a:headEnd type="triangle"/>
          </a:ln>
        </p:spPr>
      </p:sp>
      <p:sp>
        <p:nvSpPr>
          <p:cNvPr id="59" name="arrow r1 3"/>
          <p:cNvSpPr/>
          <p:nvPr/>
        </p:nvSpPr>
        <p:spPr>
          <a:xfrm>
            <a:off x="6949440" y="1805940"/>
            <a:ext cx="146304" cy="0"/>
          </a:xfrm>
          <a:prstGeom prst="line">
            <a:avLst/>
          </a:prstGeom>
          <a:noFill/>
          <a:ln w="19050">
            <a:solidFill>
              <a:srgbClr val="64748B"/>
            </a:solidFill>
            <a:prstDash val="solid"/>
            <a:tailEnd type="triangle"/>
          </a:ln>
        </p:spPr>
      </p:sp>
      <p:sp>
        <p:nvSpPr>
          <p:cNvPr id="60" name="arrow r2 3"/>
          <p:cNvSpPr/>
          <p:nvPr/>
        </p:nvSpPr>
        <p:spPr>
          <a:xfrm>
            <a:off x="6949440" y="3406140"/>
            <a:ext cx="146304" cy="0"/>
          </a:xfrm>
          <a:prstGeom prst="line">
            <a:avLst/>
          </a:prstGeom>
          <a:noFill/>
          <a:ln w="19050">
            <a:solidFill>
              <a:srgbClr val="64748B"/>
            </a:solidFill>
            <a:prstDash val="solid"/>
            <a:headEnd type="triangle"/>
          </a:ln>
        </p:spPr>
      </p:sp>
      <p:sp>
        <p:nvSpPr>
          <p:cNvPr id="61" name="arrow down"/>
          <p:cNvSpPr/>
          <p:nvPr/>
        </p:nvSpPr>
        <p:spPr>
          <a:xfrm>
            <a:off x="7854696" y="2395728"/>
            <a:ext cx="0" cy="420624"/>
          </a:xfrm>
          <a:prstGeom prst="line">
            <a:avLst/>
          </a:prstGeom>
          <a:noFill/>
          <a:ln w="19050">
            <a:solidFill>
              <a:srgbClr val="64748B"/>
            </a:solidFill>
            <a:prstDash val="solid"/>
            <a:tailEnd type="triangle"/>
          </a:ln>
        </p:spPr>
      </p:sp>
      <p:sp>
        <p:nvSpPr>
          <p:cNvPr id="62" name="Text 50"/>
          <p:cNvSpPr txBox="1"/>
          <p:nvPr/>
        </p:nvSpPr>
        <p:spPr>
          <a:xfrm>
            <a:off x="457200" y="4315968"/>
            <a:ext cx="8229600" cy="320040"/>
          </a:xfrm>
          <a:prstGeom prst="rect">
            <a:avLst/>
          </a:prstGeom>
          <a:noFill/>
          <a:ln/>
        </p:spPr>
        <p:txBody>
          <a:bodyPr wrap="square" lIns="0" tIns="0" rIns="0" bIns="0" rtlCol="0" anchor="t"/>
          <a:lstStyle/>
          <a:p>
            <a:pPr indent="0" marL="0">
              <a:buNone/>
            </a:pPr>
            <a:r>
              <a:rPr lang="en-US" sz="1400" i="1" dirty="0">
                <a:solidFill>
                  <a:schemeClr val="accent1"/>
                </a:solidFill>
              </a:rPr>
              <a:t>About 7 minutes from git push to new pods, and nobody types kubectl.</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indent="0" marL="0">
              <a:buNone/>
            </a:pPr>
            <a:r>
              <a:rPr lang="en-US" sz="3600" b="1" dirty="0">
                <a:solidFill>
                  <a:schemeClr val="tx1"/>
                </a:solidFill>
              </a:rPr>
              <a:t>Architecture</a:t>
            </a:r>
            <a:endParaRPr lang="en-US" sz="3600" dirty="0"/>
          </a:p>
        </p:txBody>
      </p:sp>
      <p:sp>
        <p:nvSpPr>
          <p:cNvPr id="3" name="zone github"/>
          <p:cNvSpPr/>
          <p:nvPr/>
        </p:nvSpPr>
        <p:spPr>
          <a:xfrm>
            <a:off x="457200" y="1051560"/>
            <a:ext cx="2514600" cy="3520440"/>
          </a:xfrm>
          <a:prstGeom prst="roundRect">
            <a:avLst>
              <a:gd name="adj" fmla="val 2909"/>
            </a:avLst>
          </a:prstGeom>
          <a:solidFill>
            <a:schemeClr val="bg2"/>
          </a:solidFill>
          <a:ln w="12700">
            <a:solidFill>
              <a:schemeClr val="bg2"/>
            </a:solidFill>
            <a:prstDash val="solid"/>
          </a:ln>
        </p:spPr>
      </p:sp>
      <p:sp>
        <p:nvSpPr>
          <p:cNvPr id="4" name="Text 2"/>
          <p:cNvSpPr txBox="1"/>
          <p:nvPr/>
        </p:nvSpPr>
        <p:spPr>
          <a:xfrm>
            <a:off x="594360" y="1115568"/>
            <a:ext cx="2194560" cy="274320"/>
          </a:xfrm>
          <a:prstGeom prst="rect">
            <a:avLst/>
          </a:prstGeom>
          <a:noFill/>
          <a:ln/>
        </p:spPr>
        <p:txBody>
          <a:bodyPr wrap="square" lIns="0" tIns="0" rIns="0" bIns="0" rtlCol="0" anchor="t"/>
          <a:lstStyle/>
          <a:p>
            <a:pPr indent="0" marL="0">
              <a:buNone/>
            </a:pPr>
            <a:r>
              <a:rPr lang="en-US" sz="1400" b="1" dirty="0">
                <a:solidFill>
                  <a:schemeClr val="accent5"/>
                </a:solidFill>
              </a:rPr>
              <a:t>GitHub</a:t>
            </a:r>
            <a:endParaRPr lang="en-US" sz="1400" dirty="0"/>
          </a:p>
        </p:txBody>
      </p:sp>
      <p:sp>
        <p:nvSpPr>
          <p:cNvPr id="5" name="zone cluster"/>
          <p:cNvSpPr/>
          <p:nvPr/>
        </p:nvSpPr>
        <p:spPr>
          <a:xfrm>
            <a:off x="3154680" y="1051560"/>
            <a:ext cx="5532120" cy="3520440"/>
          </a:xfrm>
          <a:prstGeom prst="roundRect">
            <a:avLst>
              <a:gd name="adj" fmla="val 2078"/>
            </a:avLst>
          </a:prstGeom>
          <a:solidFill>
            <a:srgbClr val="E6F4F1"/>
          </a:solidFill>
          <a:ln w="12700">
            <a:solidFill>
              <a:srgbClr val="E6F4F1"/>
            </a:solidFill>
            <a:prstDash val="solid"/>
          </a:ln>
        </p:spPr>
      </p:sp>
      <p:sp>
        <p:nvSpPr>
          <p:cNvPr id="6" name="Text 4"/>
          <p:cNvSpPr txBox="1"/>
          <p:nvPr/>
        </p:nvSpPr>
        <p:spPr>
          <a:xfrm>
            <a:off x="3291840" y="1115568"/>
            <a:ext cx="3657600" cy="274320"/>
          </a:xfrm>
          <a:prstGeom prst="rect">
            <a:avLst/>
          </a:prstGeom>
          <a:noFill/>
          <a:ln/>
        </p:spPr>
        <p:txBody>
          <a:bodyPr wrap="square" lIns="0" tIns="0" rIns="0" bIns="0" rtlCol="0" anchor="t"/>
          <a:lstStyle/>
          <a:p>
            <a:pPr indent="0" marL="0">
              <a:buNone/>
            </a:pPr>
            <a:r>
              <a:rPr lang="en-US" sz="1400" b="1" dirty="0">
                <a:solidFill>
                  <a:schemeClr val="accent1"/>
                </a:solidFill>
              </a:rPr>
              <a:t>Minikube cluster (WSL2)</a:t>
            </a:r>
            <a:endParaRPr lang="en-US" sz="1400" dirty="0"/>
          </a:p>
        </p:txBody>
      </p:sp>
      <p:sp>
        <p:nvSpPr>
          <p:cNvPr id="7" name="box actions"/>
          <p:cNvSpPr/>
          <p:nvPr/>
        </p:nvSpPr>
        <p:spPr>
          <a:xfrm>
            <a:off x="594360" y="1463040"/>
            <a:ext cx="2240280" cy="621792"/>
          </a:xfrm>
          <a:prstGeom prst="roundRect">
            <a:avLst>
              <a:gd name="adj" fmla="val 8824"/>
            </a:avLst>
          </a:prstGeom>
          <a:solidFill>
            <a:srgbClr val="FFFFFF"/>
          </a:solidFill>
          <a:ln w="12700">
            <a:solidFill>
              <a:srgbClr val="E2E8F0"/>
            </a:solidFill>
            <a:prstDash val="solid"/>
          </a:ln>
        </p:spPr>
      </p:sp>
      <p:sp>
        <p:nvSpPr>
          <p:cNvPr id="8" name="Actions circle"/>
          <p:cNvSpPr/>
          <p:nvPr/>
        </p:nvSpPr>
        <p:spPr>
          <a:xfrm>
            <a:off x="685800" y="1581912"/>
            <a:ext cx="384048" cy="384048"/>
          </a:xfrm>
          <a:prstGeom prst="ellipse">
            <a:avLst/>
          </a:prstGeom>
          <a:solidFill>
            <a:schemeClr val="accent1"/>
          </a:solidFill>
          <a:ln w="12700">
            <a:solidFill>
              <a:schemeClr val="accent1"/>
            </a:solidFill>
            <a:prstDash val="solid"/>
          </a:ln>
        </p:spPr>
      </p:sp>
      <p:pic>
        <p:nvPicPr>
          <p:cNvPr id="9" name="Actions icon" descr="Actions">    </p:cNvPr>
          <p:cNvPicPr>
            <a:picLocks noChangeAspect="1"/>
          </p:cNvPicPr>
          <p:nvPr/>
        </p:nvPicPr>
        <p:blipFill>
          <a:blip r:embed="rId1"/>
          <a:stretch>
            <a:fillRect/>
          </a:stretch>
        </p:blipFill>
        <p:spPr>
          <a:xfrm>
            <a:off x="777972" y="1674084"/>
            <a:ext cx="199705" cy="199705"/>
          </a:xfrm>
          <a:prstGeom prst="rect">
            <a:avLst/>
          </a:prstGeom>
        </p:spPr>
      </p:pic>
      <p:sp>
        <p:nvSpPr>
          <p:cNvPr id="10" name="Text 7"/>
          <p:cNvSpPr txBox="1"/>
          <p:nvPr/>
        </p:nvSpPr>
        <p:spPr>
          <a:xfrm>
            <a:off x="1143000" y="1517904"/>
            <a:ext cx="1645920" cy="256032"/>
          </a:xfrm>
          <a:prstGeom prst="rect">
            <a:avLst/>
          </a:prstGeom>
          <a:noFill/>
          <a:ln/>
        </p:spPr>
        <p:txBody>
          <a:bodyPr wrap="square" lIns="0" tIns="0" rIns="0" bIns="0" rtlCol="0" anchor="t"/>
          <a:lstStyle/>
          <a:p>
            <a:pPr indent="0" marL="0">
              <a:buNone/>
            </a:pPr>
            <a:r>
              <a:rPr lang="en-US" sz="1300" b="1" dirty="0">
                <a:solidFill>
                  <a:schemeClr val="tx1"/>
                </a:solidFill>
              </a:rPr>
              <a:t>Actions</a:t>
            </a:r>
            <a:endParaRPr lang="en-US" sz="1300" dirty="0"/>
          </a:p>
        </p:txBody>
      </p:sp>
      <p:sp>
        <p:nvSpPr>
          <p:cNvPr id="11" name="Text 8"/>
          <p:cNvSpPr txBox="1"/>
          <p:nvPr/>
        </p:nvSpPr>
        <p:spPr>
          <a:xfrm>
            <a:off x="1143000" y="1764792"/>
            <a:ext cx="1645920" cy="256032"/>
          </a:xfrm>
          <a:prstGeom prst="rect">
            <a:avLst/>
          </a:prstGeom>
          <a:noFill/>
          <a:ln/>
        </p:spPr>
        <p:txBody>
          <a:bodyPr wrap="square" lIns="0" tIns="0" rIns="0" bIns="0" rtlCol="0" anchor="t"/>
          <a:lstStyle/>
          <a:p>
            <a:pPr indent="0" marL="0">
              <a:buNone/>
            </a:pPr>
            <a:r>
              <a:rPr lang="en-US" sz="1100" dirty="0">
                <a:solidFill>
                  <a:schemeClr val="accent5"/>
                </a:solidFill>
              </a:rPr>
              <a:t>14 jobs, security gate</a:t>
            </a:r>
            <a:endParaRPr lang="en-US" sz="1100" dirty="0"/>
          </a:p>
        </p:txBody>
      </p:sp>
      <p:sp>
        <p:nvSpPr>
          <p:cNvPr id="12" name="box ghcr"/>
          <p:cNvSpPr/>
          <p:nvPr/>
        </p:nvSpPr>
        <p:spPr>
          <a:xfrm>
            <a:off x="594360" y="2331720"/>
            <a:ext cx="2240280" cy="621792"/>
          </a:xfrm>
          <a:prstGeom prst="roundRect">
            <a:avLst>
              <a:gd name="adj" fmla="val 8824"/>
            </a:avLst>
          </a:prstGeom>
          <a:solidFill>
            <a:srgbClr val="FFFFFF"/>
          </a:solidFill>
          <a:ln w="12700">
            <a:solidFill>
              <a:srgbClr val="E2E8F0"/>
            </a:solidFill>
            <a:prstDash val="solid"/>
          </a:ln>
        </p:spPr>
      </p:sp>
      <p:sp>
        <p:nvSpPr>
          <p:cNvPr id="13" name="GHCR circle"/>
          <p:cNvSpPr/>
          <p:nvPr/>
        </p:nvSpPr>
        <p:spPr>
          <a:xfrm>
            <a:off x="685800" y="2450592"/>
            <a:ext cx="384048" cy="384048"/>
          </a:xfrm>
          <a:prstGeom prst="ellipse">
            <a:avLst/>
          </a:prstGeom>
          <a:solidFill>
            <a:schemeClr val="accent1"/>
          </a:solidFill>
          <a:ln w="12700">
            <a:solidFill>
              <a:schemeClr val="accent1"/>
            </a:solidFill>
            <a:prstDash val="solid"/>
          </a:ln>
        </p:spPr>
      </p:sp>
      <p:pic>
        <p:nvPicPr>
          <p:cNvPr id="14" name="GHCR icon" descr="GHCR">    </p:cNvPr>
          <p:cNvPicPr>
            <a:picLocks noChangeAspect="1"/>
          </p:cNvPicPr>
          <p:nvPr/>
        </p:nvPicPr>
        <p:blipFill>
          <a:blip r:embed="rId2"/>
          <a:stretch>
            <a:fillRect/>
          </a:stretch>
        </p:blipFill>
        <p:spPr>
          <a:xfrm>
            <a:off x="777972" y="2542764"/>
            <a:ext cx="199705" cy="199705"/>
          </a:xfrm>
          <a:prstGeom prst="rect">
            <a:avLst/>
          </a:prstGeom>
        </p:spPr>
      </p:pic>
      <p:sp>
        <p:nvSpPr>
          <p:cNvPr id="15" name="Text 11"/>
          <p:cNvSpPr txBox="1"/>
          <p:nvPr/>
        </p:nvSpPr>
        <p:spPr>
          <a:xfrm>
            <a:off x="1143000" y="2386584"/>
            <a:ext cx="1645920" cy="256032"/>
          </a:xfrm>
          <a:prstGeom prst="rect">
            <a:avLst/>
          </a:prstGeom>
          <a:noFill/>
          <a:ln/>
        </p:spPr>
        <p:txBody>
          <a:bodyPr wrap="square" lIns="0" tIns="0" rIns="0" bIns="0" rtlCol="0" anchor="t"/>
          <a:lstStyle/>
          <a:p>
            <a:pPr indent="0" marL="0">
              <a:buNone/>
            </a:pPr>
            <a:r>
              <a:rPr lang="en-US" sz="1300" b="1" dirty="0">
                <a:solidFill>
                  <a:schemeClr val="tx1"/>
                </a:solidFill>
              </a:rPr>
              <a:t>GHCR</a:t>
            </a:r>
            <a:endParaRPr lang="en-US" sz="1300" dirty="0"/>
          </a:p>
        </p:txBody>
      </p:sp>
      <p:sp>
        <p:nvSpPr>
          <p:cNvPr id="16" name="Text 12"/>
          <p:cNvSpPr txBox="1"/>
          <p:nvPr/>
        </p:nvSpPr>
        <p:spPr>
          <a:xfrm>
            <a:off x="1143000" y="2633472"/>
            <a:ext cx="1645920" cy="256032"/>
          </a:xfrm>
          <a:prstGeom prst="rect">
            <a:avLst/>
          </a:prstGeom>
          <a:noFill/>
          <a:ln/>
        </p:spPr>
        <p:txBody>
          <a:bodyPr wrap="square" lIns="0" tIns="0" rIns="0" bIns="0" rtlCol="0" anchor="t"/>
          <a:lstStyle/>
          <a:p>
            <a:pPr indent="0" marL="0">
              <a:buNone/>
            </a:pPr>
            <a:r>
              <a:rPr lang="en-US" sz="1100" dirty="0">
                <a:solidFill>
                  <a:schemeClr val="accent5"/>
                </a:solidFill>
              </a:rPr>
              <a:t>images :commit-sha</a:t>
            </a:r>
            <a:endParaRPr lang="en-US" sz="1100" dirty="0"/>
          </a:p>
        </p:txBody>
      </p:sp>
      <p:sp>
        <p:nvSpPr>
          <p:cNvPr id="17" name="box gitops"/>
          <p:cNvSpPr/>
          <p:nvPr/>
        </p:nvSpPr>
        <p:spPr>
          <a:xfrm>
            <a:off x="594360" y="3200400"/>
            <a:ext cx="2240280" cy="621792"/>
          </a:xfrm>
          <a:prstGeom prst="roundRect">
            <a:avLst>
              <a:gd name="adj" fmla="val 8824"/>
            </a:avLst>
          </a:prstGeom>
          <a:solidFill>
            <a:srgbClr val="FFFFFF"/>
          </a:solidFill>
          <a:ln w="12700">
            <a:solidFill>
              <a:srgbClr val="E2E8F0"/>
            </a:solidFill>
            <a:prstDash val="solid"/>
          </a:ln>
        </p:spPr>
      </p:sp>
      <p:sp>
        <p:nvSpPr>
          <p:cNvPr id="18" name="gitops/ values circle"/>
          <p:cNvSpPr/>
          <p:nvPr/>
        </p:nvSpPr>
        <p:spPr>
          <a:xfrm>
            <a:off x="685800" y="3319272"/>
            <a:ext cx="384048" cy="384048"/>
          </a:xfrm>
          <a:prstGeom prst="ellipse">
            <a:avLst/>
          </a:prstGeom>
          <a:solidFill>
            <a:schemeClr val="accent3"/>
          </a:solidFill>
          <a:ln w="12700">
            <a:solidFill>
              <a:schemeClr val="accent3"/>
            </a:solidFill>
            <a:prstDash val="solid"/>
          </a:ln>
        </p:spPr>
      </p:sp>
      <p:pic>
        <p:nvPicPr>
          <p:cNvPr id="19" name="gitops/ values icon" descr="gitops/ values">    </p:cNvPr>
          <p:cNvPicPr>
            <a:picLocks noChangeAspect="1"/>
          </p:cNvPicPr>
          <p:nvPr/>
        </p:nvPicPr>
        <p:blipFill>
          <a:blip r:embed="rId3"/>
          <a:stretch>
            <a:fillRect/>
          </a:stretch>
        </p:blipFill>
        <p:spPr>
          <a:xfrm>
            <a:off x="777972" y="3411444"/>
            <a:ext cx="199705" cy="199705"/>
          </a:xfrm>
          <a:prstGeom prst="rect">
            <a:avLst/>
          </a:prstGeom>
        </p:spPr>
      </p:pic>
      <p:sp>
        <p:nvSpPr>
          <p:cNvPr id="20" name="Text 15"/>
          <p:cNvSpPr txBox="1"/>
          <p:nvPr/>
        </p:nvSpPr>
        <p:spPr>
          <a:xfrm>
            <a:off x="1143000" y="3255264"/>
            <a:ext cx="1645920" cy="256032"/>
          </a:xfrm>
          <a:prstGeom prst="rect">
            <a:avLst/>
          </a:prstGeom>
          <a:noFill/>
          <a:ln/>
        </p:spPr>
        <p:txBody>
          <a:bodyPr wrap="square" lIns="0" tIns="0" rIns="0" bIns="0" rtlCol="0" anchor="t"/>
          <a:lstStyle/>
          <a:p>
            <a:pPr indent="0" marL="0">
              <a:buNone/>
            </a:pPr>
            <a:r>
              <a:rPr lang="en-US" sz="1300" b="1" dirty="0">
                <a:solidFill>
                  <a:schemeClr val="tx1"/>
                </a:solidFill>
              </a:rPr>
              <a:t>gitops/ values</a:t>
            </a:r>
            <a:endParaRPr lang="en-US" sz="1300" dirty="0"/>
          </a:p>
        </p:txBody>
      </p:sp>
      <p:sp>
        <p:nvSpPr>
          <p:cNvPr id="21" name="Text 16"/>
          <p:cNvSpPr txBox="1"/>
          <p:nvPr/>
        </p:nvSpPr>
        <p:spPr>
          <a:xfrm>
            <a:off x="1143000" y="3502152"/>
            <a:ext cx="1645920" cy="256032"/>
          </a:xfrm>
          <a:prstGeom prst="rect">
            <a:avLst/>
          </a:prstGeom>
          <a:noFill/>
          <a:ln/>
        </p:spPr>
        <p:txBody>
          <a:bodyPr wrap="square" lIns="0" tIns="0" rIns="0" bIns="0" rtlCol="0" anchor="t"/>
          <a:lstStyle/>
          <a:p>
            <a:pPr indent="0" marL="0">
              <a:buNone/>
            </a:pPr>
            <a:r>
              <a:rPr lang="en-US" sz="1100" dirty="0">
                <a:solidFill>
                  <a:schemeClr val="accent5"/>
                </a:solidFill>
              </a:rPr>
              <a:t>bot commits new tag</a:t>
            </a:r>
            <a:endParaRPr lang="en-US" sz="1100" dirty="0"/>
          </a:p>
        </p:txBody>
      </p:sp>
      <p:sp>
        <p:nvSpPr>
          <p:cNvPr id="22" name="box ingress"/>
          <p:cNvSpPr/>
          <p:nvPr/>
        </p:nvSpPr>
        <p:spPr>
          <a:xfrm>
            <a:off x="3291840" y="1463040"/>
            <a:ext cx="1691640" cy="621792"/>
          </a:xfrm>
          <a:prstGeom prst="roundRect">
            <a:avLst>
              <a:gd name="adj" fmla="val 8824"/>
            </a:avLst>
          </a:prstGeom>
          <a:solidFill>
            <a:srgbClr val="FFFFFF"/>
          </a:solidFill>
          <a:ln w="12700">
            <a:solidFill>
              <a:srgbClr val="E2E8F0"/>
            </a:solidFill>
            <a:prstDash val="solid"/>
          </a:ln>
        </p:spPr>
      </p:sp>
      <p:sp>
        <p:nvSpPr>
          <p:cNvPr id="23" name="Ingress circle"/>
          <p:cNvSpPr/>
          <p:nvPr/>
        </p:nvSpPr>
        <p:spPr>
          <a:xfrm>
            <a:off x="3383280" y="1581912"/>
            <a:ext cx="384048" cy="384048"/>
          </a:xfrm>
          <a:prstGeom prst="ellipse">
            <a:avLst/>
          </a:prstGeom>
          <a:solidFill>
            <a:schemeClr val="accent1"/>
          </a:solidFill>
          <a:ln w="12700">
            <a:solidFill>
              <a:schemeClr val="accent1"/>
            </a:solidFill>
            <a:prstDash val="solid"/>
          </a:ln>
        </p:spPr>
      </p:sp>
      <p:pic>
        <p:nvPicPr>
          <p:cNvPr id="24" name="Ingress icon" descr="Ingress">    </p:cNvPr>
          <p:cNvPicPr>
            <a:picLocks noChangeAspect="1"/>
          </p:cNvPicPr>
          <p:nvPr/>
        </p:nvPicPr>
        <p:blipFill>
          <a:blip r:embed="rId4"/>
          <a:stretch>
            <a:fillRect/>
          </a:stretch>
        </p:blipFill>
        <p:spPr>
          <a:xfrm>
            <a:off x="3475452" y="1674084"/>
            <a:ext cx="199705" cy="199705"/>
          </a:xfrm>
          <a:prstGeom prst="rect">
            <a:avLst/>
          </a:prstGeom>
        </p:spPr>
      </p:pic>
      <p:sp>
        <p:nvSpPr>
          <p:cNvPr id="25" name="Text 19"/>
          <p:cNvSpPr txBox="1"/>
          <p:nvPr/>
        </p:nvSpPr>
        <p:spPr>
          <a:xfrm>
            <a:off x="3840480" y="1517904"/>
            <a:ext cx="1097280" cy="256032"/>
          </a:xfrm>
          <a:prstGeom prst="rect">
            <a:avLst/>
          </a:prstGeom>
          <a:noFill/>
          <a:ln/>
        </p:spPr>
        <p:txBody>
          <a:bodyPr wrap="square" lIns="0" tIns="0" rIns="0" bIns="0" rtlCol="0" anchor="t"/>
          <a:lstStyle/>
          <a:p>
            <a:pPr indent="0" marL="0">
              <a:buNone/>
            </a:pPr>
            <a:r>
              <a:rPr lang="en-US" sz="1300" b="1" dirty="0">
                <a:solidFill>
                  <a:schemeClr val="tx1"/>
                </a:solidFill>
              </a:rPr>
              <a:t>Ingress</a:t>
            </a:r>
            <a:endParaRPr lang="en-US" sz="1300" dirty="0"/>
          </a:p>
        </p:txBody>
      </p:sp>
      <p:sp>
        <p:nvSpPr>
          <p:cNvPr id="26" name="Text 20"/>
          <p:cNvSpPr txBox="1"/>
          <p:nvPr/>
        </p:nvSpPr>
        <p:spPr>
          <a:xfrm>
            <a:off x="3840480" y="1764792"/>
            <a:ext cx="1097280" cy="256032"/>
          </a:xfrm>
          <a:prstGeom prst="rect">
            <a:avLst/>
          </a:prstGeom>
          <a:noFill/>
          <a:ln/>
        </p:spPr>
        <p:txBody>
          <a:bodyPr wrap="square" lIns="0" tIns="0" rIns="0" bIns="0" rtlCol="0" anchor="t"/>
          <a:lstStyle/>
          <a:p>
            <a:pPr indent="0" marL="0">
              <a:buNone/>
            </a:pPr>
            <a:r>
              <a:rPr lang="en-US" sz="1100" dirty="0">
                <a:solidFill>
                  <a:schemeClr val="accent5"/>
                </a:solidFill>
              </a:rPr>
              <a:t>/ , /api , /health</a:t>
            </a:r>
            <a:endParaRPr lang="en-US" sz="1100" dirty="0"/>
          </a:p>
        </p:txBody>
      </p:sp>
      <p:sp>
        <p:nvSpPr>
          <p:cNvPr id="27" name="box frontend"/>
          <p:cNvSpPr/>
          <p:nvPr/>
        </p:nvSpPr>
        <p:spPr>
          <a:xfrm>
            <a:off x="5120640" y="1463040"/>
            <a:ext cx="1691640" cy="621792"/>
          </a:xfrm>
          <a:prstGeom prst="roundRect">
            <a:avLst>
              <a:gd name="adj" fmla="val 8824"/>
            </a:avLst>
          </a:prstGeom>
          <a:solidFill>
            <a:srgbClr val="FFFFFF"/>
          </a:solidFill>
          <a:ln w="12700">
            <a:solidFill>
              <a:srgbClr val="E2E8F0"/>
            </a:solidFill>
            <a:prstDash val="solid"/>
          </a:ln>
        </p:spPr>
      </p:sp>
      <p:sp>
        <p:nvSpPr>
          <p:cNvPr id="28" name="Frontend circle"/>
          <p:cNvSpPr/>
          <p:nvPr/>
        </p:nvSpPr>
        <p:spPr>
          <a:xfrm>
            <a:off x="5212080" y="1581912"/>
            <a:ext cx="384048" cy="384048"/>
          </a:xfrm>
          <a:prstGeom prst="ellipse">
            <a:avLst/>
          </a:prstGeom>
          <a:solidFill>
            <a:schemeClr val="accent1"/>
          </a:solidFill>
          <a:ln w="12700">
            <a:solidFill>
              <a:schemeClr val="accent1"/>
            </a:solidFill>
            <a:prstDash val="solid"/>
          </a:ln>
        </p:spPr>
      </p:sp>
      <p:pic>
        <p:nvPicPr>
          <p:cNvPr id="29" name="Frontend icon" descr="Frontend">    </p:cNvPr>
          <p:cNvPicPr>
            <a:picLocks noChangeAspect="1"/>
          </p:cNvPicPr>
          <p:nvPr/>
        </p:nvPicPr>
        <p:blipFill>
          <a:blip r:embed="rId5"/>
          <a:stretch>
            <a:fillRect/>
          </a:stretch>
        </p:blipFill>
        <p:spPr>
          <a:xfrm>
            <a:off x="5304252" y="1674084"/>
            <a:ext cx="199705" cy="199705"/>
          </a:xfrm>
          <a:prstGeom prst="rect">
            <a:avLst/>
          </a:prstGeom>
        </p:spPr>
      </p:pic>
      <p:sp>
        <p:nvSpPr>
          <p:cNvPr id="30" name="Text 23"/>
          <p:cNvSpPr txBox="1"/>
          <p:nvPr/>
        </p:nvSpPr>
        <p:spPr>
          <a:xfrm>
            <a:off x="5669280" y="1517904"/>
            <a:ext cx="1097280" cy="256032"/>
          </a:xfrm>
          <a:prstGeom prst="rect">
            <a:avLst/>
          </a:prstGeom>
          <a:noFill/>
          <a:ln/>
        </p:spPr>
        <p:txBody>
          <a:bodyPr wrap="square" lIns="0" tIns="0" rIns="0" bIns="0" rtlCol="0" anchor="t"/>
          <a:lstStyle/>
          <a:p>
            <a:pPr indent="0" marL="0">
              <a:buNone/>
            </a:pPr>
            <a:r>
              <a:rPr lang="en-US" sz="1300" b="1" dirty="0">
                <a:solidFill>
                  <a:schemeClr val="tx1"/>
                </a:solidFill>
              </a:rPr>
              <a:t>Frontend</a:t>
            </a:r>
            <a:endParaRPr lang="en-US" sz="1300" dirty="0"/>
          </a:p>
        </p:txBody>
      </p:sp>
      <p:sp>
        <p:nvSpPr>
          <p:cNvPr id="31" name="Text 24"/>
          <p:cNvSpPr txBox="1"/>
          <p:nvPr/>
        </p:nvSpPr>
        <p:spPr>
          <a:xfrm>
            <a:off x="5669280" y="1764792"/>
            <a:ext cx="1097280" cy="256032"/>
          </a:xfrm>
          <a:prstGeom prst="rect">
            <a:avLst/>
          </a:prstGeom>
          <a:noFill/>
          <a:ln/>
        </p:spPr>
        <p:txBody>
          <a:bodyPr wrap="square" lIns="0" tIns="0" rIns="0" bIns="0" rtlCol="0" anchor="t"/>
          <a:lstStyle/>
          <a:p>
            <a:pPr indent="0" marL="0">
              <a:buNone/>
            </a:pPr>
            <a:r>
              <a:rPr lang="en-US" sz="1100" dirty="0">
                <a:solidFill>
                  <a:schemeClr val="accent5"/>
                </a:solidFill>
              </a:rPr>
              <a:t>nginx, 2 pods</a:t>
            </a:r>
            <a:endParaRPr lang="en-US" sz="1100" dirty="0"/>
          </a:p>
        </p:txBody>
      </p:sp>
      <p:sp>
        <p:nvSpPr>
          <p:cNvPr id="32" name="box backend"/>
          <p:cNvSpPr/>
          <p:nvPr/>
        </p:nvSpPr>
        <p:spPr>
          <a:xfrm>
            <a:off x="6903720" y="1463040"/>
            <a:ext cx="1645920" cy="621792"/>
          </a:xfrm>
          <a:prstGeom prst="roundRect">
            <a:avLst>
              <a:gd name="adj" fmla="val 8824"/>
            </a:avLst>
          </a:prstGeom>
          <a:solidFill>
            <a:srgbClr val="FFFFFF"/>
          </a:solidFill>
          <a:ln w="12700">
            <a:solidFill>
              <a:srgbClr val="E2E8F0"/>
            </a:solidFill>
            <a:prstDash val="solid"/>
          </a:ln>
        </p:spPr>
      </p:sp>
      <p:sp>
        <p:nvSpPr>
          <p:cNvPr id="33" name="Backend circle"/>
          <p:cNvSpPr/>
          <p:nvPr/>
        </p:nvSpPr>
        <p:spPr>
          <a:xfrm>
            <a:off x="6995160" y="1581912"/>
            <a:ext cx="384048" cy="384048"/>
          </a:xfrm>
          <a:prstGeom prst="ellipse">
            <a:avLst/>
          </a:prstGeom>
          <a:solidFill>
            <a:schemeClr val="accent1"/>
          </a:solidFill>
          <a:ln w="12700">
            <a:solidFill>
              <a:schemeClr val="accent1"/>
            </a:solidFill>
            <a:prstDash val="solid"/>
          </a:ln>
        </p:spPr>
      </p:sp>
      <p:pic>
        <p:nvPicPr>
          <p:cNvPr id="34" name="Backend icon" descr="Backend">    </p:cNvPr>
          <p:cNvPicPr>
            <a:picLocks noChangeAspect="1"/>
          </p:cNvPicPr>
          <p:nvPr/>
        </p:nvPicPr>
        <p:blipFill>
          <a:blip r:embed="rId6"/>
          <a:stretch>
            <a:fillRect/>
          </a:stretch>
        </p:blipFill>
        <p:spPr>
          <a:xfrm>
            <a:off x="7087332" y="1674084"/>
            <a:ext cx="199705" cy="199705"/>
          </a:xfrm>
          <a:prstGeom prst="rect">
            <a:avLst/>
          </a:prstGeom>
        </p:spPr>
      </p:pic>
      <p:sp>
        <p:nvSpPr>
          <p:cNvPr id="35" name="Text 27"/>
          <p:cNvSpPr txBox="1"/>
          <p:nvPr/>
        </p:nvSpPr>
        <p:spPr>
          <a:xfrm>
            <a:off x="7452360" y="1517904"/>
            <a:ext cx="1051560" cy="256032"/>
          </a:xfrm>
          <a:prstGeom prst="rect">
            <a:avLst/>
          </a:prstGeom>
          <a:noFill/>
          <a:ln/>
        </p:spPr>
        <p:txBody>
          <a:bodyPr wrap="square" lIns="0" tIns="0" rIns="0" bIns="0" rtlCol="0" anchor="t"/>
          <a:lstStyle/>
          <a:p>
            <a:pPr indent="0" marL="0">
              <a:buNone/>
            </a:pPr>
            <a:r>
              <a:rPr lang="en-US" sz="1300" b="1" dirty="0">
                <a:solidFill>
                  <a:schemeClr val="tx1"/>
                </a:solidFill>
              </a:rPr>
              <a:t>Backend</a:t>
            </a:r>
            <a:endParaRPr lang="en-US" sz="1300" dirty="0"/>
          </a:p>
        </p:txBody>
      </p:sp>
      <p:sp>
        <p:nvSpPr>
          <p:cNvPr id="36" name="Text 28"/>
          <p:cNvSpPr txBox="1"/>
          <p:nvPr/>
        </p:nvSpPr>
        <p:spPr>
          <a:xfrm>
            <a:off x="7452360" y="1764792"/>
            <a:ext cx="1051560" cy="256032"/>
          </a:xfrm>
          <a:prstGeom prst="rect">
            <a:avLst/>
          </a:prstGeom>
          <a:noFill/>
          <a:ln/>
        </p:spPr>
        <p:txBody>
          <a:bodyPr wrap="square" lIns="0" tIns="0" rIns="0" bIns="0" rtlCol="0" anchor="t"/>
          <a:lstStyle/>
          <a:p>
            <a:pPr indent="0" marL="0">
              <a:buNone/>
            </a:pPr>
            <a:r>
              <a:rPr lang="en-US" sz="1100" dirty="0">
                <a:solidFill>
                  <a:schemeClr val="accent5"/>
                </a:solidFill>
              </a:rPr>
              <a:t>FastAPI, 2-6 (HPA)</a:t>
            </a:r>
            <a:endParaRPr lang="en-US" sz="1100" dirty="0"/>
          </a:p>
        </p:txBody>
      </p:sp>
      <p:sp>
        <p:nvSpPr>
          <p:cNvPr id="37" name="box postgres"/>
          <p:cNvSpPr/>
          <p:nvPr/>
        </p:nvSpPr>
        <p:spPr>
          <a:xfrm>
            <a:off x="6903720" y="2331720"/>
            <a:ext cx="1645920" cy="621792"/>
          </a:xfrm>
          <a:prstGeom prst="roundRect">
            <a:avLst>
              <a:gd name="adj" fmla="val 8824"/>
            </a:avLst>
          </a:prstGeom>
          <a:solidFill>
            <a:srgbClr val="FFFFFF"/>
          </a:solidFill>
          <a:ln w="12700">
            <a:solidFill>
              <a:srgbClr val="E2E8F0"/>
            </a:solidFill>
            <a:prstDash val="solid"/>
          </a:ln>
        </p:spPr>
      </p:sp>
      <p:sp>
        <p:nvSpPr>
          <p:cNvPr id="38" name="Postgres circle"/>
          <p:cNvSpPr/>
          <p:nvPr/>
        </p:nvSpPr>
        <p:spPr>
          <a:xfrm>
            <a:off x="6995160" y="2450592"/>
            <a:ext cx="384048" cy="384048"/>
          </a:xfrm>
          <a:prstGeom prst="ellipse">
            <a:avLst/>
          </a:prstGeom>
          <a:solidFill>
            <a:schemeClr val="accent1"/>
          </a:solidFill>
          <a:ln w="12700">
            <a:solidFill>
              <a:schemeClr val="accent1"/>
            </a:solidFill>
            <a:prstDash val="solid"/>
          </a:ln>
        </p:spPr>
      </p:sp>
      <p:pic>
        <p:nvPicPr>
          <p:cNvPr id="39" name="Postgres icon" descr="Postgres">    </p:cNvPr>
          <p:cNvPicPr>
            <a:picLocks noChangeAspect="1"/>
          </p:cNvPicPr>
          <p:nvPr/>
        </p:nvPicPr>
        <p:blipFill>
          <a:blip r:embed="rId7"/>
          <a:stretch>
            <a:fillRect/>
          </a:stretch>
        </p:blipFill>
        <p:spPr>
          <a:xfrm>
            <a:off x="7087332" y="2542764"/>
            <a:ext cx="199705" cy="199705"/>
          </a:xfrm>
          <a:prstGeom prst="rect">
            <a:avLst/>
          </a:prstGeom>
        </p:spPr>
      </p:pic>
      <p:sp>
        <p:nvSpPr>
          <p:cNvPr id="40" name="Text 31"/>
          <p:cNvSpPr txBox="1"/>
          <p:nvPr/>
        </p:nvSpPr>
        <p:spPr>
          <a:xfrm>
            <a:off x="7452360" y="2386584"/>
            <a:ext cx="1051560" cy="256032"/>
          </a:xfrm>
          <a:prstGeom prst="rect">
            <a:avLst/>
          </a:prstGeom>
          <a:noFill/>
          <a:ln/>
        </p:spPr>
        <p:txBody>
          <a:bodyPr wrap="square" lIns="0" tIns="0" rIns="0" bIns="0" rtlCol="0" anchor="t"/>
          <a:lstStyle/>
          <a:p>
            <a:pPr indent="0" marL="0">
              <a:buNone/>
            </a:pPr>
            <a:r>
              <a:rPr lang="en-US" sz="1300" b="1" dirty="0">
                <a:solidFill>
                  <a:schemeClr val="tx1"/>
                </a:solidFill>
              </a:rPr>
              <a:t>Postgres</a:t>
            </a:r>
            <a:endParaRPr lang="en-US" sz="1300" dirty="0"/>
          </a:p>
        </p:txBody>
      </p:sp>
      <p:sp>
        <p:nvSpPr>
          <p:cNvPr id="41" name="Text 32"/>
          <p:cNvSpPr txBox="1"/>
          <p:nvPr/>
        </p:nvSpPr>
        <p:spPr>
          <a:xfrm>
            <a:off x="7452360" y="2633472"/>
            <a:ext cx="1051560" cy="256032"/>
          </a:xfrm>
          <a:prstGeom prst="rect">
            <a:avLst/>
          </a:prstGeom>
          <a:noFill/>
          <a:ln/>
        </p:spPr>
        <p:txBody>
          <a:bodyPr wrap="square" lIns="0" tIns="0" rIns="0" bIns="0" rtlCol="0" anchor="t"/>
          <a:lstStyle/>
          <a:p>
            <a:pPr indent="0" marL="0">
              <a:buNone/>
            </a:pPr>
            <a:r>
              <a:rPr lang="en-US" sz="1100" dirty="0">
                <a:solidFill>
                  <a:schemeClr val="accent5"/>
                </a:solidFill>
              </a:rPr>
              <a:t>StatefulSet + PVC</a:t>
            </a:r>
            <a:endParaRPr lang="en-US" sz="1100" dirty="0"/>
          </a:p>
        </p:txBody>
      </p:sp>
      <p:sp>
        <p:nvSpPr>
          <p:cNvPr id="42" name="box argocd"/>
          <p:cNvSpPr/>
          <p:nvPr/>
        </p:nvSpPr>
        <p:spPr>
          <a:xfrm>
            <a:off x="3291840" y="3200400"/>
            <a:ext cx="1691640" cy="621792"/>
          </a:xfrm>
          <a:prstGeom prst="roundRect">
            <a:avLst>
              <a:gd name="adj" fmla="val 8824"/>
            </a:avLst>
          </a:prstGeom>
          <a:solidFill>
            <a:srgbClr val="FFFFFF"/>
          </a:solidFill>
          <a:ln w="12700">
            <a:solidFill>
              <a:srgbClr val="E2E8F0"/>
            </a:solidFill>
            <a:prstDash val="solid"/>
          </a:ln>
        </p:spPr>
      </p:sp>
      <p:sp>
        <p:nvSpPr>
          <p:cNvPr id="43" name="ArgoCD circle"/>
          <p:cNvSpPr/>
          <p:nvPr/>
        </p:nvSpPr>
        <p:spPr>
          <a:xfrm>
            <a:off x="3383280" y="3319272"/>
            <a:ext cx="384048" cy="384048"/>
          </a:xfrm>
          <a:prstGeom prst="ellipse">
            <a:avLst/>
          </a:prstGeom>
          <a:solidFill>
            <a:schemeClr val="accent3"/>
          </a:solidFill>
          <a:ln w="12700">
            <a:solidFill>
              <a:schemeClr val="accent3"/>
            </a:solidFill>
            <a:prstDash val="solid"/>
          </a:ln>
        </p:spPr>
      </p:sp>
      <p:pic>
        <p:nvPicPr>
          <p:cNvPr id="44" name="ArgoCD icon" descr="ArgoCD">    </p:cNvPr>
          <p:cNvPicPr>
            <a:picLocks noChangeAspect="1"/>
          </p:cNvPicPr>
          <p:nvPr/>
        </p:nvPicPr>
        <p:blipFill>
          <a:blip r:embed="rId8"/>
          <a:stretch>
            <a:fillRect/>
          </a:stretch>
        </p:blipFill>
        <p:spPr>
          <a:xfrm>
            <a:off x="3475452" y="3411444"/>
            <a:ext cx="199705" cy="199705"/>
          </a:xfrm>
          <a:prstGeom prst="rect">
            <a:avLst/>
          </a:prstGeom>
        </p:spPr>
      </p:pic>
      <p:sp>
        <p:nvSpPr>
          <p:cNvPr id="45" name="Text 35"/>
          <p:cNvSpPr txBox="1"/>
          <p:nvPr/>
        </p:nvSpPr>
        <p:spPr>
          <a:xfrm>
            <a:off x="3840480" y="3255264"/>
            <a:ext cx="1097280" cy="256032"/>
          </a:xfrm>
          <a:prstGeom prst="rect">
            <a:avLst/>
          </a:prstGeom>
          <a:noFill/>
          <a:ln/>
        </p:spPr>
        <p:txBody>
          <a:bodyPr wrap="square" lIns="0" tIns="0" rIns="0" bIns="0" rtlCol="0" anchor="t"/>
          <a:lstStyle/>
          <a:p>
            <a:pPr indent="0" marL="0">
              <a:buNone/>
            </a:pPr>
            <a:r>
              <a:rPr lang="en-US" sz="1300" b="1" dirty="0">
                <a:solidFill>
                  <a:schemeClr val="tx1"/>
                </a:solidFill>
              </a:rPr>
              <a:t>ArgoCD</a:t>
            </a:r>
            <a:endParaRPr lang="en-US" sz="1300" dirty="0"/>
          </a:p>
        </p:txBody>
      </p:sp>
      <p:sp>
        <p:nvSpPr>
          <p:cNvPr id="46" name="Text 36"/>
          <p:cNvSpPr txBox="1"/>
          <p:nvPr/>
        </p:nvSpPr>
        <p:spPr>
          <a:xfrm>
            <a:off x="3840480" y="3502152"/>
            <a:ext cx="1097280" cy="256032"/>
          </a:xfrm>
          <a:prstGeom prst="rect">
            <a:avLst/>
          </a:prstGeom>
          <a:noFill/>
          <a:ln/>
        </p:spPr>
        <p:txBody>
          <a:bodyPr wrap="square" lIns="0" tIns="0" rIns="0" bIns="0" rtlCol="0" anchor="t"/>
          <a:lstStyle/>
          <a:p>
            <a:pPr indent="0" marL="0">
              <a:buNone/>
            </a:pPr>
            <a:r>
              <a:rPr lang="en-US" sz="1100" dirty="0">
                <a:solidFill>
                  <a:schemeClr val="accent5"/>
                </a:solidFill>
              </a:rPr>
              <a:t>syncs from git</a:t>
            </a:r>
            <a:endParaRPr lang="en-US" sz="1100" dirty="0"/>
          </a:p>
        </p:txBody>
      </p:sp>
      <p:sp>
        <p:nvSpPr>
          <p:cNvPr id="47" name="box prometheus"/>
          <p:cNvSpPr/>
          <p:nvPr/>
        </p:nvSpPr>
        <p:spPr>
          <a:xfrm>
            <a:off x="5120640" y="3200400"/>
            <a:ext cx="1691640" cy="621792"/>
          </a:xfrm>
          <a:prstGeom prst="roundRect">
            <a:avLst>
              <a:gd name="adj" fmla="val 8824"/>
            </a:avLst>
          </a:prstGeom>
          <a:solidFill>
            <a:srgbClr val="FFFFFF"/>
          </a:solidFill>
          <a:ln w="12700">
            <a:solidFill>
              <a:srgbClr val="E2E8F0"/>
            </a:solidFill>
            <a:prstDash val="solid"/>
          </a:ln>
        </p:spPr>
      </p:sp>
      <p:sp>
        <p:nvSpPr>
          <p:cNvPr id="48" name="Prometheus circle"/>
          <p:cNvSpPr/>
          <p:nvPr/>
        </p:nvSpPr>
        <p:spPr>
          <a:xfrm>
            <a:off x="5212080" y="3319272"/>
            <a:ext cx="384048" cy="384048"/>
          </a:xfrm>
          <a:prstGeom prst="ellipse">
            <a:avLst/>
          </a:prstGeom>
          <a:solidFill>
            <a:schemeClr val="accent1"/>
          </a:solidFill>
          <a:ln w="12700">
            <a:solidFill>
              <a:schemeClr val="accent1"/>
            </a:solidFill>
            <a:prstDash val="solid"/>
          </a:ln>
        </p:spPr>
      </p:sp>
      <p:pic>
        <p:nvPicPr>
          <p:cNvPr id="49" name="Prometheus icon" descr="Prometheus">    </p:cNvPr>
          <p:cNvPicPr>
            <a:picLocks noChangeAspect="1"/>
          </p:cNvPicPr>
          <p:nvPr/>
        </p:nvPicPr>
        <p:blipFill>
          <a:blip r:embed="rId9"/>
          <a:stretch>
            <a:fillRect/>
          </a:stretch>
        </p:blipFill>
        <p:spPr>
          <a:xfrm>
            <a:off x="5304252" y="3411444"/>
            <a:ext cx="199705" cy="199705"/>
          </a:xfrm>
          <a:prstGeom prst="rect">
            <a:avLst/>
          </a:prstGeom>
        </p:spPr>
      </p:pic>
      <p:sp>
        <p:nvSpPr>
          <p:cNvPr id="50" name="Text 39"/>
          <p:cNvSpPr txBox="1"/>
          <p:nvPr/>
        </p:nvSpPr>
        <p:spPr>
          <a:xfrm>
            <a:off x="5669280" y="3255264"/>
            <a:ext cx="1097280" cy="256032"/>
          </a:xfrm>
          <a:prstGeom prst="rect">
            <a:avLst/>
          </a:prstGeom>
          <a:noFill/>
          <a:ln/>
        </p:spPr>
        <p:txBody>
          <a:bodyPr wrap="square" lIns="0" tIns="0" rIns="0" bIns="0" rtlCol="0" anchor="t"/>
          <a:lstStyle/>
          <a:p>
            <a:pPr indent="0" marL="0">
              <a:buNone/>
            </a:pPr>
            <a:r>
              <a:rPr lang="en-US" sz="1300" b="1" dirty="0">
                <a:solidFill>
                  <a:schemeClr val="tx1"/>
                </a:solidFill>
              </a:rPr>
              <a:t>Prometheus</a:t>
            </a:r>
            <a:endParaRPr lang="en-US" sz="1300" dirty="0"/>
          </a:p>
        </p:txBody>
      </p:sp>
      <p:sp>
        <p:nvSpPr>
          <p:cNvPr id="51" name="Text 40"/>
          <p:cNvSpPr txBox="1"/>
          <p:nvPr/>
        </p:nvSpPr>
        <p:spPr>
          <a:xfrm>
            <a:off x="5669280" y="3502152"/>
            <a:ext cx="1097280" cy="256032"/>
          </a:xfrm>
          <a:prstGeom prst="rect">
            <a:avLst/>
          </a:prstGeom>
          <a:noFill/>
          <a:ln/>
        </p:spPr>
        <p:txBody>
          <a:bodyPr wrap="square" lIns="0" tIns="0" rIns="0" bIns="0" rtlCol="0" anchor="t"/>
          <a:lstStyle/>
          <a:p>
            <a:pPr indent="0" marL="0">
              <a:buNone/>
            </a:pPr>
            <a:r>
              <a:rPr lang="en-US" sz="1100" dirty="0">
                <a:solidFill>
                  <a:schemeClr val="accent5"/>
                </a:solidFill>
              </a:rPr>
              <a:t>scrapes /metrics</a:t>
            </a:r>
            <a:endParaRPr lang="en-US" sz="1100" dirty="0"/>
          </a:p>
        </p:txBody>
      </p:sp>
      <p:sp>
        <p:nvSpPr>
          <p:cNvPr id="52" name="box grafana"/>
          <p:cNvSpPr/>
          <p:nvPr/>
        </p:nvSpPr>
        <p:spPr>
          <a:xfrm>
            <a:off x="6903720" y="3200400"/>
            <a:ext cx="1645920" cy="621792"/>
          </a:xfrm>
          <a:prstGeom prst="roundRect">
            <a:avLst>
              <a:gd name="adj" fmla="val 8824"/>
            </a:avLst>
          </a:prstGeom>
          <a:solidFill>
            <a:srgbClr val="FFFFFF"/>
          </a:solidFill>
          <a:ln w="12700">
            <a:solidFill>
              <a:srgbClr val="E2E8F0"/>
            </a:solidFill>
            <a:prstDash val="solid"/>
          </a:ln>
        </p:spPr>
      </p:sp>
      <p:sp>
        <p:nvSpPr>
          <p:cNvPr id="53" name="Grafana circle"/>
          <p:cNvSpPr/>
          <p:nvPr/>
        </p:nvSpPr>
        <p:spPr>
          <a:xfrm>
            <a:off x="6995160" y="3319272"/>
            <a:ext cx="384048" cy="384048"/>
          </a:xfrm>
          <a:prstGeom prst="ellipse">
            <a:avLst/>
          </a:prstGeom>
          <a:solidFill>
            <a:schemeClr val="accent1"/>
          </a:solidFill>
          <a:ln w="12700">
            <a:solidFill>
              <a:schemeClr val="accent1"/>
            </a:solidFill>
            <a:prstDash val="solid"/>
          </a:ln>
        </p:spPr>
      </p:sp>
      <p:pic>
        <p:nvPicPr>
          <p:cNvPr id="54" name="Grafana icon" descr="Grafana">    </p:cNvPr>
          <p:cNvPicPr>
            <a:picLocks noChangeAspect="1"/>
          </p:cNvPicPr>
          <p:nvPr/>
        </p:nvPicPr>
        <p:blipFill>
          <a:blip r:embed="rId10"/>
          <a:stretch>
            <a:fillRect/>
          </a:stretch>
        </p:blipFill>
        <p:spPr>
          <a:xfrm>
            <a:off x="7087332" y="3411444"/>
            <a:ext cx="199705" cy="199705"/>
          </a:xfrm>
          <a:prstGeom prst="rect">
            <a:avLst/>
          </a:prstGeom>
        </p:spPr>
      </p:pic>
      <p:sp>
        <p:nvSpPr>
          <p:cNvPr id="55" name="Text 43"/>
          <p:cNvSpPr txBox="1"/>
          <p:nvPr/>
        </p:nvSpPr>
        <p:spPr>
          <a:xfrm>
            <a:off x="7452360" y="3255264"/>
            <a:ext cx="1051560" cy="256032"/>
          </a:xfrm>
          <a:prstGeom prst="rect">
            <a:avLst/>
          </a:prstGeom>
          <a:noFill/>
          <a:ln/>
        </p:spPr>
        <p:txBody>
          <a:bodyPr wrap="square" lIns="0" tIns="0" rIns="0" bIns="0" rtlCol="0" anchor="t"/>
          <a:lstStyle/>
          <a:p>
            <a:pPr indent="0" marL="0">
              <a:buNone/>
            </a:pPr>
            <a:r>
              <a:rPr lang="en-US" sz="1300" b="1" dirty="0">
                <a:solidFill>
                  <a:schemeClr val="tx1"/>
                </a:solidFill>
              </a:rPr>
              <a:t>Grafana</a:t>
            </a:r>
            <a:endParaRPr lang="en-US" sz="1300" dirty="0"/>
          </a:p>
        </p:txBody>
      </p:sp>
      <p:sp>
        <p:nvSpPr>
          <p:cNvPr id="56" name="Text 44"/>
          <p:cNvSpPr txBox="1"/>
          <p:nvPr/>
        </p:nvSpPr>
        <p:spPr>
          <a:xfrm>
            <a:off x="7452360" y="3502152"/>
            <a:ext cx="1051560" cy="256032"/>
          </a:xfrm>
          <a:prstGeom prst="rect">
            <a:avLst/>
          </a:prstGeom>
          <a:noFill/>
          <a:ln/>
        </p:spPr>
        <p:txBody>
          <a:bodyPr wrap="square" lIns="0" tIns="0" rIns="0" bIns="0" rtlCol="0" anchor="t"/>
          <a:lstStyle/>
          <a:p>
            <a:pPr indent="0" marL="0">
              <a:buNone/>
            </a:pPr>
            <a:r>
              <a:rPr lang="en-US" sz="1100" dirty="0">
                <a:solidFill>
                  <a:schemeClr val="accent5"/>
                </a:solidFill>
              </a:rPr>
              <a:t>dashboards</a:t>
            </a:r>
            <a:endParaRPr lang="en-US" sz="1100" dirty="0"/>
          </a:p>
        </p:txBody>
      </p:sp>
      <p:sp>
        <p:nvSpPr>
          <p:cNvPr id="57" name="a actions-ghcr"/>
          <p:cNvSpPr/>
          <p:nvPr/>
        </p:nvSpPr>
        <p:spPr>
          <a:xfrm>
            <a:off x="1714500" y="2084832"/>
            <a:ext cx="0" cy="246888"/>
          </a:xfrm>
          <a:prstGeom prst="line">
            <a:avLst/>
          </a:prstGeom>
          <a:noFill/>
          <a:ln w="15875">
            <a:solidFill>
              <a:srgbClr val="64748B"/>
            </a:solidFill>
            <a:prstDash val="solid"/>
            <a:tailEnd type="triangle"/>
          </a:ln>
        </p:spPr>
      </p:sp>
      <p:sp>
        <p:nvSpPr>
          <p:cNvPr id="58" name="a ghcr-gitops"/>
          <p:cNvSpPr/>
          <p:nvPr/>
        </p:nvSpPr>
        <p:spPr>
          <a:xfrm>
            <a:off x="1714500" y="2953512"/>
            <a:ext cx="0" cy="246888"/>
          </a:xfrm>
          <a:prstGeom prst="line">
            <a:avLst/>
          </a:prstGeom>
          <a:noFill/>
          <a:ln w="15875">
            <a:solidFill>
              <a:srgbClr val="64748B"/>
            </a:solidFill>
            <a:prstDash val="solid"/>
            <a:tailEnd type="triangle"/>
          </a:ln>
        </p:spPr>
      </p:sp>
      <p:sp>
        <p:nvSpPr>
          <p:cNvPr id="59" name="a gitops-argo"/>
          <p:cNvSpPr/>
          <p:nvPr/>
        </p:nvSpPr>
        <p:spPr>
          <a:xfrm>
            <a:off x="2834640" y="3511296"/>
            <a:ext cx="457200" cy="0"/>
          </a:xfrm>
          <a:prstGeom prst="line">
            <a:avLst/>
          </a:prstGeom>
          <a:noFill/>
          <a:ln w="15875">
            <a:solidFill>
              <a:srgbClr val="64748B"/>
            </a:solidFill>
            <a:prstDash val="solid"/>
            <a:tailEnd type="triangle"/>
          </a:ln>
        </p:spPr>
      </p:sp>
      <p:sp>
        <p:nvSpPr>
          <p:cNvPr id="60" name="a ingress-frontend"/>
          <p:cNvSpPr/>
          <p:nvPr/>
        </p:nvSpPr>
        <p:spPr>
          <a:xfrm>
            <a:off x="4983480" y="1773936"/>
            <a:ext cx="137160" cy="0"/>
          </a:xfrm>
          <a:prstGeom prst="line">
            <a:avLst/>
          </a:prstGeom>
          <a:noFill/>
          <a:ln w="15875">
            <a:solidFill>
              <a:srgbClr val="64748B"/>
            </a:solidFill>
            <a:prstDash val="solid"/>
            <a:tailEnd type="triangle"/>
          </a:ln>
        </p:spPr>
      </p:sp>
      <p:sp>
        <p:nvSpPr>
          <p:cNvPr id="61" name="a frontend-backend"/>
          <p:cNvSpPr/>
          <p:nvPr/>
        </p:nvSpPr>
        <p:spPr>
          <a:xfrm>
            <a:off x="6812280" y="1773936"/>
            <a:ext cx="91440" cy="0"/>
          </a:xfrm>
          <a:prstGeom prst="line">
            <a:avLst/>
          </a:prstGeom>
          <a:noFill/>
          <a:ln w="15875">
            <a:solidFill>
              <a:srgbClr val="64748B"/>
            </a:solidFill>
            <a:prstDash val="solid"/>
            <a:tailEnd type="triangle"/>
          </a:ln>
        </p:spPr>
      </p:sp>
      <p:sp>
        <p:nvSpPr>
          <p:cNvPr id="62" name="a backend-pg"/>
          <p:cNvSpPr/>
          <p:nvPr/>
        </p:nvSpPr>
        <p:spPr>
          <a:xfrm>
            <a:off x="7726680" y="2084832"/>
            <a:ext cx="0" cy="246888"/>
          </a:xfrm>
          <a:prstGeom prst="line">
            <a:avLst/>
          </a:prstGeom>
          <a:noFill/>
          <a:ln w="15875">
            <a:solidFill>
              <a:srgbClr val="64748B"/>
            </a:solidFill>
            <a:prstDash val="solid"/>
            <a:tailEnd type="triangle"/>
          </a:ln>
        </p:spPr>
      </p:sp>
      <p:sp>
        <p:nvSpPr>
          <p:cNvPr id="63" name="a prom-backend"/>
          <p:cNvSpPr/>
          <p:nvPr/>
        </p:nvSpPr>
        <p:spPr>
          <a:xfrm flipV="1">
            <a:off x="5966460" y="2103120"/>
            <a:ext cx="1005840" cy="1097280"/>
          </a:xfrm>
          <a:prstGeom prst="line">
            <a:avLst/>
          </a:prstGeom>
          <a:noFill/>
          <a:ln w="15875">
            <a:solidFill>
              <a:srgbClr val="64748B"/>
            </a:solidFill>
            <a:prstDash val="solid"/>
            <a:tailEnd type="triangle"/>
          </a:ln>
        </p:spPr>
      </p:sp>
      <p:sp>
        <p:nvSpPr>
          <p:cNvPr id="64" name="a prom-grafana"/>
          <p:cNvSpPr/>
          <p:nvPr/>
        </p:nvSpPr>
        <p:spPr>
          <a:xfrm>
            <a:off x="6812280" y="3511296"/>
            <a:ext cx="91440" cy="0"/>
          </a:xfrm>
          <a:prstGeom prst="line">
            <a:avLst/>
          </a:prstGeom>
          <a:noFill/>
          <a:ln w="15875">
            <a:solidFill>
              <a:srgbClr val="64748B"/>
            </a:solidFill>
            <a:prstDash val="solid"/>
            <a:tailEnd type="triangle"/>
          </a:ln>
        </p:spPr>
      </p:sp>
      <p:sp>
        <p:nvSpPr>
          <p:cNvPr id="65" name="Text 53"/>
          <p:cNvSpPr txBox="1"/>
          <p:nvPr/>
        </p:nvSpPr>
        <p:spPr>
          <a:xfrm>
            <a:off x="3291840" y="4069080"/>
            <a:ext cx="5303520" cy="365760"/>
          </a:xfrm>
          <a:prstGeom prst="rect">
            <a:avLst/>
          </a:prstGeom>
          <a:noFill/>
          <a:ln/>
        </p:spPr>
        <p:txBody>
          <a:bodyPr wrap="square" lIns="0" tIns="0" rIns="0" bIns="0" rtlCol="0" anchor="t"/>
          <a:lstStyle/>
          <a:p>
            <a:pPr indent="0" marL="0">
              <a:buNone/>
            </a:pPr>
            <a:r>
              <a:rPr lang="en-US" sz="1200" i="1" dirty="0">
                <a:solidFill>
                  <a:schemeClr val="accent5"/>
                </a:solidFill>
              </a:rPr>
              <a:t>Terraform: AWS VPC + EKS (applied on LocalStack)  ·  kind cluster in every CI run</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indent="0" marL="0">
              <a:buNone/>
            </a:pPr>
            <a:r>
              <a:rPr lang="en-US" sz="3600" b="1" dirty="0">
                <a:solidFill>
                  <a:schemeClr val="tx1"/>
                </a:solidFill>
              </a:rPr>
              <a:t>The stack</a:t>
            </a:r>
            <a:endParaRPr lang="en-US" sz="3600" dirty="0"/>
          </a:p>
        </p:txBody>
      </p:sp>
      <p:sp>
        <p:nvSpPr>
          <p:cNvPr id="3" name="stack Backend"/>
          <p:cNvSpPr/>
          <p:nvPr/>
        </p:nvSpPr>
        <p:spPr>
          <a:xfrm>
            <a:off x="457200" y="1097280"/>
            <a:ext cx="2606040" cy="603504"/>
          </a:xfrm>
          <a:prstGeom prst="roundRect">
            <a:avLst>
              <a:gd name="adj" fmla="val 12121"/>
            </a:avLst>
          </a:prstGeom>
          <a:solidFill>
            <a:schemeClr val="bg2"/>
          </a:solidFill>
          <a:ln w="12700">
            <a:solidFill>
              <a:schemeClr val="bg2"/>
            </a:solidFill>
            <a:prstDash val="solid"/>
          </a:ln>
        </p:spPr>
      </p:sp>
      <p:sp>
        <p:nvSpPr>
          <p:cNvPr id="4" name="Backend circle"/>
          <p:cNvSpPr/>
          <p:nvPr/>
        </p:nvSpPr>
        <p:spPr>
          <a:xfrm>
            <a:off x="548640" y="1197864"/>
            <a:ext cx="402336" cy="402336"/>
          </a:xfrm>
          <a:prstGeom prst="ellipse">
            <a:avLst/>
          </a:prstGeom>
          <a:solidFill>
            <a:schemeClr val="accent1"/>
          </a:solidFill>
          <a:ln w="12700">
            <a:solidFill>
              <a:schemeClr val="accent1"/>
            </a:solidFill>
            <a:prstDash val="solid"/>
          </a:ln>
        </p:spPr>
      </p:sp>
      <p:pic>
        <p:nvPicPr>
          <p:cNvPr id="5" name="Backend icon" descr="Backend">    </p:cNvPr>
          <p:cNvPicPr>
            <a:picLocks noChangeAspect="1"/>
          </p:cNvPicPr>
          <p:nvPr/>
        </p:nvPicPr>
        <p:blipFill>
          <a:blip r:embed="rId1"/>
          <a:stretch>
            <a:fillRect/>
          </a:stretch>
        </p:blipFill>
        <p:spPr>
          <a:xfrm>
            <a:off x="645201" y="1294425"/>
            <a:ext cx="209215" cy="209215"/>
          </a:xfrm>
          <a:prstGeom prst="rect">
            <a:avLst/>
          </a:prstGeom>
        </p:spPr>
      </p:pic>
      <p:sp>
        <p:nvSpPr>
          <p:cNvPr id="6" name="Text 3"/>
          <p:cNvSpPr txBox="1"/>
          <p:nvPr/>
        </p:nvSpPr>
        <p:spPr>
          <a:xfrm>
            <a:off x="1051560" y="1161288"/>
            <a:ext cx="1920240" cy="237744"/>
          </a:xfrm>
          <a:prstGeom prst="rect">
            <a:avLst/>
          </a:prstGeom>
          <a:noFill/>
          <a:ln/>
        </p:spPr>
        <p:txBody>
          <a:bodyPr wrap="square" lIns="0" tIns="0" rIns="0" bIns="0" rtlCol="0" anchor="t"/>
          <a:lstStyle/>
          <a:p>
            <a:pPr indent="0" marL="0">
              <a:buNone/>
            </a:pPr>
            <a:r>
              <a:rPr lang="en-US" sz="1300" b="1" dirty="0">
                <a:solidFill>
                  <a:schemeClr val="tx1"/>
                </a:solidFill>
              </a:rPr>
              <a:t>Backend</a:t>
            </a:r>
            <a:endParaRPr lang="en-US" sz="1300" dirty="0"/>
          </a:p>
        </p:txBody>
      </p:sp>
      <p:sp>
        <p:nvSpPr>
          <p:cNvPr id="7" name="Text 4"/>
          <p:cNvSpPr txBox="1"/>
          <p:nvPr/>
        </p:nvSpPr>
        <p:spPr>
          <a:xfrm>
            <a:off x="1051560" y="1399032"/>
            <a:ext cx="1920240" cy="256032"/>
          </a:xfrm>
          <a:prstGeom prst="rect">
            <a:avLst/>
          </a:prstGeom>
          <a:noFill/>
          <a:ln/>
        </p:spPr>
        <p:txBody>
          <a:bodyPr wrap="square" lIns="0" tIns="0" rIns="0" bIns="0" rtlCol="0" anchor="t"/>
          <a:lstStyle/>
          <a:p>
            <a:pPr indent="0" marL="0">
              <a:buNone/>
            </a:pPr>
            <a:r>
              <a:rPr lang="en-US" sz="1100" dirty="0">
                <a:solidFill>
                  <a:schemeClr val="accent5"/>
                </a:solidFill>
              </a:rPr>
              <a:t>FastAPI, SQLAlchemy, Alembic</a:t>
            </a:r>
            <a:endParaRPr lang="en-US" sz="1100" dirty="0"/>
          </a:p>
        </p:txBody>
      </p:sp>
      <p:sp>
        <p:nvSpPr>
          <p:cNvPr id="8" name="stack Frontend"/>
          <p:cNvSpPr/>
          <p:nvPr/>
        </p:nvSpPr>
        <p:spPr>
          <a:xfrm>
            <a:off x="3268980" y="1097280"/>
            <a:ext cx="2606040" cy="603504"/>
          </a:xfrm>
          <a:prstGeom prst="roundRect">
            <a:avLst>
              <a:gd name="adj" fmla="val 12121"/>
            </a:avLst>
          </a:prstGeom>
          <a:solidFill>
            <a:schemeClr val="bg2"/>
          </a:solidFill>
          <a:ln w="12700">
            <a:solidFill>
              <a:schemeClr val="bg2"/>
            </a:solidFill>
            <a:prstDash val="solid"/>
          </a:ln>
        </p:spPr>
      </p:sp>
      <p:sp>
        <p:nvSpPr>
          <p:cNvPr id="9" name="Frontend circle"/>
          <p:cNvSpPr/>
          <p:nvPr/>
        </p:nvSpPr>
        <p:spPr>
          <a:xfrm>
            <a:off x="3360420" y="1197864"/>
            <a:ext cx="402336" cy="402336"/>
          </a:xfrm>
          <a:prstGeom prst="ellipse">
            <a:avLst/>
          </a:prstGeom>
          <a:solidFill>
            <a:schemeClr val="accent1"/>
          </a:solidFill>
          <a:ln w="12700">
            <a:solidFill>
              <a:schemeClr val="accent1"/>
            </a:solidFill>
            <a:prstDash val="solid"/>
          </a:ln>
        </p:spPr>
      </p:sp>
      <p:pic>
        <p:nvPicPr>
          <p:cNvPr id="10" name="Frontend icon" descr="Frontend">    </p:cNvPr>
          <p:cNvPicPr>
            <a:picLocks noChangeAspect="1"/>
          </p:cNvPicPr>
          <p:nvPr/>
        </p:nvPicPr>
        <p:blipFill>
          <a:blip r:embed="rId2"/>
          <a:stretch>
            <a:fillRect/>
          </a:stretch>
        </p:blipFill>
        <p:spPr>
          <a:xfrm>
            <a:off x="3456981" y="1294425"/>
            <a:ext cx="209215" cy="209215"/>
          </a:xfrm>
          <a:prstGeom prst="rect">
            <a:avLst/>
          </a:prstGeom>
        </p:spPr>
      </p:pic>
      <p:sp>
        <p:nvSpPr>
          <p:cNvPr id="11" name="Text 7"/>
          <p:cNvSpPr txBox="1"/>
          <p:nvPr/>
        </p:nvSpPr>
        <p:spPr>
          <a:xfrm>
            <a:off x="3863340" y="1161288"/>
            <a:ext cx="1920240" cy="237744"/>
          </a:xfrm>
          <a:prstGeom prst="rect">
            <a:avLst/>
          </a:prstGeom>
          <a:noFill/>
          <a:ln/>
        </p:spPr>
        <p:txBody>
          <a:bodyPr wrap="square" lIns="0" tIns="0" rIns="0" bIns="0" rtlCol="0" anchor="t"/>
          <a:lstStyle/>
          <a:p>
            <a:pPr indent="0" marL="0">
              <a:buNone/>
            </a:pPr>
            <a:r>
              <a:rPr lang="en-US" sz="1300" b="1" dirty="0">
                <a:solidFill>
                  <a:schemeClr val="tx1"/>
                </a:solidFill>
              </a:rPr>
              <a:t>Frontend</a:t>
            </a:r>
            <a:endParaRPr lang="en-US" sz="1300" dirty="0"/>
          </a:p>
        </p:txBody>
      </p:sp>
      <p:sp>
        <p:nvSpPr>
          <p:cNvPr id="12" name="Text 8"/>
          <p:cNvSpPr txBox="1"/>
          <p:nvPr/>
        </p:nvSpPr>
        <p:spPr>
          <a:xfrm>
            <a:off x="3863340" y="1399032"/>
            <a:ext cx="1920240" cy="256032"/>
          </a:xfrm>
          <a:prstGeom prst="rect">
            <a:avLst/>
          </a:prstGeom>
          <a:noFill/>
          <a:ln/>
        </p:spPr>
        <p:txBody>
          <a:bodyPr wrap="square" lIns="0" tIns="0" rIns="0" bIns="0" rtlCol="0" anchor="t"/>
          <a:lstStyle/>
          <a:p>
            <a:pPr indent="0" marL="0">
              <a:buNone/>
            </a:pPr>
            <a:r>
              <a:rPr lang="en-US" sz="1100" dirty="0">
                <a:solidFill>
                  <a:schemeClr val="accent5"/>
                </a:solidFill>
              </a:rPr>
              <a:t>React 19, Vite, nginx-unprivileged</a:t>
            </a:r>
            <a:endParaRPr lang="en-US" sz="1100" dirty="0"/>
          </a:p>
        </p:txBody>
      </p:sp>
      <p:sp>
        <p:nvSpPr>
          <p:cNvPr id="13" name="stack Database"/>
          <p:cNvSpPr/>
          <p:nvPr/>
        </p:nvSpPr>
        <p:spPr>
          <a:xfrm>
            <a:off x="6080760" y="1097280"/>
            <a:ext cx="2606040" cy="603504"/>
          </a:xfrm>
          <a:prstGeom prst="roundRect">
            <a:avLst>
              <a:gd name="adj" fmla="val 12121"/>
            </a:avLst>
          </a:prstGeom>
          <a:solidFill>
            <a:schemeClr val="bg2"/>
          </a:solidFill>
          <a:ln w="12700">
            <a:solidFill>
              <a:schemeClr val="bg2"/>
            </a:solidFill>
            <a:prstDash val="solid"/>
          </a:ln>
        </p:spPr>
      </p:sp>
      <p:sp>
        <p:nvSpPr>
          <p:cNvPr id="14" name="Database circle"/>
          <p:cNvSpPr/>
          <p:nvPr/>
        </p:nvSpPr>
        <p:spPr>
          <a:xfrm>
            <a:off x="6172200" y="1197864"/>
            <a:ext cx="402336" cy="402336"/>
          </a:xfrm>
          <a:prstGeom prst="ellipse">
            <a:avLst/>
          </a:prstGeom>
          <a:solidFill>
            <a:schemeClr val="accent1"/>
          </a:solidFill>
          <a:ln w="12700">
            <a:solidFill>
              <a:schemeClr val="accent1"/>
            </a:solidFill>
            <a:prstDash val="solid"/>
          </a:ln>
        </p:spPr>
      </p:sp>
      <p:pic>
        <p:nvPicPr>
          <p:cNvPr id="15" name="Database icon" descr="Database">    </p:cNvPr>
          <p:cNvPicPr>
            <a:picLocks noChangeAspect="1"/>
          </p:cNvPicPr>
          <p:nvPr/>
        </p:nvPicPr>
        <p:blipFill>
          <a:blip r:embed="rId3"/>
          <a:stretch>
            <a:fillRect/>
          </a:stretch>
        </p:blipFill>
        <p:spPr>
          <a:xfrm>
            <a:off x="6268761" y="1294425"/>
            <a:ext cx="209215" cy="209215"/>
          </a:xfrm>
          <a:prstGeom prst="rect">
            <a:avLst/>
          </a:prstGeom>
        </p:spPr>
      </p:pic>
      <p:sp>
        <p:nvSpPr>
          <p:cNvPr id="16" name="Text 11"/>
          <p:cNvSpPr txBox="1"/>
          <p:nvPr/>
        </p:nvSpPr>
        <p:spPr>
          <a:xfrm>
            <a:off x="6675120" y="1161288"/>
            <a:ext cx="1920240" cy="237744"/>
          </a:xfrm>
          <a:prstGeom prst="rect">
            <a:avLst/>
          </a:prstGeom>
          <a:noFill/>
          <a:ln/>
        </p:spPr>
        <p:txBody>
          <a:bodyPr wrap="square" lIns="0" tIns="0" rIns="0" bIns="0" rtlCol="0" anchor="t"/>
          <a:lstStyle/>
          <a:p>
            <a:pPr indent="0" marL="0">
              <a:buNone/>
            </a:pPr>
            <a:r>
              <a:rPr lang="en-US" sz="1300" b="1" dirty="0">
                <a:solidFill>
                  <a:schemeClr val="tx1"/>
                </a:solidFill>
              </a:rPr>
              <a:t>Database</a:t>
            </a:r>
            <a:endParaRPr lang="en-US" sz="1300" dirty="0"/>
          </a:p>
        </p:txBody>
      </p:sp>
      <p:sp>
        <p:nvSpPr>
          <p:cNvPr id="17" name="Text 12"/>
          <p:cNvSpPr txBox="1"/>
          <p:nvPr/>
        </p:nvSpPr>
        <p:spPr>
          <a:xfrm>
            <a:off x="6675120" y="1399032"/>
            <a:ext cx="1920240" cy="256032"/>
          </a:xfrm>
          <a:prstGeom prst="rect">
            <a:avLst/>
          </a:prstGeom>
          <a:noFill/>
          <a:ln/>
        </p:spPr>
        <p:txBody>
          <a:bodyPr wrap="square" lIns="0" tIns="0" rIns="0" bIns="0" rtlCol="0" anchor="t"/>
          <a:lstStyle/>
          <a:p>
            <a:pPr indent="0" marL="0">
              <a:buNone/>
            </a:pPr>
            <a:r>
              <a:rPr lang="en-US" sz="1100" dirty="0">
                <a:solidFill>
                  <a:schemeClr val="accent5"/>
                </a:solidFill>
              </a:rPr>
              <a:t>PostgreSQL 16</a:t>
            </a:r>
            <a:endParaRPr lang="en-US" sz="1100" dirty="0"/>
          </a:p>
        </p:txBody>
      </p:sp>
      <p:sp>
        <p:nvSpPr>
          <p:cNvPr id="18" name="stack Containers"/>
          <p:cNvSpPr/>
          <p:nvPr/>
        </p:nvSpPr>
        <p:spPr>
          <a:xfrm>
            <a:off x="457200" y="1819656"/>
            <a:ext cx="2606040" cy="603504"/>
          </a:xfrm>
          <a:prstGeom prst="roundRect">
            <a:avLst>
              <a:gd name="adj" fmla="val 12121"/>
            </a:avLst>
          </a:prstGeom>
          <a:solidFill>
            <a:schemeClr val="bg2"/>
          </a:solidFill>
          <a:ln w="12700">
            <a:solidFill>
              <a:schemeClr val="bg2"/>
            </a:solidFill>
            <a:prstDash val="solid"/>
          </a:ln>
        </p:spPr>
      </p:sp>
      <p:sp>
        <p:nvSpPr>
          <p:cNvPr id="19" name="Containers circle"/>
          <p:cNvSpPr/>
          <p:nvPr/>
        </p:nvSpPr>
        <p:spPr>
          <a:xfrm>
            <a:off x="548640" y="1920240"/>
            <a:ext cx="402336" cy="402336"/>
          </a:xfrm>
          <a:prstGeom prst="ellipse">
            <a:avLst/>
          </a:prstGeom>
          <a:solidFill>
            <a:schemeClr val="accent1"/>
          </a:solidFill>
          <a:ln w="12700">
            <a:solidFill>
              <a:schemeClr val="accent1"/>
            </a:solidFill>
            <a:prstDash val="solid"/>
          </a:ln>
        </p:spPr>
      </p:sp>
      <p:pic>
        <p:nvPicPr>
          <p:cNvPr id="20" name="Containers icon" descr="Containers">    </p:cNvPr>
          <p:cNvPicPr>
            <a:picLocks noChangeAspect="1"/>
          </p:cNvPicPr>
          <p:nvPr/>
        </p:nvPicPr>
        <p:blipFill>
          <a:blip r:embed="rId4"/>
          <a:stretch>
            <a:fillRect/>
          </a:stretch>
        </p:blipFill>
        <p:spPr>
          <a:xfrm>
            <a:off x="645201" y="2016801"/>
            <a:ext cx="209215" cy="209215"/>
          </a:xfrm>
          <a:prstGeom prst="rect">
            <a:avLst/>
          </a:prstGeom>
        </p:spPr>
      </p:pic>
      <p:sp>
        <p:nvSpPr>
          <p:cNvPr id="21" name="Text 15"/>
          <p:cNvSpPr txBox="1"/>
          <p:nvPr/>
        </p:nvSpPr>
        <p:spPr>
          <a:xfrm>
            <a:off x="1051560" y="1883664"/>
            <a:ext cx="1920240" cy="237744"/>
          </a:xfrm>
          <a:prstGeom prst="rect">
            <a:avLst/>
          </a:prstGeom>
          <a:noFill/>
          <a:ln/>
        </p:spPr>
        <p:txBody>
          <a:bodyPr wrap="square" lIns="0" tIns="0" rIns="0" bIns="0" rtlCol="0" anchor="t"/>
          <a:lstStyle/>
          <a:p>
            <a:pPr indent="0" marL="0">
              <a:buNone/>
            </a:pPr>
            <a:r>
              <a:rPr lang="en-US" sz="1300" b="1" dirty="0">
                <a:solidFill>
                  <a:schemeClr val="tx1"/>
                </a:solidFill>
              </a:rPr>
              <a:t>Containers</a:t>
            </a:r>
            <a:endParaRPr lang="en-US" sz="1300" dirty="0"/>
          </a:p>
        </p:txBody>
      </p:sp>
      <p:sp>
        <p:nvSpPr>
          <p:cNvPr id="22" name="Text 16"/>
          <p:cNvSpPr txBox="1"/>
          <p:nvPr/>
        </p:nvSpPr>
        <p:spPr>
          <a:xfrm>
            <a:off x="1051560" y="2121408"/>
            <a:ext cx="1920240" cy="256032"/>
          </a:xfrm>
          <a:prstGeom prst="rect">
            <a:avLst/>
          </a:prstGeom>
          <a:noFill/>
          <a:ln/>
        </p:spPr>
        <p:txBody>
          <a:bodyPr wrap="square" lIns="0" tIns="0" rIns="0" bIns="0" rtlCol="0" anchor="t"/>
          <a:lstStyle/>
          <a:p>
            <a:pPr indent="0" marL="0">
              <a:buNone/>
            </a:pPr>
            <a:r>
              <a:rPr lang="en-US" sz="1100" dirty="0">
                <a:solidFill>
                  <a:schemeClr val="accent5"/>
                </a:solidFill>
              </a:rPr>
              <a:t>Multi-stage Docker, Compose</a:t>
            </a:r>
            <a:endParaRPr lang="en-US" sz="1100" dirty="0"/>
          </a:p>
        </p:txBody>
      </p:sp>
      <p:sp>
        <p:nvSpPr>
          <p:cNvPr id="23" name="stack CI/CD"/>
          <p:cNvSpPr/>
          <p:nvPr/>
        </p:nvSpPr>
        <p:spPr>
          <a:xfrm>
            <a:off x="3268980" y="1819656"/>
            <a:ext cx="2606040" cy="603504"/>
          </a:xfrm>
          <a:prstGeom prst="roundRect">
            <a:avLst>
              <a:gd name="adj" fmla="val 12121"/>
            </a:avLst>
          </a:prstGeom>
          <a:solidFill>
            <a:schemeClr val="bg2"/>
          </a:solidFill>
          <a:ln w="12700">
            <a:solidFill>
              <a:schemeClr val="bg2"/>
            </a:solidFill>
            <a:prstDash val="solid"/>
          </a:ln>
        </p:spPr>
      </p:sp>
      <p:sp>
        <p:nvSpPr>
          <p:cNvPr id="24" name="CI/CD circle"/>
          <p:cNvSpPr/>
          <p:nvPr/>
        </p:nvSpPr>
        <p:spPr>
          <a:xfrm>
            <a:off x="3360420" y="1920240"/>
            <a:ext cx="402336" cy="402336"/>
          </a:xfrm>
          <a:prstGeom prst="ellipse">
            <a:avLst/>
          </a:prstGeom>
          <a:solidFill>
            <a:schemeClr val="accent1"/>
          </a:solidFill>
          <a:ln w="12700">
            <a:solidFill>
              <a:schemeClr val="accent1"/>
            </a:solidFill>
            <a:prstDash val="solid"/>
          </a:ln>
        </p:spPr>
      </p:sp>
      <p:pic>
        <p:nvPicPr>
          <p:cNvPr id="25" name="CI/CD icon" descr="CI/CD">    </p:cNvPr>
          <p:cNvPicPr>
            <a:picLocks noChangeAspect="1"/>
          </p:cNvPicPr>
          <p:nvPr/>
        </p:nvPicPr>
        <p:blipFill>
          <a:blip r:embed="rId5"/>
          <a:stretch>
            <a:fillRect/>
          </a:stretch>
        </p:blipFill>
        <p:spPr>
          <a:xfrm>
            <a:off x="3456981" y="2016801"/>
            <a:ext cx="209215" cy="209215"/>
          </a:xfrm>
          <a:prstGeom prst="rect">
            <a:avLst/>
          </a:prstGeom>
        </p:spPr>
      </p:pic>
      <p:sp>
        <p:nvSpPr>
          <p:cNvPr id="26" name="Text 19"/>
          <p:cNvSpPr txBox="1"/>
          <p:nvPr/>
        </p:nvSpPr>
        <p:spPr>
          <a:xfrm>
            <a:off x="3863340" y="1883664"/>
            <a:ext cx="1920240" cy="237744"/>
          </a:xfrm>
          <a:prstGeom prst="rect">
            <a:avLst/>
          </a:prstGeom>
          <a:noFill/>
          <a:ln/>
        </p:spPr>
        <p:txBody>
          <a:bodyPr wrap="square" lIns="0" tIns="0" rIns="0" bIns="0" rtlCol="0" anchor="t"/>
          <a:lstStyle/>
          <a:p>
            <a:pPr indent="0" marL="0">
              <a:buNone/>
            </a:pPr>
            <a:r>
              <a:rPr lang="en-US" sz="1300" b="1" dirty="0">
                <a:solidFill>
                  <a:schemeClr val="tx1"/>
                </a:solidFill>
              </a:rPr>
              <a:t>CI/CD</a:t>
            </a:r>
            <a:endParaRPr lang="en-US" sz="1300" dirty="0"/>
          </a:p>
        </p:txBody>
      </p:sp>
      <p:sp>
        <p:nvSpPr>
          <p:cNvPr id="27" name="Text 20"/>
          <p:cNvSpPr txBox="1"/>
          <p:nvPr/>
        </p:nvSpPr>
        <p:spPr>
          <a:xfrm>
            <a:off x="3863340" y="2121408"/>
            <a:ext cx="1920240" cy="256032"/>
          </a:xfrm>
          <a:prstGeom prst="rect">
            <a:avLst/>
          </a:prstGeom>
          <a:noFill/>
          <a:ln/>
        </p:spPr>
        <p:txBody>
          <a:bodyPr wrap="square" lIns="0" tIns="0" rIns="0" bIns="0" rtlCol="0" anchor="t"/>
          <a:lstStyle/>
          <a:p>
            <a:pPr indent="0" marL="0">
              <a:buNone/>
            </a:pPr>
            <a:r>
              <a:rPr lang="en-US" sz="1100" dirty="0">
                <a:solidFill>
                  <a:schemeClr val="accent5"/>
                </a:solidFill>
              </a:rPr>
              <a:t>GitHub Actions, GHCR</a:t>
            </a:r>
            <a:endParaRPr lang="en-US" sz="1100" dirty="0"/>
          </a:p>
        </p:txBody>
      </p:sp>
      <p:sp>
        <p:nvSpPr>
          <p:cNvPr id="28" name="stack Security"/>
          <p:cNvSpPr/>
          <p:nvPr/>
        </p:nvSpPr>
        <p:spPr>
          <a:xfrm>
            <a:off x="6080760" y="1819656"/>
            <a:ext cx="2606040" cy="603504"/>
          </a:xfrm>
          <a:prstGeom prst="roundRect">
            <a:avLst>
              <a:gd name="adj" fmla="val 12121"/>
            </a:avLst>
          </a:prstGeom>
          <a:solidFill>
            <a:schemeClr val="bg2"/>
          </a:solidFill>
          <a:ln w="12700">
            <a:solidFill>
              <a:schemeClr val="bg2"/>
            </a:solidFill>
            <a:prstDash val="solid"/>
          </a:ln>
        </p:spPr>
      </p:sp>
      <p:sp>
        <p:nvSpPr>
          <p:cNvPr id="29" name="Security circle"/>
          <p:cNvSpPr/>
          <p:nvPr/>
        </p:nvSpPr>
        <p:spPr>
          <a:xfrm>
            <a:off x="6172200" y="1920240"/>
            <a:ext cx="402336" cy="402336"/>
          </a:xfrm>
          <a:prstGeom prst="ellipse">
            <a:avLst/>
          </a:prstGeom>
          <a:solidFill>
            <a:schemeClr val="accent1"/>
          </a:solidFill>
          <a:ln w="12700">
            <a:solidFill>
              <a:schemeClr val="accent1"/>
            </a:solidFill>
            <a:prstDash val="solid"/>
          </a:ln>
        </p:spPr>
      </p:sp>
      <p:pic>
        <p:nvPicPr>
          <p:cNvPr id="30" name="Security icon" descr="Security">    </p:cNvPr>
          <p:cNvPicPr>
            <a:picLocks noChangeAspect="1"/>
          </p:cNvPicPr>
          <p:nvPr/>
        </p:nvPicPr>
        <p:blipFill>
          <a:blip r:embed="rId6"/>
          <a:stretch>
            <a:fillRect/>
          </a:stretch>
        </p:blipFill>
        <p:spPr>
          <a:xfrm>
            <a:off x="6268761" y="2016801"/>
            <a:ext cx="209215" cy="209215"/>
          </a:xfrm>
          <a:prstGeom prst="rect">
            <a:avLst/>
          </a:prstGeom>
        </p:spPr>
      </p:pic>
      <p:sp>
        <p:nvSpPr>
          <p:cNvPr id="31" name="Text 23"/>
          <p:cNvSpPr txBox="1"/>
          <p:nvPr/>
        </p:nvSpPr>
        <p:spPr>
          <a:xfrm>
            <a:off x="6675120" y="1883664"/>
            <a:ext cx="1920240" cy="237744"/>
          </a:xfrm>
          <a:prstGeom prst="rect">
            <a:avLst/>
          </a:prstGeom>
          <a:noFill/>
          <a:ln/>
        </p:spPr>
        <p:txBody>
          <a:bodyPr wrap="square" lIns="0" tIns="0" rIns="0" bIns="0" rtlCol="0" anchor="t"/>
          <a:lstStyle/>
          <a:p>
            <a:pPr indent="0" marL="0">
              <a:buNone/>
            </a:pPr>
            <a:r>
              <a:rPr lang="en-US" sz="1300" b="1" dirty="0">
                <a:solidFill>
                  <a:schemeClr val="tx1"/>
                </a:solidFill>
              </a:rPr>
              <a:t>Security</a:t>
            </a:r>
            <a:endParaRPr lang="en-US" sz="1300" dirty="0"/>
          </a:p>
        </p:txBody>
      </p:sp>
      <p:sp>
        <p:nvSpPr>
          <p:cNvPr id="32" name="Text 24"/>
          <p:cNvSpPr txBox="1"/>
          <p:nvPr/>
        </p:nvSpPr>
        <p:spPr>
          <a:xfrm>
            <a:off x="6675120" y="2121408"/>
            <a:ext cx="1920240" cy="256032"/>
          </a:xfrm>
          <a:prstGeom prst="rect">
            <a:avLst/>
          </a:prstGeom>
          <a:noFill/>
          <a:ln/>
        </p:spPr>
        <p:txBody>
          <a:bodyPr wrap="square" lIns="0" tIns="0" rIns="0" bIns="0" rtlCol="0" anchor="t"/>
          <a:lstStyle/>
          <a:p>
            <a:pPr indent="0" marL="0">
              <a:buNone/>
            </a:pPr>
            <a:r>
              <a:rPr lang="en-US" sz="1100" dirty="0">
                <a:solidFill>
                  <a:schemeClr val="accent5"/>
                </a:solidFill>
              </a:rPr>
              <a:t>Trivy, bandit, pip-audit, gitleaks</a:t>
            </a:r>
            <a:endParaRPr lang="en-US" sz="1100" dirty="0"/>
          </a:p>
        </p:txBody>
      </p:sp>
      <p:sp>
        <p:nvSpPr>
          <p:cNvPr id="33" name="stack Orchestration"/>
          <p:cNvSpPr/>
          <p:nvPr/>
        </p:nvSpPr>
        <p:spPr>
          <a:xfrm>
            <a:off x="457200" y="2542032"/>
            <a:ext cx="2606040" cy="603504"/>
          </a:xfrm>
          <a:prstGeom prst="roundRect">
            <a:avLst>
              <a:gd name="adj" fmla="val 12121"/>
            </a:avLst>
          </a:prstGeom>
          <a:solidFill>
            <a:schemeClr val="bg2"/>
          </a:solidFill>
          <a:ln w="12700">
            <a:solidFill>
              <a:schemeClr val="bg2"/>
            </a:solidFill>
            <a:prstDash val="solid"/>
          </a:ln>
        </p:spPr>
      </p:sp>
      <p:sp>
        <p:nvSpPr>
          <p:cNvPr id="34" name="Orchestration circle"/>
          <p:cNvSpPr/>
          <p:nvPr/>
        </p:nvSpPr>
        <p:spPr>
          <a:xfrm>
            <a:off x="548640" y="2642616"/>
            <a:ext cx="402336" cy="402336"/>
          </a:xfrm>
          <a:prstGeom prst="ellipse">
            <a:avLst/>
          </a:prstGeom>
          <a:solidFill>
            <a:schemeClr val="accent1"/>
          </a:solidFill>
          <a:ln w="12700">
            <a:solidFill>
              <a:schemeClr val="accent1"/>
            </a:solidFill>
            <a:prstDash val="solid"/>
          </a:ln>
        </p:spPr>
      </p:sp>
      <p:pic>
        <p:nvPicPr>
          <p:cNvPr id="35" name="Orchestration icon" descr="Orchestration">    </p:cNvPr>
          <p:cNvPicPr>
            <a:picLocks noChangeAspect="1"/>
          </p:cNvPicPr>
          <p:nvPr/>
        </p:nvPicPr>
        <p:blipFill>
          <a:blip r:embed="rId7"/>
          <a:stretch>
            <a:fillRect/>
          </a:stretch>
        </p:blipFill>
        <p:spPr>
          <a:xfrm>
            <a:off x="645201" y="2739177"/>
            <a:ext cx="209215" cy="209215"/>
          </a:xfrm>
          <a:prstGeom prst="rect">
            <a:avLst/>
          </a:prstGeom>
        </p:spPr>
      </p:pic>
      <p:sp>
        <p:nvSpPr>
          <p:cNvPr id="36" name="Text 27"/>
          <p:cNvSpPr txBox="1"/>
          <p:nvPr/>
        </p:nvSpPr>
        <p:spPr>
          <a:xfrm>
            <a:off x="1051560" y="2606040"/>
            <a:ext cx="1920240" cy="237744"/>
          </a:xfrm>
          <a:prstGeom prst="rect">
            <a:avLst/>
          </a:prstGeom>
          <a:noFill/>
          <a:ln/>
        </p:spPr>
        <p:txBody>
          <a:bodyPr wrap="square" lIns="0" tIns="0" rIns="0" bIns="0" rtlCol="0" anchor="t"/>
          <a:lstStyle/>
          <a:p>
            <a:pPr indent="0" marL="0">
              <a:buNone/>
            </a:pPr>
            <a:r>
              <a:rPr lang="en-US" sz="1300" b="1" dirty="0">
                <a:solidFill>
                  <a:schemeClr val="tx1"/>
                </a:solidFill>
              </a:rPr>
              <a:t>Orchestration</a:t>
            </a:r>
            <a:endParaRPr lang="en-US" sz="1300" dirty="0"/>
          </a:p>
        </p:txBody>
      </p:sp>
      <p:sp>
        <p:nvSpPr>
          <p:cNvPr id="37" name="Text 28"/>
          <p:cNvSpPr txBox="1"/>
          <p:nvPr/>
        </p:nvSpPr>
        <p:spPr>
          <a:xfrm>
            <a:off x="1051560" y="2843784"/>
            <a:ext cx="1920240" cy="256032"/>
          </a:xfrm>
          <a:prstGeom prst="rect">
            <a:avLst/>
          </a:prstGeom>
          <a:noFill/>
          <a:ln/>
        </p:spPr>
        <p:txBody>
          <a:bodyPr wrap="square" lIns="0" tIns="0" rIns="0" bIns="0" rtlCol="0" anchor="t"/>
          <a:lstStyle/>
          <a:p>
            <a:pPr indent="0" marL="0">
              <a:buNone/>
            </a:pPr>
            <a:r>
              <a:rPr lang="en-US" sz="1100" dirty="0">
                <a:solidFill>
                  <a:schemeClr val="accent5"/>
                </a:solidFill>
              </a:rPr>
              <a:t>Kubernetes, Helm, ingress-nginx</a:t>
            </a:r>
            <a:endParaRPr lang="en-US" sz="1100" dirty="0"/>
          </a:p>
        </p:txBody>
      </p:sp>
      <p:sp>
        <p:nvSpPr>
          <p:cNvPr id="38" name="stack Infrastructure"/>
          <p:cNvSpPr/>
          <p:nvPr/>
        </p:nvSpPr>
        <p:spPr>
          <a:xfrm>
            <a:off x="3268980" y="2542032"/>
            <a:ext cx="2606040" cy="603504"/>
          </a:xfrm>
          <a:prstGeom prst="roundRect">
            <a:avLst>
              <a:gd name="adj" fmla="val 12121"/>
            </a:avLst>
          </a:prstGeom>
          <a:solidFill>
            <a:schemeClr val="bg2"/>
          </a:solidFill>
          <a:ln w="12700">
            <a:solidFill>
              <a:schemeClr val="bg2"/>
            </a:solidFill>
            <a:prstDash val="solid"/>
          </a:ln>
        </p:spPr>
      </p:sp>
      <p:sp>
        <p:nvSpPr>
          <p:cNvPr id="39" name="Infrastructure circle"/>
          <p:cNvSpPr/>
          <p:nvPr/>
        </p:nvSpPr>
        <p:spPr>
          <a:xfrm>
            <a:off x="3360420" y="2642616"/>
            <a:ext cx="402336" cy="402336"/>
          </a:xfrm>
          <a:prstGeom prst="ellipse">
            <a:avLst/>
          </a:prstGeom>
          <a:solidFill>
            <a:schemeClr val="accent1"/>
          </a:solidFill>
          <a:ln w="12700">
            <a:solidFill>
              <a:schemeClr val="accent1"/>
            </a:solidFill>
            <a:prstDash val="solid"/>
          </a:ln>
        </p:spPr>
      </p:sp>
      <p:pic>
        <p:nvPicPr>
          <p:cNvPr id="40" name="Infrastructure icon" descr="Infrastructure">    </p:cNvPr>
          <p:cNvPicPr>
            <a:picLocks noChangeAspect="1"/>
          </p:cNvPicPr>
          <p:nvPr/>
        </p:nvPicPr>
        <p:blipFill>
          <a:blip r:embed="rId8"/>
          <a:stretch>
            <a:fillRect/>
          </a:stretch>
        </p:blipFill>
        <p:spPr>
          <a:xfrm>
            <a:off x="3456981" y="2739177"/>
            <a:ext cx="209215" cy="209215"/>
          </a:xfrm>
          <a:prstGeom prst="rect">
            <a:avLst/>
          </a:prstGeom>
        </p:spPr>
      </p:pic>
      <p:sp>
        <p:nvSpPr>
          <p:cNvPr id="41" name="Text 31"/>
          <p:cNvSpPr txBox="1"/>
          <p:nvPr/>
        </p:nvSpPr>
        <p:spPr>
          <a:xfrm>
            <a:off x="3863340" y="2606040"/>
            <a:ext cx="1920240" cy="237744"/>
          </a:xfrm>
          <a:prstGeom prst="rect">
            <a:avLst/>
          </a:prstGeom>
          <a:noFill/>
          <a:ln/>
        </p:spPr>
        <p:txBody>
          <a:bodyPr wrap="square" lIns="0" tIns="0" rIns="0" bIns="0" rtlCol="0" anchor="t"/>
          <a:lstStyle/>
          <a:p>
            <a:pPr indent="0" marL="0">
              <a:buNone/>
            </a:pPr>
            <a:r>
              <a:rPr lang="en-US" sz="1300" b="1" dirty="0">
                <a:solidFill>
                  <a:schemeClr val="tx1"/>
                </a:solidFill>
              </a:rPr>
              <a:t>Infrastructure</a:t>
            </a:r>
            <a:endParaRPr lang="en-US" sz="1300" dirty="0"/>
          </a:p>
        </p:txBody>
      </p:sp>
      <p:sp>
        <p:nvSpPr>
          <p:cNvPr id="42" name="Text 32"/>
          <p:cNvSpPr txBox="1"/>
          <p:nvPr/>
        </p:nvSpPr>
        <p:spPr>
          <a:xfrm>
            <a:off x="3863340" y="2843784"/>
            <a:ext cx="1920240" cy="256032"/>
          </a:xfrm>
          <a:prstGeom prst="rect">
            <a:avLst/>
          </a:prstGeom>
          <a:noFill/>
          <a:ln/>
        </p:spPr>
        <p:txBody>
          <a:bodyPr wrap="square" lIns="0" tIns="0" rIns="0" bIns="0" rtlCol="0" anchor="t"/>
          <a:lstStyle/>
          <a:p>
            <a:pPr indent="0" marL="0">
              <a:buNone/>
            </a:pPr>
            <a:r>
              <a:rPr lang="en-US" sz="1100" dirty="0">
                <a:solidFill>
                  <a:schemeClr val="accent5"/>
                </a:solidFill>
              </a:rPr>
              <a:t>Terraform, LocalStack</a:t>
            </a:r>
            <a:endParaRPr lang="en-US" sz="1100" dirty="0"/>
          </a:p>
        </p:txBody>
      </p:sp>
      <p:sp>
        <p:nvSpPr>
          <p:cNvPr id="43" name="stack Observability"/>
          <p:cNvSpPr/>
          <p:nvPr/>
        </p:nvSpPr>
        <p:spPr>
          <a:xfrm>
            <a:off x="6080760" y="2542032"/>
            <a:ext cx="2606040" cy="603504"/>
          </a:xfrm>
          <a:prstGeom prst="roundRect">
            <a:avLst>
              <a:gd name="adj" fmla="val 12121"/>
            </a:avLst>
          </a:prstGeom>
          <a:solidFill>
            <a:schemeClr val="bg2"/>
          </a:solidFill>
          <a:ln w="12700">
            <a:solidFill>
              <a:schemeClr val="bg2"/>
            </a:solidFill>
            <a:prstDash val="solid"/>
          </a:ln>
        </p:spPr>
      </p:sp>
      <p:sp>
        <p:nvSpPr>
          <p:cNvPr id="44" name="Observability circle"/>
          <p:cNvSpPr/>
          <p:nvPr/>
        </p:nvSpPr>
        <p:spPr>
          <a:xfrm>
            <a:off x="6172200" y="2642616"/>
            <a:ext cx="402336" cy="402336"/>
          </a:xfrm>
          <a:prstGeom prst="ellipse">
            <a:avLst/>
          </a:prstGeom>
          <a:solidFill>
            <a:schemeClr val="accent1"/>
          </a:solidFill>
          <a:ln w="12700">
            <a:solidFill>
              <a:schemeClr val="accent1"/>
            </a:solidFill>
            <a:prstDash val="solid"/>
          </a:ln>
        </p:spPr>
      </p:sp>
      <p:pic>
        <p:nvPicPr>
          <p:cNvPr id="45" name="Observability icon" descr="Observability">    </p:cNvPr>
          <p:cNvPicPr>
            <a:picLocks noChangeAspect="1"/>
          </p:cNvPicPr>
          <p:nvPr/>
        </p:nvPicPr>
        <p:blipFill>
          <a:blip r:embed="rId9"/>
          <a:stretch>
            <a:fillRect/>
          </a:stretch>
        </p:blipFill>
        <p:spPr>
          <a:xfrm>
            <a:off x="6268761" y="2739177"/>
            <a:ext cx="209215" cy="209215"/>
          </a:xfrm>
          <a:prstGeom prst="rect">
            <a:avLst/>
          </a:prstGeom>
        </p:spPr>
      </p:pic>
      <p:sp>
        <p:nvSpPr>
          <p:cNvPr id="46" name="Text 35"/>
          <p:cNvSpPr txBox="1"/>
          <p:nvPr/>
        </p:nvSpPr>
        <p:spPr>
          <a:xfrm>
            <a:off x="6675120" y="2606040"/>
            <a:ext cx="1920240" cy="237744"/>
          </a:xfrm>
          <a:prstGeom prst="rect">
            <a:avLst/>
          </a:prstGeom>
          <a:noFill/>
          <a:ln/>
        </p:spPr>
        <p:txBody>
          <a:bodyPr wrap="square" lIns="0" tIns="0" rIns="0" bIns="0" rtlCol="0" anchor="t"/>
          <a:lstStyle/>
          <a:p>
            <a:pPr indent="0" marL="0">
              <a:buNone/>
            </a:pPr>
            <a:r>
              <a:rPr lang="en-US" sz="1300" b="1" dirty="0">
                <a:solidFill>
                  <a:schemeClr val="tx1"/>
                </a:solidFill>
              </a:rPr>
              <a:t>Observability</a:t>
            </a:r>
            <a:endParaRPr lang="en-US" sz="1300" dirty="0"/>
          </a:p>
        </p:txBody>
      </p:sp>
      <p:sp>
        <p:nvSpPr>
          <p:cNvPr id="47" name="Text 36"/>
          <p:cNvSpPr txBox="1"/>
          <p:nvPr/>
        </p:nvSpPr>
        <p:spPr>
          <a:xfrm>
            <a:off x="6675120" y="2843784"/>
            <a:ext cx="1920240" cy="256032"/>
          </a:xfrm>
          <a:prstGeom prst="rect">
            <a:avLst/>
          </a:prstGeom>
          <a:noFill/>
          <a:ln/>
        </p:spPr>
        <p:txBody>
          <a:bodyPr wrap="square" lIns="0" tIns="0" rIns="0" bIns="0" rtlCol="0" anchor="t"/>
          <a:lstStyle/>
          <a:p>
            <a:pPr indent="0" marL="0">
              <a:buNone/>
            </a:pPr>
            <a:r>
              <a:rPr lang="en-US" sz="1100" dirty="0">
                <a:solidFill>
                  <a:schemeClr val="accent5"/>
                </a:solidFill>
              </a:rPr>
              <a:t>Prometheus, Grafana</a:t>
            </a:r>
            <a:endParaRPr lang="en-US" sz="1100" dirty="0"/>
          </a:p>
        </p:txBody>
      </p:sp>
      <p:sp>
        <p:nvSpPr>
          <p:cNvPr id="48" name="stack GitOps"/>
          <p:cNvSpPr/>
          <p:nvPr/>
        </p:nvSpPr>
        <p:spPr>
          <a:xfrm>
            <a:off x="3268980" y="3264408"/>
            <a:ext cx="2606040" cy="603504"/>
          </a:xfrm>
          <a:prstGeom prst="roundRect">
            <a:avLst>
              <a:gd name="adj" fmla="val 12121"/>
            </a:avLst>
          </a:prstGeom>
          <a:solidFill>
            <a:schemeClr val="bg2"/>
          </a:solidFill>
          <a:ln w="12700">
            <a:solidFill>
              <a:schemeClr val="bg2"/>
            </a:solidFill>
            <a:prstDash val="solid"/>
          </a:ln>
        </p:spPr>
      </p:sp>
      <p:sp>
        <p:nvSpPr>
          <p:cNvPr id="49" name="GitOps circle"/>
          <p:cNvSpPr/>
          <p:nvPr/>
        </p:nvSpPr>
        <p:spPr>
          <a:xfrm>
            <a:off x="3360420" y="3364992"/>
            <a:ext cx="402336" cy="402336"/>
          </a:xfrm>
          <a:prstGeom prst="ellipse">
            <a:avLst/>
          </a:prstGeom>
          <a:solidFill>
            <a:schemeClr val="accent1"/>
          </a:solidFill>
          <a:ln w="12700">
            <a:solidFill>
              <a:schemeClr val="accent1"/>
            </a:solidFill>
            <a:prstDash val="solid"/>
          </a:ln>
        </p:spPr>
      </p:sp>
      <p:pic>
        <p:nvPicPr>
          <p:cNvPr id="50" name="GitOps icon" descr="GitOps">    </p:cNvPr>
          <p:cNvPicPr>
            <a:picLocks noChangeAspect="1"/>
          </p:cNvPicPr>
          <p:nvPr/>
        </p:nvPicPr>
        <p:blipFill>
          <a:blip r:embed="rId10"/>
          <a:stretch>
            <a:fillRect/>
          </a:stretch>
        </p:blipFill>
        <p:spPr>
          <a:xfrm>
            <a:off x="3456981" y="3461553"/>
            <a:ext cx="209215" cy="209215"/>
          </a:xfrm>
          <a:prstGeom prst="rect">
            <a:avLst/>
          </a:prstGeom>
        </p:spPr>
      </p:pic>
      <p:sp>
        <p:nvSpPr>
          <p:cNvPr id="51" name="Text 39"/>
          <p:cNvSpPr txBox="1"/>
          <p:nvPr/>
        </p:nvSpPr>
        <p:spPr>
          <a:xfrm>
            <a:off x="3863340" y="3328416"/>
            <a:ext cx="1920240" cy="237744"/>
          </a:xfrm>
          <a:prstGeom prst="rect">
            <a:avLst/>
          </a:prstGeom>
          <a:noFill/>
          <a:ln/>
        </p:spPr>
        <p:txBody>
          <a:bodyPr wrap="square" lIns="0" tIns="0" rIns="0" bIns="0" rtlCol="0" anchor="t"/>
          <a:lstStyle/>
          <a:p>
            <a:pPr indent="0" marL="0">
              <a:buNone/>
            </a:pPr>
            <a:r>
              <a:rPr lang="en-US" sz="1300" b="1" dirty="0">
                <a:solidFill>
                  <a:schemeClr val="tx1"/>
                </a:solidFill>
              </a:rPr>
              <a:t>GitOps</a:t>
            </a:r>
            <a:endParaRPr lang="en-US" sz="1300" dirty="0"/>
          </a:p>
        </p:txBody>
      </p:sp>
      <p:sp>
        <p:nvSpPr>
          <p:cNvPr id="52" name="Text 40"/>
          <p:cNvSpPr txBox="1"/>
          <p:nvPr/>
        </p:nvSpPr>
        <p:spPr>
          <a:xfrm>
            <a:off x="3863340" y="3566160"/>
            <a:ext cx="1920240" cy="256032"/>
          </a:xfrm>
          <a:prstGeom prst="rect">
            <a:avLst/>
          </a:prstGeom>
          <a:noFill/>
          <a:ln/>
        </p:spPr>
        <p:txBody>
          <a:bodyPr wrap="square" lIns="0" tIns="0" rIns="0" bIns="0" rtlCol="0" anchor="t"/>
          <a:lstStyle/>
          <a:p>
            <a:pPr indent="0" marL="0">
              <a:buNone/>
            </a:pPr>
            <a:r>
              <a:rPr lang="en-US" sz="1100" dirty="0">
                <a:solidFill>
                  <a:schemeClr val="accent5"/>
                </a:solidFill>
              </a:rPr>
              <a:t>ArgoCD</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indent="0" marL="0">
              <a:buNone/>
            </a:pPr>
            <a:r>
              <a:rPr lang="en-US" sz="3600" b="1" dirty="0">
                <a:solidFill>
                  <a:schemeClr val="tx1"/>
                </a:solidFill>
              </a:rPr>
              <a:t>The app and its tests</a:t>
            </a:r>
            <a:endParaRPr lang="en-US" sz="3600" dirty="0"/>
          </a:p>
        </p:txBody>
      </p:sp>
      <p:graphicFrame>
        <p:nvGraphicFramePr>
          <p:cNvPr id="7" name="endpoint table"/>
          <p:cNvGraphicFramePr>
            <a:graphicFrameLocks noGrp="1"/>
          </p:cNvGraphicFramePr>
          <p:nvPr>
            <p:extLst>
              <p:ext uri="{D42A27DB-BD31-4B8C-83A1-F6EECF244321}">
                <p14:modId xmlns:p14="http://schemas.microsoft.com/office/powerpoint/2010/main" val="1579011935"/>
              </p:ext>
            </p:extLst>
          </p:nvPr>
        </p:nvGraphicFramePr>
        <p:xfrm>
          <a:off x="457200" y="1097280"/>
          <a:ext cx="4937760" cy="914400"/>
        </p:xfrm>
        <a:graphic>
          <a:graphicData uri="http://schemas.openxmlformats.org/drawingml/2006/table">
            <a:tbl>
              <a:tblPr/>
              <a:tblGrid>
                <a:gridCol w="1554480"/>
                <a:gridCol w="3383280"/>
              </a:tblGrid>
              <a:tr h="329184">
                <a:tc>
                  <a:txBody>
                    <a:bodyPr/>
                    <a:lstStyle/>
                    <a:p>
                      <a:pPr indent="0" marL="0">
                        <a:buNone/>
                      </a:pPr>
                      <a:r>
                        <a:rPr lang="en-US" sz="1200" b="1" dirty="0">
                          <a:solidFill>
                            <a:srgbClr val="FFFFFF"/>
                          </a:solidFill>
                        </a:rPr>
                        <a:t>Method</a:t>
                      </a:r>
                      <a:endParaRPr lang="en-US" sz="1200" dirty="0"/>
                    </a:p>
                  </a:txBody>
                  <a:tcPr marL="73152" marR="73152" marT="27432" marB="27432">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766E"/>
                    </a:solidFill>
                  </a:tcPr>
                </a:tc>
                <a:tc>
                  <a:txBody>
                    <a:bodyPr/>
                    <a:lstStyle/>
                    <a:p>
                      <a:pPr indent="0" marL="0">
                        <a:buNone/>
                      </a:pPr>
                      <a:r>
                        <a:rPr lang="en-US" sz="1200" b="1" dirty="0">
                          <a:solidFill>
                            <a:srgbClr val="FFFFFF"/>
                          </a:solidFill>
                        </a:rPr>
                        <a:t>Path</a:t>
                      </a:r>
                      <a:endParaRPr lang="en-US" sz="1200" dirty="0"/>
                    </a:p>
                  </a:txBody>
                  <a:tcPr marL="73152" marR="73152" marT="27432" marB="27432">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766E"/>
                    </a:solidFill>
                  </a:tcPr>
                </a:tc>
              </a:tr>
              <a:tr h="329184">
                <a:tc>
                  <a:txBody>
                    <a:bodyPr/>
                    <a:lstStyle/>
                    <a:p>
                      <a:pPr indent="0" marL="0">
                        <a:buNone/>
                      </a:pPr>
                      <a:r>
                        <a:rPr lang="en-US" sz="1200" dirty="0">
                          <a:solidFill>
                            <a:srgbClr val="0F172A"/>
                          </a:solidFill>
                        </a:rPr>
                        <a:t>GET</a:t>
                      </a:r>
                      <a:endParaRPr lang="en-US" sz="1200" dirty="0"/>
                    </a:p>
                  </a:txBody>
                  <a:tcPr marL="73152" marR="73152" marT="27432" marB="27432">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rPr>
                        <a:t>/api/expenses?month=&amp;category=</a:t>
                      </a:r>
                      <a:endParaRPr lang="en-US" sz="1200" dirty="0"/>
                    </a:p>
                  </a:txBody>
                  <a:tcPr marL="73152" marR="73152" marT="27432" marB="27432">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0F172A"/>
                          </a:solidFill>
                        </a:rPr>
                        <a:t>POST</a:t>
                      </a:r>
                      <a:endParaRPr lang="en-US" sz="1200" dirty="0"/>
                    </a:p>
                  </a:txBody>
                  <a:tcPr marL="73152" marR="73152" marT="27432" marB="27432">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rPr>
                        <a:t>/api/expenses</a:t>
                      </a:r>
                      <a:endParaRPr lang="en-US" sz="1200" dirty="0"/>
                    </a:p>
                  </a:txBody>
                  <a:tcPr marL="73152" marR="73152" marT="27432" marB="27432">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0F172A"/>
                          </a:solidFill>
                        </a:rPr>
                        <a:t>GET / PUT / DELETE</a:t>
                      </a:r>
                      <a:endParaRPr lang="en-US" sz="1200" dirty="0"/>
                    </a:p>
                  </a:txBody>
                  <a:tcPr marL="73152" marR="73152" marT="27432" marB="27432">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rPr>
                        <a:t>/api/expenses/{id}</a:t>
                      </a:r>
                      <a:endParaRPr lang="en-US" sz="1200" dirty="0"/>
                    </a:p>
                  </a:txBody>
                  <a:tcPr marL="73152" marR="73152" marT="27432" marB="27432">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0F172A"/>
                          </a:solidFill>
                        </a:rPr>
                        <a:t>GET</a:t>
                      </a:r>
                      <a:endParaRPr lang="en-US" sz="1200" dirty="0"/>
                    </a:p>
                  </a:txBody>
                  <a:tcPr marL="73152" marR="73152" marT="27432" marB="27432">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rPr>
                        <a:t>/api/expenses/summary?month=</a:t>
                      </a:r>
                      <a:endParaRPr lang="en-US" sz="1200" dirty="0"/>
                    </a:p>
                  </a:txBody>
                  <a:tcPr marL="73152" marR="73152" marT="27432" marB="27432">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0F172A"/>
                          </a:solidFill>
                        </a:rPr>
                        <a:t>GET</a:t>
                      </a:r>
                      <a:endParaRPr lang="en-US" sz="1200" dirty="0"/>
                    </a:p>
                  </a:txBody>
                  <a:tcPr marL="73152" marR="73152" marT="27432" marB="27432">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rPr>
                        <a:t>/health  (liveness)</a:t>
                      </a:r>
                      <a:endParaRPr lang="en-US" sz="1200" dirty="0"/>
                    </a:p>
                  </a:txBody>
                  <a:tcPr marL="73152" marR="73152" marT="27432" marB="27432">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0F172A"/>
                          </a:solidFill>
                        </a:rPr>
                        <a:t>GET</a:t>
                      </a:r>
                      <a:endParaRPr lang="en-US" sz="1200" dirty="0"/>
                    </a:p>
                  </a:txBody>
                  <a:tcPr marL="73152" marR="73152" marT="27432" marB="27432">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rPr>
                        <a:t>/ready  (readiness, checks DB)</a:t>
                      </a:r>
                      <a:endParaRPr lang="en-US" sz="1200" dirty="0"/>
                    </a:p>
                  </a:txBody>
                  <a:tcPr marL="73152" marR="73152" marT="27432" marB="27432">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0F172A"/>
                          </a:solidFill>
                        </a:rPr>
                        <a:t>GET</a:t>
                      </a:r>
                      <a:endParaRPr lang="en-US" sz="1200" dirty="0"/>
                    </a:p>
                  </a:txBody>
                  <a:tcPr marL="73152" marR="73152" marT="27432" marB="27432">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rPr>
                        <a:t>/metrics  (Prometheus)</a:t>
                      </a:r>
                      <a:endParaRPr lang="en-US" sz="1200" dirty="0"/>
                    </a:p>
                  </a:txBody>
                  <a:tcPr marL="73152" marR="73152" marT="27432" marB="27432">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bl>
          </a:graphicData>
        </a:graphic>
      </p:graphicFrame>
      <p:sp>
        <p:nvSpPr>
          <p:cNvPr id="4" name="stat tests passing"/>
          <p:cNvSpPr/>
          <p:nvPr/>
        </p:nvSpPr>
        <p:spPr>
          <a:xfrm>
            <a:off x="5760720" y="1097280"/>
            <a:ext cx="2926080" cy="896112"/>
          </a:xfrm>
          <a:prstGeom prst="roundRect">
            <a:avLst>
              <a:gd name="adj" fmla="val 8163"/>
            </a:avLst>
          </a:prstGeom>
          <a:solidFill>
            <a:srgbClr val="E6F4F1"/>
          </a:solidFill>
          <a:ln w="12700">
            <a:solidFill>
              <a:srgbClr val="E6F4F1"/>
            </a:solidFill>
            <a:prstDash val="solid"/>
          </a:ln>
        </p:spPr>
      </p:sp>
      <p:sp>
        <p:nvSpPr>
          <p:cNvPr id="5" name="Text 2"/>
          <p:cNvSpPr txBox="1"/>
          <p:nvPr/>
        </p:nvSpPr>
        <p:spPr>
          <a:xfrm>
            <a:off x="5897880" y="1170432"/>
            <a:ext cx="1417320" cy="731520"/>
          </a:xfrm>
          <a:prstGeom prst="rect">
            <a:avLst/>
          </a:prstGeom>
          <a:noFill/>
          <a:ln/>
        </p:spPr>
        <p:txBody>
          <a:bodyPr wrap="square" lIns="0" tIns="0" rIns="0" bIns="0" rtlCol="0" anchor="ctr"/>
          <a:lstStyle/>
          <a:p>
            <a:pPr indent="0" marL="0">
              <a:buNone/>
            </a:pPr>
            <a:r>
              <a:rPr lang="en-US" sz="4000" b="1" dirty="0">
                <a:solidFill>
                  <a:schemeClr val="accent1"/>
                </a:solidFill>
              </a:rPr>
              <a:t>33</a:t>
            </a:r>
            <a:endParaRPr lang="en-US" sz="4000" dirty="0"/>
          </a:p>
        </p:txBody>
      </p:sp>
      <p:sp>
        <p:nvSpPr>
          <p:cNvPr id="6" name="Text 3"/>
          <p:cNvSpPr txBox="1"/>
          <p:nvPr/>
        </p:nvSpPr>
        <p:spPr>
          <a:xfrm>
            <a:off x="7269480" y="1170432"/>
            <a:ext cx="1371600" cy="731520"/>
          </a:xfrm>
          <a:prstGeom prst="rect">
            <a:avLst/>
          </a:prstGeom>
          <a:noFill/>
          <a:ln/>
        </p:spPr>
        <p:txBody>
          <a:bodyPr wrap="square" lIns="0" tIns="0" rIns="0" bIns="0" rtlCol="0" anchor="ctr"/>
          <a:lstStyle/>
          <a:p>
            <a:pPr indent="0" marL="0">
              <a:buNone/>
            </a:pPr>
            <a:r>
              <a:rPr lang="en-US" sz="1400" dirty="0">
                <a:solidFill>
                  <a:schemeClr val="tx1"/>
                </a:solidFill>
              </a:rPr>
              <a:t>tests passing</a:t>
            </a:r>
            <a:endParaRPr lang="en-US" sz="1400" dirty="0"/>
          </a:p>
        </p:txBody>
      </p:sp>
      <p:sp>
        <p:nvSpPr>
          <p:cNvPr id="7" name="stat line coverage"/>
          <p:cNvSpPr/>
          <p:nvPr/>
        </p:nvSpPr>
        <p:spPr>
          <a:xfrm>
            <a:off x="5760720" y="2121408"/>
            <a:ext cx="2926080" cy="896112"/>
          </a:xfrm>
          <a:prstGeom prst="roundRect">
            <a:avLst>
              <a:gd name="adj" fmla="val 8163"/>
            </a:avLst>
          </a:prstGeom>
          <a:solidFill>
            <a:srgbClr val="E6F4F1"/>
          </a:solidFill>
          <a:ln w="12700">
            <a:solidFill>
              <a:srgbClr val="E6F4F1"/>
            </a:solidFill>
            <a:prstDash val="solid"/>
          </a:ln>
        </p:spPr>
      </p:sp>
      <p:sp>
        <p:nvSpPr>
          <p:cNvPr id="8" name="Text 5"/>
          <p:cNvSpPr txBox="1"/>
          <p:nvPr/>
        </p:nvSpPr>
        <p:spPr>
          <a:xfrm>
            <a:off x="5897880" y="2194560"/>
            <a:ext cx="1417320" cy="731520"/>
          </a:xfrm>
          <a:prstGeom prst="rect">
            <a:avLst/>
          </a:prstGeom>
          <a:noFill/>
          <a:ln/>
        </p:spPr>
        <p:txBody>
          <a:bodyPr wrap="square" lIns="0" tIns="0" rIns="0" bIns="0" rtlCol="0" anchor="ctr"/>
          <a:lstStyle/>
          <a:p>
            <a:pPr indent="0" marL="0">
              <a:buNone/>
            </a:pPr>
            <a:r>
              <a:rPr lang="en-US" sz="4000" b="1" dirty="0">
                <a:solidFill>
                  <a:schemeClr val="accent1"/>
                </a:solidFill>
              </a:rPr>
              <a:t>100%</a:t>
            </a:r>
            <a:endParaRPr lang="en-US" sz="4000" dirty="0"/>
          </a:p>
        </p:txBody>
      </p:sp>
      <p:sp>
        <p:nvSpPr>
          <p:cNvPr id="9" name="Text 6"/>
          <p:cNvSpPr txBox="1"/>
          <p:nvPr/>
        </p:nvSpPr>
        <p:spPr>
          <a:xfrm>
            <a:off x="7269480" y="2194560"/>
            <a:ext cx="1371600" cy="731520"/>
          </a:xfrm>
          <a:prstGeom prst="rect">
            <a:avLst/>
          </a:prstGeom>
          <a:noFill/>
          <a:ln/>
        </p:spPr>
        <p:txBody>
          <a:bodyPr wrap="square" lIns="0" tIns="0" rIns="0" bIns="0" rtlCol="0" anchor="ctr"/>
          <a:lstStyle/>
          <a:p>
            <a:pPr indent="0" marL="0">
              <a:buNone/>
            </a:pPr>
            <a:r>
              <a:rPr lang="en-US" sz="1400" dirty="0">
                <a:solidFill>
                  <a:schemeClr val="tx1"/>
                </a:solidFill>
              </a:rPr>
              <a:t>line coverage</a:t>
            </a:r>
            <a:endParaRPr lang="en-US" sz="1400" dirty="0"/>
          </a:p>
        </p:txBody>
      </p:sp>
      <p:sp>
        <p:nvSpPr>
          <p:cNvPr id="10" name="stat pipeline coverage floor"/>
          <p:cNvSpPr/>
          <p:nvPr/>
        </p:nvSpPr>
        <p:spPr>
          <a:xfrm>
            <a:off x="5760720" y="3145536"/>
            <a:ext cx="2926080" cy="896112"/>
          </a:xfrm>
          <a:prstGeom prst="roundRect">
            <a:avLst>
              <a:gd name="adj" fmla="val 8163"/>
            </a:avLst>
          </a:prstGeom>
          <a:solidFill>
            <a:srgbClr val="E6F4F1"/>
          </a:solidFill>
          <a:ln w="12700">
            <a:solidFill>
              <a:srgbClr val="E6F4F1"/>
            </a:solidFill>
            <a:prstDash val="solid"/>
          </a:ln>
        </p:spPr>
      </p:sp>
      <p:sp>
        <p:nvSpPr>
          <p:cNvPr id="11" name="Text 8"/>
          <p:cNvSpPr txBox="1"/>
          <p:nvPr/>
        </p:nvSpPr>
        <p:spPr>
          <a:xfrm>
            <a:off x="5897880" y="3218688"/>
            <a:ext cx="1417320" cy="731520"/>
          </a:xfrm>
          <a:prstGeom prst="rect">
            <a:avLst/>
          </a:prstGeom>
          <a:noFill/>
          <a:ln/>
        </p:spPr>
        <p:txBody>
          <a:bodyPr wrap="square" lIns="0" tIns="0" rIns="0" bIns="0" rtlCol="0" anchor="ctr"/>
          <a:lstStyle/>
          <a:p>
            <a:pPr indent="0" marL="0">
              <a:buNone/>
            </a:pPr>
            <a:r>
              <a:rPr lang="en-US" sz="4000" b="1" dirty="0">
                <a:solidFill>
                  <a:schemeClr val="accent1"/>
                </a:solidFill>
              </a:rPr>
              <a:t>90%</a:t>
            </a:r>
            <a:endParaRPr lang="en-US" sz="4000" dirty="0"/>
          </a:p>
        </p:txBody>
      </p:sp>
      <p:sp>
        <p:nvSpPr>
          <p:cNvPr id="12" name="Text 9"/>
          <p:cNvSpPr txBox="1"/>
          <p:nvPr/>
        </p:nvSpPr>
        <p:spPr>
          <a:xfrm>
            <a:off x="7269480" y="3218688"/>
            <a:ext cx="1371600" cy="731520"/>
          </a:xfrm>
          <a:prstGeom prst="rect">
            <a:avLst/>
          </a:prstGeom>
          <a:noFill/>
          <a:ln/>
        </p:spPr>
        <p:txBody>
          <a:bodyPr wrap="square" lIns="0" tIns="0" rIns="0" bIns="0" rtlCol="0" anchor="ctr"/>
          <a:lstStyle/>
          <a:p>
            <a:pPr indent="0" marL="0">
              <a:buNone/>
            </a:pPr>
            <a:r>
              <a:rPr lang="en-US" sz="1400" dirty="0">
                <a:solidFill>
                  <a:schemeClr val="tx1"/>
                </a:solidFill>
              </a:rPr>
              <a:t>pipeline coverage floor</a:t>
            </a:r>
            <a:endParaRPr lang="en-US" sz="1400" dirty="0"/>
          </a:p>
        </p:txBody>
      </p:sp>
      <p:sp>
        <p:nvSpPr>
          <p:cNvPr id="13" name="Text 10"/>
          <p:cNvSpPr txBox="1"/>
          <p:nvPr/>
        </p:nvSpPr>
        <p:spPr>
          <a:xfrm>
            <a:off x="457200" y="3931920"/>
            <a:ext cx="4937760" cy="502920"/>
          </a:xfrm>
          <a:prstGeom prst="rect">
            <a:avLst/>
          </a:prstGeom>
          <a:noFill/>
          <a:ln/>
        </p:spPr>
        <p:txBody>
          <a:bodyPr wrap="square" lIns="0" tIns="0" rIns="0" bIns="0" rtlCol="0" anchor="t"/>
          <a:lstStyle/>
          <a:p>
            <a:pPr indent="0" marL="0">
              <a:buNone/>
            </a:pPr>
            <a:r>
              <a:rPr lang="en-US" sz="1300" i="1" dirty="0">
                <a:solidFill>
                  <a:schemeClr val="accent5"/>
                </a:solidFill>
              </a:rPr>
              <a:t>Money is Decimal, never float. The database also refuses an amount of 0 or less.</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indent="0" marL="0">
              <a:buNone/>
            </a:pPr>
            <a:r>
              <a:rPr lang="en-US" sz="3600" b="1" dirty="0">
                <a:solidFill>
                  <a:schemeClr val="tx1"/>
                </a:solidFill>
              </a:rPr>
              <a:t>Docker: small, patched, never root</a:t>
            </a:r>
            <a:endParaRPr lang="en-US" sz="3600" dirty="0"/>
          </a:p>
        </p:txBody>
      </p:sp>
      <p:sp>
        <p:nvSpPr>
          <p:cNvPr id="3" name="docker Backend"/>
          <p:cNvSpPr/>
          <p:nvPr/>
        </p:nvSpPr>
        <p:spPr>
          <a:xfrm>
            <a:off x="457200" y="1097280"/>
            <a:ext cx="3977640" cy="2331720"/>
          </a:xfrm>
          <a:prstGeom prst="roundRect">
            <a:avLst>
              <a:gd name="adj" fmla="val 3137"/>
            </a:avLst>
          </a:prstGeom>
          <a:solidFill>
            <a:schemeClr val="bg2"/>
          </a:solidFill>
          <a:ln w="12700">
            <a:solidFill>
              <a:schemeClr val="bg2"/>
            </a:solidFill>
            <a:prstDash val="solid"/>
          </a:ln>
        </p:spPr>
      </p:sp>
      <p:sp>
        <p:nvSpPr>
          <p:cNvPr id="4" name="Backend circle"/>
          <p:cNvSpPr/>
          <p:nvPr/>
        </p:nvSpPr>
        <p:spPr>
          <a:xfrm>
            <a:off x="640080" y="1261872"/>
            <a:ext cx="548640" cy="548640"/>
          </a:xfrm>
          <a:prstGeom prst="ellipse">
            <a:avLst/>
          </a:prstGeom>
          <a:solidFill>
            <a:schemeClr val="accent1"/>
          </a:solidFill>
          <a:ln w="12700">
            <a:solidFill>
              <a:schemeClr val="accent1"/>
            </a:solidFill>
            <a:prstDash val="solid"/>
          </a:ln>
        </p:spPr>
      </p:sp>
      <p:pic>
        <p:nvPicPr>
          <p:cNvPr id="5" name="Backend icon" descr="Backend">    </p:cNvPr>
          <p:cNvPicPr>
            <a:picLocks noChangeAspect="1"/>
          </p:cNvPicPr>
          <p:nvPr/>
        </p:nvPicPr>
        <p:blipFill>
          <a:blip r:embed="rId1"/>
          <a:stretch>
            <a:fillRect/>
          </a:stretch>
        </p:blipFill>
        <p:spPr>
          <a:xfrm>
            <a:off x="771754" y="1393546"/>
            <a:ext cx="285293" cy="285293"/>
          </a:xfrm>
          <a:prstGeom prst="rect">
            <a:avLst/>
          </a:prstGeom>
        </p:spPr>
      </p:pic>
      <p:sp>
        <p:nvSpPr>
          <p:cNvPr id="6" name="Text 3"/>
          <p:cNvSpPr txBox="1"/>
          <p:nvPr/>
        </p:nvSpPr>
        <p:spPr>
          <a:xfrm>
            <a:off x="1325880" y="1298448"/>
            <a:ext cx="2926080" cy="457200"/>
          </a:xfrm>
          <a:prstGeom prst="rect">
            <a:avLst/>
          </a:prstGeom>
          <a:noFill/>
          <a:ln/>
        </p:spPr>
        <p:txBody>
          <a:bodyPr wrap="square" lIns="0" tIns="0" rIns="0" bIns="0" rtlCol="0" anchor="ctr"/>
          <a:lstStyle/>
          <a:p>
            <a:pPr indent="0" marL="0">
              <a:buNone/>
            </a:pPr>
            <a:r>
              <a:rPr lang="en-US" sz="2000" b="1" dirty="0">
                <a:solidFill>
                  <a:schemeClr val="tx1"/>
                </a:solidFill>
              </a:rPr>
              <a:t>Backend</a:t>
            </a:r>
            <a:endParaRPr lang="en-US" sz="2000" dirty="0"/>
          </a:p>
        </p:txBody>
      </p:sp>
      <p:sp>
        <p:nvSpPr>
          <p:cNvPr id="7" name="Text 4"/>
          <p:cNvSpPr txBox="1"/>
          <p:nvPr/>
        </p:nvSpPr>
        <p:spPr>
          <a:xfrm>
            <a:off x="685800" y="1920240"/>
            <a:ext cx="3611880" cy="14173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2 stages: build wheels, then a slim runtime</a:t>
            </a:r>
            <a:endParaRPr lang="en-US" sz="1400" dirty="0"/>
          </a:p>
          <a:p>
            <a:pPr marL="342900" indent="-342900">
              <a:spcAft>
                <a:spcPts val="600"/>
              </a:spcAft>
              <a:buSzPct val="100000"/>
              <a:buChar char="•"/>
            </a:pPr>
            <a:r>
              <a:rPr lang="en-US" sz="1400" dirty="0">
                <a:solidFill>
                  <a:schemeClr val="tx1"/>
                </a:solidFill>
              </a:rPr>
              <a:t>Runs as uid 10001</a:t>
            </a:r>
            <a:endParaRPr lang="en-US" sz="1400" dirty="0"/>
          </a:p>
          <a:p>
            <a:pPr marL="342900" indent="-342900">
              <a:spcAft>
                <a:spcPts val="600"/>
              </a:spcAft>
              <a:buSzPct val="100000"/>
              <a:buChar char="•"/>
            </a:pPr>
            <a:r>
              <a:rPr lang="en-US" sz="1400" dirty="0">
                <a:solidFill>
                  <a:schemeClr val="tx1"/>
                </a:solidFill>
              </a:rPr>
              <a:t>347 MB, pip removed from the image</a:t>
            </a:r>
            <a:endParaRPr lang="en-US" sz="1400" dirty="0"/>
          </a:p>
          <a:p>
            <a:pPr marL="342900" indent="-342900">
              <a:spcAft>
                <a:spcPts val="600"/>
              </a:spcAft>
              <a:buSzPct val="100000"/>
              <a:buChar char="•"/>
            </a:pPr>
            <a:r>
              <a:rPr lang="en-US" sz="1400" dirty="0">
                <a:solidFill>
                  <a:schemeClr val="tx1"/>
                </a:solidFill>
              </a:rPr>
              <a:t>0 fixable HIGH/CRITICAL CVEs</a:t>
            </a:r>
            <a:endParaRPr lang="en-US" sz="1400" dirty="0"/>
          </a:p>
        </p:txBody>
      </p:sp>
      <p:sp>
        <p:nvSpPr>
          <p:cNvPr id="8" name="docker Frontend"/>
          <p:cNvSpPr/>
          <p:nvPr/>
        </p:nvSpPr>
        <p:spPr>
          <a:xfrm>
            <a:off x="4709160" y="1097280"/>
            <a:ext cx="3977640" cy="2331720"/>
          </a:xfrm>
          <a:prstGeom prst="roundRect">
            <a:avLst>
              <a:gd name="adj" fmla="val 3137"/>
            </a:avLst>
          </a:prstGeom>
          <a:solidFill>
            <a:schemeClr val="bg2"/>
          </a:solidFill>
          <a:ln w="12700">
            <a:solidFill>
              <a:schemeClr val="bg2"/>
            </a:solidFill>
            <a:prstDash val="solid"/>
          </a:ln>
        </p:spPr>
      </p:sp>
      <p:sp>
        <p:nvSpPr>
          <p:cNvPr id="9" name="Frontend circle"/>
          <p:cNvSpPr/>
          <p:nvPr/>
        </p:nvSpPr>
        <p:spPr>
          <a:xfrm>
            <a:off x="4892040" y="1261872"/>
            <a:ext cx="548640" cy="548640"/>
          </a:xfrm>
          <a:prstGeom prst="ellipse">
            <a:avLst/>
          </a:prstGeom>
          <a:solidFill>
            <a:schemeClr val="accent1"/>
          </a:solidFill>
          <a:ln w="12700">
            <a:solidFill>
              <a:schemeClr val="accent1"/>
            </a:solidFill>
            <a:prstDash val="solid"/>
          </a:ln>
        </p:spPr>
      </p:sp>
      <p:pic>
        <p:nvPicPr>
          <p:cNvPr id="10" name="Frontend icon" descr="Frontend">    </p:cNvPr>
          <p:cNvPicPr>
            <a:picLocks noChangeAspect="1"/>
          </p:cNvPicPr>
          <p:nvPr/>
        </p:nvPicPr>
        <p:blipFill>
          <a:blip r:embed="rId2"/>
          <a:stretch>
            <a:fillRect/>
          </a:stretch>
        </p:blipFill>
        <p:spPr>
          <a:xfrm>
            <a:off x="5023714" y="1393546"/>
            <a:ext cx="285293" cy="285293"/>
          </a:xfrm>
          <a:prstGeom prst="rect">
            <a:avLst/>
          </a:prstGeom>
        </p:spPr>
      </p:pic>
      <p:sp>
        <p:nvSpPr>
          <p:cNvPr id="11" name="Text 7"/>
          <p:cNvSpPr txBox="1"/>
          <p:nvPr/>
        </p:nvSpPr>
        <p:spPr>
          <a:xfrm>
            <a:off x="5577840" y="1298448"/>
            <a:ext cx="2926080" cy="457200"/>
          </a:xfrm>
          <a:prstGeom prst="rect">
            <a:avLst/>
          </a:prstGeom>
          <a:noFill/>
          <a:ln/>
        </p:spPr>
        <p:txBody>
          <a:bodyPr wrap="square" lIns="0" tIns="0" rIns="0" bIns="0" rtlCol="0" anchor="ctr"/>
          <a:lstStyle/>
          <a:p>
            <a:pPr indent="0" marL="0">
              <a:buNone/>
            </a:pPr>
            <a:r>
              <a:rPr lang="en-US" sz="2000" b="1" dirty="0">
                <a:solidFill>
                  <a:schemeClr val="tx1"/>
                </a:solidFill>
              </a:rPr>
              <a:t>Frontend</a:t>
            </a:r>
            <a:endParaRPr lang="en-US" sz="2000" dirty="0"/>
          </a:p>
        </p:txBody>
      </p:sp>
      <p:sp>
        <p:nvSpPr>
          <p:cNvPr id="12" name="Text 8"/>
          <p:cNvSpPr txBox="1"/>
          <p:nvPr/>
        </p:nvSpPr>
        <p:spPr>
          <a:xfrm>
            <a:off x="4937760" y="1920240"/>
            <a:ext cx="3611880" cy="14173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2 stages: Node builds, nginx serves</a:t>
            </a:r>
            <a:endParaRPr lang="en-US" sz="1400" dirty="0"/>
          </a:p>
          <a:p>
            <a:pPr marL="342900" indent="-342900">
              <a:spcAft>
                <a:spcPts val="600"/>
              </a:spcAft>
              <a:buSzPct val="100000"/>
              <a:buChar char="•"/>
            </a:pPr>
            <a:r>
              <a:rPr lang="en-US" sz="1400" dirty="0">
                <a:solidFill>
                  <a:schemeClr val="tx1"/>
                </a:solidFill>
              </a:rPr>
              <a:t>Runs as uid 101 on port 8080</a:t>
            </a:r>
            <a:endParaRPr lang="en-US" sz="1400" dirty="0"/>
          </a:p>
          <a:p>
            <a:pPr marL="342900" indent="-342900">
              <a:spcAft>
                <a:spcPts val="600"/>
              </a:spcAft>
              <a:buSzPct val="100000"/>
              <a:buChar char="•"/>
            </a:pPr>
            <a:r>
              <a:rPr lang="en-US" sz="1400" dirty="0">
                <a:solidFill>
                  <a:schemeClr val="tx1"/>
                </a:solidFill>
              </a:rPr>
              <a:t>112 MB, no Node inside at all</a:t>
            </a:r>
            <a:endParaRPr lang="en-US" sz="1400" dirty="0"/>
          </a:p>
          <a:p>
            <a:pPr marL="342900" indent="-342900">
              <a:spcAft>
                <a:spcPts val="600"/>
              </a:spcAft>
              <a:buSzPct val="100000"/>
              <a:buChar char="•"/>
            </a:pPr>
            <a:r>
              <a:rPr lang="en-US" sz="1400" dirty="0">
                <a:solidFill>
                  <a:schemeClr val="tx1"/>
                </a:solidFill>
              </a:rPr>
              <a:t>0 vulnerabilities of any severity</a:t>
            </a:r>
            <a:endParaRPr lang="en-US" sz="1400" dirty="0"/>
          </a:p>
        </p:txBody>
      </p:sp>
      <p:sp>
        <p:nvSpPr>
          <p:cNvPr id="13" name="Text 9"/>
          <p:cNvSpPr txBox="1"/>
          <p:nvPr/>
        </p:nvSpPr>
        <p:spPr>
          <a:xfrm>
            <a:off x="457200" y="3703320"/>
            <a:ext cx="8229600" cy="365760"/>
          </a:xfrm>
          <a:prstGeom prst="rect">
            <a:avLst/>
          </a:prstGeom>
          <a:noFill/>
          <a:ln/>
        </p:spPr>
        <p:txBody>
          <a:bodyPr wrap="square" lIns="0" tIns="0" rIns="0" bIns="0" rtlCol="0" anchor="t"/>
          <a:lstStyle/>
          <a:p>
            <a:pPr indent="0" marL="0">
              <a:buNone/>
            </a:pPr>
            <a:r>
              <a:rPr lang="en-US" sz="1300" dirty="0">
                <a:solidFill>
                  <a:schemeClr val="accent5"/>
                </a:solidFill>
                <a:latin typeface="Consolas" pitchFamily="34" charset="0"/>
                <a:ea typeface="Consolas" pitchFamily="34" charset="-122"/>
                <a:cs typeface="Consolas" pitchFamily="34" charset="-120"/>
              </a:rPr>
              <a:t>docker compose up --build  -&gt;  the whole stack at localhost:3000</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indent="0" marL="0">
              <a:buNone/>
            </a:pPr>
            <a:r>
              <a:rPr lang="en-US" sz="3600" b="1" dirty="0">
                <a:solidFill>
                  <a:schemeClr val="tx1"/>
                </a:solidFill>
              </a:rPr>
              <a:t>The CI/CD pipeline</a:t>
            </a:r>
            <a:endParaRPr lang="en-US" sz="3600" dirty="0"/>
          </a:p>
        </p:txBody>
      </p:sp>
      <p:sp>
        <p:nvSpPr>
          <p:cNvPr id="3" name="Test circle"/>
          <p:cNvSpPr/>
          <p:nvPr/>
        </p:nvSpPr>
        <p:spPr>
          <a:xfrm>
            <a:off x="457200" y="1051560"/>
            <a:ext cx="384048" cy="384048"/>
          </a:xfrm>
          <a:prstGeom prst="ellipse">
            <a:avLst/>
          </a:prstGeom>
          <a:solidFill>
            <a:schemeClr val="accent1"/>
          </a:solidFill>
          <a:ln w="12700">
            <a:solidFill>
              <a:schemeClr val="accent1"/>
            </a:solidFill>
            <a:prstDash val="solid"/>
          </a:ln>
        </p:spPr>
      </p:sp>
      <p:pic>
        <p:nvPicPr>
          <p:cNvPr id="4" name="Test icon" descr="Test">    </p:cNvPr>
          <p:cNvPicPr>
            <a:picLocks noChangeAspect="1"/>
          </p:cNvPicPr>
          <p:nvPr/>
        </p:nvPicPr>
        <p:blipFill>
          <a:blip r:embed="rId1"/>
          <a:stretch>
            <a:fillRect/>
          </a:stretch>
        </p:blipFill>
        <p:spPr>
          <a:xfrm>
            <a:off x="549372" y="1143732"/>
            <a:ext cx="199705" cy="199705"/>
          </a:xfrm>
          <a:prstGeom prst="rect">
            <a:avLst/>
          </a:prstGeom>
        </p:spPr>
      </p:pic>
      <p:sp>
        <p:nvSpPr>
          <p:cNvPr id="5" name="Text 2"/>
          <p:cNvSpPr txBox="1"/>
          <p:nvPr/>
        </p:nvSpPr>
        <p:spPr>
          <a:xfrm>
            <a:off x="960120" y="1033272"/>
            <a:ext cx="1463040" cy="420624"/>
          </a:xfrm>
          <a:prstGeom prst="rect">
            <a:avLst/>
          </a:prstGeom>
          <a:noFill/>
          <a:ln/>
        </p:spPr>
        <p:txBody>
          <a:bodyPr wrap="square" lIns="0" tIns="0" rIns="0" bIns="0" rtlCol="0" anchor="ctr"/>
          <a:lstStyle/>
          <a:p>
            <a:pPr indent="0" marL="0">
              <a:buNone/>
            </a:pPr>
            <a:r>
              <a:rPr lang="en-US" sz="1400" b="1" dirty="0">
                <a:solidFill>
                  <a:schemeClr val="tx1"/>
                </a:solidFill>
              </a:rPr>
              <a:t>Test</a:t>
            </a:r>
            <a:endParaRPr lang="en-US" sz="1400" dirty="0"/>
          </a:p>
        </p:txBody>
      </p:sp>
      <p:sp>
        <p:nvSpPr>
          <p:cNvPr id="6" name="Text 3"/>
          <p:cNvSpPr txBox="1"/>
          <p:nvPr/>
        </p:nvSpPr>
        <p:spPr>
          <a:xfrm>
            <a:off x="2468880" y="1033272"/>
            <a:ext cx="2468880" cy="420624"/>
          </a:xfrm>
          <a:prstGeom prst="rect">
            <a:avLst/>
          </a:prstGeom>
          <a:noFill/>
          <a:ln/>
        </p:spPr>
        <p:txBody>
          <a:bodyPr wrap="square" lIns="0" tIns="0" rIns="0" bIns="0" rtlCol="0" anchor="ctr"/>
          <a:lstStyle/>
          <a:p>
            <a:pPr indent="0" marL="0">
              <a:buNone/>
            </a:pPr>
            <a:r>
              <a:rPr lang="en-US" sz="1100" dirty="0">
                <a:solidFill>
                  <a:schemeClr val="accent5"/>
                </a:solidFill>
              </a:rPr>
              <a:t>pytest, migrations on real Postgres, frontend build</a:t>
            </a:r>
            <a:endParaRPr lang="en-US" sz="1100" dirty="0"/>
          </a:p>
        </p:txBody>
      </p:sp>
      <p:sp>
        <p:nvSpPr>
          <p:cNvPr id="7" name="Scan circle"/>
          <p:cNvSpPr/>
          <p:nvPr/>
        </p:nvSpPr>
        <p:spPr>
          <a:xfrm>
            <a:off x="457200" y="1536192"/>
            <a:ext cx="384048" cy="384048"/>
          </a:xfrm>
          <a:prstGeom prst="ellipse">
            <a:avLst/>
          </a:prstGeom>
          <a:solidFill>
            <a:schemeClr val="accent1"/>
          </a:solidFill>
          <a:ln w="12700">
            <a:solidFill>
              <a:schemeClr val="accent1"/>
            </a:solidFill>
            <a:prstDash val="solid"/>
          </a:ln>
        </p:spPr>
      </p:sp>
      <p:pic>
        <p:nvPicPr>
          <p:cNvPr id="8" name="Scan icon" descr="Scan">    </p:cNvPr>
          <p:cNvPicPr>
            <a:picLocks noChangeAspect="1"/>
          </p:cNvPicPr>
          <p:nvPr/>
        </p:nvPicPr>
        <p:blipFill>
          <a:blip r:embed="rId2"/>
          <a:stretch>
            <a:fillRect/>
          </a:stretch>
        </p:blipFill>
        <p:spPr>
          <a:xfrm>
            <a:off x="549372" y="1628364"/>
            <a:ext cx="199705" cy="199705"/>
          </a:xfrm>
          <a:prstGeom prst="rect">
            <a:avLst/>
          </a:prstGeom>
        </p:spPr>
      </p:pic>
      <p:sp>
        <p:nvSpPr>
          <p:cNvPr id="9" name="Text 5"/>
          <p:cNvSpPr txBox="1"/>
          <p:nvPr/>
        </p:nvSpPr>
        <p:spPr>
          <a:xfrm>
            <a:off x="960120" y="1517904"/>
            <a:ext cx="1463040" cy="420624"/>
          </a:xfrm>
          <a:prstGeom prst="rect">
            <a:avLst/>
          </a:prstGeom>
          <a:noFill/>
          <a:ln/>
        </p:spPr>
        <p:txBody>
          <a:bodyPr wrap="square" lIns="0" tIns="0" rIns="0" bIns="0" rtlCol="0" anchor="ctr"/>
          <a:lstStyle/>
          <a:p>
            <a:pPr indent="0" marL="0">
              <a:buNone/>
            </a:pPr>
            <a:r>
              <a:rPr lang="en-US" sz="1400" b="1" dirty="0">
                <a:solidFill>
                  <a:schemeClr val="tx1"/>
                </a:solidFill>
              </a:rPr>
              <a:t>Scan</a:t>
            </a:r>
            <a:endParaRPr lang="en-US" sz="1400" dirty="0"/>
          </a:p>
        </p:txBody>
      </p:sp>
      <p:sp>
        <p:nvSpPr>
          <p:cNvPr id="10" name="Text 6"/>
          <p:cNvSpPr txBox="1"/>
          <p:nvPr/>
        </p:nvSpPr>
        <p:spPr>
          <a:xfrm>
            <a:off x="2468880" y="1517904"/>
            <a:ext cx="2468880" cy="420624"/>
          </a:xfrm>
          <a:prstGeom prst="rect">
            <a:avLst/>
          </a:prstGeom>
          <a:noFill/>
          <a:ln/>
        </p:spPr>
        <p:txBody>
          <a:bodyPr wrap="square" lIns="0" tIns="0" rIns="0" bIns="0" rtlCol="0" anchor="ctr"/>
          <a:lstStyle/>
          <a:p>
            <a:pPr indent="0" marL="0">
              <a:buNone/>
            </a:pPr>
            <a:r>
              <a:rPr lang="en-US" sz="1100" dirty="0">
                <a:solidFill>
                  <a:schemeClr val="accent5"/>
                </a:solidFill>
              </a:rPr>
              <a:t>bandit, pip-audit, gitleaks, helm lint, trivy config</a:t>
            </a:r>
            <a:endParaRPr lang="en-US" sz="1100" dirty="0"/>
          </a:p>
        </p:txBody>
      </p:sp>
      <p:sp>
        <p:nvSpPr>
          <p:cNvPr id="11" name="Build + Trivy circle"/>
          <p:cNvSpPr/>
          <p:nvPr/>
        </p:nvSpPr>
        <p:spPr>
          <a:xfrm>
            <a:off x="457200" y="2020824"/>
            <a:ext cx="384048" cy="384048"/>
          </a:xfrm>
          <a:prstGeom prst="ellipse">
            <a:avLst/>
          </a:prstGeom>
          <a:solidFill>
            <a:schemeClr val="accent1"/>
          </a:solidFill>
          <a:ln w="12700">
            <a:solidFill>
              <a:schemeClr val="accent1"/>
            </a:solidFill>
            <a:prstDash val="solid"/>
          </a:ln>
        </p:spPr>
      </p:sp>
      <p:pic>
        <p:nvPicPr>
          <p:cNvPr id="12" name="Build + Trivy icon" descr="Build + Trivy">    </p:cNvPr>
          <p:cNvPicPr>
            <a:picLocks noChangeAspect="1"/>
          </p:cNvPicPr>
          <p:nvPr/>
        </p:nvPicPr>
        <p:blipFill>
          <a:blip r:embed="rId3"/>
          <a:stretch>
            <a:fillRect/>
          </a:stretch>
        </p:blipFill>
        <p:spPr>
          <a:xfrm>
            <a:off x="549372" y="2112996"/>
            <a:ext cx="199705" cy="199705"/>
          </a:xfrm>
          <a:prstGeom prst="rect">
            <a:avLst/>
          </a:prstGeom>
        </p:spPr>
      </p:pic>
      <p:sp>
        <p:nvSpPr>
          <p:cNvPr id="13" name="Text 8"/>
          <p:cNvSpPr txBox="1"/>
          <p:nvPr/>
        </p:nvSpPr>
        <p:spPr>
          <a:xfrm>
            <a:off x="960120" y="2002536"/>
            <a:ext cx="1463040" cy="420624"/>
          </a:xfrm>
          <a:prstGeom prst="rect">
            <a:avLst/>
          </a:prstGeom>
          <a:noFill/>
          <a:ln/>
        </p:spPr>
        <p:txBody>
          <a:bodyPr wrap="square" lIns="0" tIns="0" rIns="0" bIns="0" rtlCol="0" anchor="ctr"/>
          <a:lstStyle/>
          <a:p>
            <a:pPr indent="0" marL="0">
              <a:buNone/>
            </a:pPr>
            <a:r>
              <a:rPr lang="en-US" sz="1400" b="1" dirty="0">
                <a:solidFill>
                  <a:schemeClr val="tx1"/>
                </a:solidFill>
              </a:rPr>
              <a:t>Build + Trivy</a:t>
            </a:r>
            <a:endParaRPr lang="en-US" sz="1400" dirty="0"/>
          </a:p>
        </p:txBody>
      </p:sp>
      <p:sp>
        <p:nvSpPr>
          <p:cNvPr id="14" name="Text 9"/>
          <p:cNvSpPr txBox="1"/>
          <p:nvPr/>
        </p:nvSpPr>
        <p:spPr>
          <a:xfrm>
            <a:off x="2468880" y="2002536"/>
            <a:ext cx="2468880" cy="420624"/>
          </a:xfrm>
          <a:prstGeom prst="rect">
            <a:avLst/>
          </a:prstGeom>
          <a:noFill/>
          <a:ln/>
        </p:spPr>
        <p:txBody>
          <a:bodyPr wrap="square" lIns="0" tIns="0" rIns="0" bIns="0" rtlCol="0" anchor="ctr"/>
          <a:lstStyle/>
          <a:p>
            <a:pPr indent="0" marL="0">
              <a:buNone/>
            </a:pPr>
            <a:r>
              <a:rPr lang="en-US" sz="1100" dirty="0">
                <a:solidFill>
                  <a:schemeClr val="accent5"/>
                </a:solidFill>
              </a:rPr>
              <a:t>both images, scanned before anything ships</a:t>
            </a:r>
            <a:endParaRPr lang="en-US" sz="1100" dirty="0"/>
          </a:p>
        </p:txBody>
      </p:sp>
      <p:sp>
        <p:nvSpPr>
          <p:cNvPr id="15" name="Security gate circle"/>
          <p:cNvSpPr/>
          <p:nvPr/>
        </p:nvSpPr>
        <p:spPr>
          <a:xfrm>
            <a:off x="457200" y="2505456"/>
            <a:ext cx="384048" cy="384048"/>
          </a:xfrm>
          <a:prstGeom prst="ellipse">
            <a:avLst/>
          </a:prstGeom>
          <a:solidFill>
            <a:schemeClr val="accent3"/>
          </a:solidFill>
          <a:ln w="12700">
            <a:solidFill>
              <a:schemeClr val="accent3"/>
            </a:solidFill>
            <a:prstDash val="solid"/>
          </a:ln>
        </p:spPr>
      </p:sp>
      <p:pic>
        <p:nvPicPr>
          <p:cNvPr id="16" name="Security gate icon" descr="Security gate">    </p:cNvPr>
          <p:cNvPicPr>
            <a:picLocks noChangeAspect="1"/>
          </p:cNvPicPr>
          <p:nvPr/>
        </p:nvPicPr>
        <p:blipFill>
          <a:blip r:embed="rId4"/>
          <a:stretch>
            <a:fillRect/>
          </a:stretch>
        </p:blipFill>
        <p:spPr>
          <a:xfrm>
            <a:off x="549372" y="2597628"/>
            <a:ext cx="199705" cy="199705"/>
          </a:xfrm>
          <a:prstGeom prst="rect">
            <a:avLst/>
          </a:prstGeom>
        </p:spPr>
      </p:pic>
      <p:sp>
        <p:nvSpPr>
          <p:cNvPr id="17" name="Text 11"/>
          <p:cNvSpPr txBox="1"/>
          <p:nvPr/>
        </p:nvSpPr>
        <p:spPr>
          <a:xfrm>
            <a:off x="960120" y="2487168"/>
            <a:ext cx="1463040" cy="420624"/>
          </a:xfrm>
          <a:prstGeom prst="rect">
            <a:avLst/>
          </a:prstGeom>
          <a:noFill/>
          <a:ln/>
        </p:spPr>
        <p:txBody>
          <a:bodyPr wrap="square" lIns="0" tIns="0" rIns="0" bIns="0" rtlCol="0" anchor="ctr"/>
          <a:lstStyle/>
          <a:p>
            <a:pPr indent="0" marL="0">
              <a:buNone/>
            </a:pPr>
            <a:r>
              <a:rPr lang="en-US" sz="1400" b="1" dirty="0">
                <a:solidFill>
                  <a:schemeClr val="tx1"/>
                </a:solidFill>
              </a:rPr>
              <a:t>Security gate</a:t>
            </a:r>
            <a:endParaRPr lang="en-US" sz="1400" dirty="0"/>
          </a:p>
        </p:txBody>
      </p:sp>
      <p:sp>
        <p:nvSpPr>
          <p:cNvPr id="18" name="Text 12"/>
          <p:cNvSpPr txBox="1"/>
          <p:nvPr/>
        </p:nvSpPr>
        <p:spPr>
          <a:xfrm>
            <a:off x="2468880" y="2487168"/>
            <a:ext cx="2468880" cy="420624"/>
          </a:xfrm>
          <a:prstGeom prst="rect">
            <a:avLst/>
          </a:prstGeom>
          <a:noFill/>
          <a:ln/>
        </p:spPr>
        <p:txBody>
          <a:bodyPr wrap="square" lIns="0" tIns="0" rIns="0" bIns="0" rtlCol="0" anchor="ctr"/>
          <a:lstStyle/>
          <a:p>
            <a:pPr indent="0" marL="0">
              <a:buNone/>
            </a:pPr>
            <a:r>
              <a:rPr lang="en-US" sz="1100" dirty="0">
                <a:solidFill>
                  <a:schemeClr val="accent5"/>
                </a:solidFill>
              </a:rPr>
              <a:t>one job that says yes or no</a:t>
            </a:r>
            <a:endParaRPr lang="en-US" sz="1100" dirty="0"/>
          </a:p>
        </p:txBody>
      </p:sp>
      <p:sp>
        <p:nvSpPr>
          <p:cNvPr id="19" name="Push to GHCR circle"/>
          <p:cNvSpPr/>
          <p:nvPr/>
        </p:nvSpPr>
        <p:spPr>
          <a:xfrm>
            <a:off x="457200" y="2990088"/>
            <a:ext cx="384048" cy="384048"/>
          </a:xfrm>
          <a:prstGeom prst="ellipse">
            <a:avLst/>
          </a:prstGeom>
          <a:solidFill>
            <a:schemeClr val="accent1"/>
          </a:solidFill>
          <a:ln w="12700">
            <a:solidFill>
              <a:schemeClr val="accent1"/>
            </a:solidFill>
            <a:prstDash val="solid"/>
          </a:ln>
        </p:spPr>
      </p:sp>
      <p:pic>
        <p:nvPicPr>
          <p:cNvPr id="20" name="Push to GHCR icon" descr="Push to GHCR">    </p:cNvPr>
          <p:cNvPicPr>
            <a:picLocks noChangeAspect="1"/>
          </p:cNvPicPr>
          <p:nvPr/>
        </p:nvPicPr>
        <p:blipFill>
          <a:blip r:embed="rId5"/>
          <a:stretch>
            <a:fillRect/>
          </a:stretch>
        </p:blipFill>
        <p:spPr>
          <a:xfrm>
            <a:off x="549372" y="3082260"/>
            <a:ext cx="199705" cy="199705"/>
          </a:xfrm>
          <a:prstGeom prst="rect">
            <a:avLst/>
          </a:prstGeom>
        </p:spPr>
      </p:pic>
      <p:sp>
        <p:nvSpPr>
          <p:cNvPr id="21" name="Text 14"/>
          <p:cNvSpPr txBox="1"/>
          <p:nvPr/>
        </p:nvSpPr>
        <p:spPr>
          <a:xfrm>
            <a:off x="960120" y="2971800"/>
            <a:ext cx="1463040" cy="420624"/>
          </a:xfrm>
          <a:prstGeom prst="rect">
            <a:avLst/>
          </a:prstGeom>
          <a:noFill/>
          <a:ln/>
        </p:spPr>
        <p:txBody>
          <a:bodyPr wrap="square" lIns="0" tIns="0" rIns="0" bIns="0" rtlCol="0" anchor="ctr"/>
          <a:lstStyle/>
          <a:p>
            <a:pPr indent="0" marL="0">
              <a:buNone/>
            </a:pPr>
            <a:r>
              <a:rPr lang="en-US" sz="1400" b="1" dirty="0">
                <a:solidFill>
                  <a:schemeClr val="tx1"/>
                </a:solidFill>
              </a:rPr>
              <a:t>Push to GHCR</a:t>
            </a:r>
            <a:endParaRPr lang="en-US" sz="1400" dirty="0"/>
          </a:p>
        </p:txBody>
      </p:sp>
      <p:sp>
        <p:nvSpPr>
          <p:cNvPr id="22" name="Text 15"/>
          <p:cNvSpPr txBox="1"/>
          <p:nvPr/>
        </p:nvSpPr>
        <p:spPr>
          <a:xfrm>
            <a:off x="2468880" y="2971800"/>
            <a:ext cx="2468880" cy="420624"/>
          </a:xfrm>
          <a:prstGeom prst="rect">
            <a:avLst/>
          </a:prstGeom>
          <a:noFill/>
          <a:ln/>
        </p:spPr>
        <p:txBody>
          <a:bodyPr wrap="square" lIns="0" tIns="0" rIns="0" bIns="0" rtlCol="0" anchor="ctr"/>
          <a:lstStyle/>
          <a:p>
            <a:pPr indent="0" marL="0">
              <a:buNone/>
            </a:pPr>
            <a:r>
              <a:rPr lang="en-US" sz="1100" dirty="0">
                <a:solidFill>
                  <a:schemeClr val="accent5"/>
                </a:solidFill>
              </a:rPr>
              <a:t>the exact scanned bytes, tag = commit SHA</a:t>
            </a:r>
            <a:endParaRPr lang="en-US" sz="1100" dirty="0"/>
          </a:p>
        </p:txBody>
      </p:sp>
      <p:sp>
        <p:nvSpPr>
          <p:cNvPr id="23" name="Deploy to kind circle"/>
          <p:cNvSpPr/>
          <p:nvPr/>
        </p:nvSpPr>
        <p:spPr>
          <a:xfrm>
            <a:off x="457200" y="3474720"/>
            <a:ext cx="384048" cy="384048"/>
          </a:xfrm>
          <a:prstGeom prst="ellipse">
            <a:avLst/>
          </a:prstGeom>
          <a:solidFill>
            <a:schemeClr val="accent1"/>
          </a:solidFill>
          <a:ln w="12700">
            <a:solidFill>
              <a:schemeClr val="accent1"/>
            </a:solidFill>
            <a:prstDash val="solid"/>
          </a:ln>
        </p:spPr>
      </p:sp>
      <p:pic>
        <p:nvPicPr>
          <p:cNvPr id="24" name="Deploy to kind icon" descr="Deploy to kind">    </p:cNvPr>
          <p:cNvPicPr>
            <a:picLocks noChangeAspect="1"/>
          </p:cNvPicPr>
          <p:nvPr/>
        </p:nvPicPr>
        <p:blipFill>
          <a:blip r:embed="rId6"/>
          <a:stretch>
            <a:fillRect/>
          </a:stretch>
        </p:blipFill>
        <p:spPr>
          <a:xfrm>
            <a:off x="549372" y="3566892"/>
            <a:ext cx="199705" cy="199705"/>
          </a:xfrm>
          <a:prstGeom prst="rect">
            <a:avLst/>
          </a:prstGeom>
        </p:spPr>
      </p:pic>
      <p:sp>
        <p:nvSpPr>
          <p:cNvPr id="25" name="Text 17"/>
          <p:cNvSpPr txBox="1"/>
          <p:nvPr/>
        </p:nvSpPr>
        <p:spPr>
          <a:xfrm>
            <a:off x="960120" y="3456432"/>
            <a:ext cx="1463040" cy="420624"/>
          </a:xfrm>
          <a:prstGeom prst="rect">
            <a:avLst/>
          </a:prstGeom>
          <a:noFill/>
          <a:ln/>
        </p:spPr>
        <p:txBody>
          <a:bodyPr wrap="square" lIns="0" tIns="0" rIns="0" bIns="0" rtlCol="0" anchor="ctr"/>
          <a:lstStyle/>
          <a:p>
            <a:pPr indent="0" marL="0">
              <a:buNone/>
            </a:pPr>
            <a:r>
              <a:rPr lang="en-US" sz="1400" b="1" dirty="0">
                <a:solidFill>
                  <a:schemeClr val="tx1"/>
                </a:solidFill>
              </a:rPr>
              <a:t>Deploy to kind</a:t>
            </a:r>
            <a:endParaRPr lang="en-US" sz="1400" dirty="0"/>
          </a:p>
        </p:txBody>
      </p:sp>
      <p:sp>
        <p:nvSpPr>
          <p:cNvPr id="26" name="Text 18"/>
          <p:cNvSpPr txBox="1"/>
          <p:nvPr/>
        </p:nvSpPr>
        <p:spPr>
          <a:xfrm>
            <a:off x="2468880" y="3456432"/>
            <a:ext cx="2468880" cy="420624"/>
          </a:xfrm>
          <a:prstGeom prst="rect">
            <a:avLst/>
          </a:prstGeom>
          <a:noFill/>
          <a:ln/>
        </p:spPr>
        <p:txBody>
          <a:bodyPr wrap="square" lIns="0" tIns="0" rIns="0" bIns="0" rtlCol="0" anchor="ctr"/>
          <a:lstStyle/>
          <a:p>
            <a:pPr indent="0" marL="0">
              <a:buNone/>
            </a:pPr>
            <a:r>
              <a:rPr lang="en-US" sz="1100" dirty="0">
                <a:solidFill>
                  <a:schemeClr val="accent5"/>
                </a:solidFill>
              </a:rPr>
              <a:t>real Ingress, smoke test, helm test</a:t>
            </a:r>
            <a:endParaRPr lang="en-US" sz="1100" dirty="0"/>
          </a:p>
        </p:txBody>
      </p:sp>
      <p:sp>
        <p:nvSpPr>
          <p:cNvPr id="27" name="GitOps bump circle"/>
          <p:cNvSpPr/>
          <p:nvPr/>
        </p:nvSpPr>
        <p:spPr>
          <a:xfrm>
            <a:off x="457200" y="3959352"/>
            <a:ext cx="384048" cy="384048"/>
          </a:xfrm>
          <a:prstGeom prst="ellipse">
            <a:avLst/>
          </a:prstGeom>
          <a:solidFill>
            <a:schemeClr val="accent1"/>
          </a:solidFill>
          <a:ln w="12700">
            <a:solidFill>
              <a:schemeClr val="accent1"/>
            </a:solidFill>
            <a:prstDash val="solid"/>
          </a:ln>
        </p:spPr>
      </p:sp>
      <p:pic>
        <p:nvPicPr>
          <p:cNvPr id="28" name="GitOps bump icon" descr="GitOps bump">    </p:cNvPr>
          <p:cNvPicPr>
            <a:picLocks noChangeAspect="1"/>
          </p:cNvPicPr>
          <p:nvPr/>
        </p:nvPicPr>
        <p:blipFill>
          <a:blip r:embed="rId7"/>
          <a:stretch>
            <a:fillRect/>
          </a:stretch>
        </p:blipFill>
        <p:spPr>
          <a:xfrm>
            <a:off x="549372" y="4051524"/>
            <a:ext cx="199705" cy="199705"/>
          </a:xfrm>
          <a:prstGeom prst="rect">
            <a:avLst/>
          </a:prstGeom>
        </p:spPr>
      </p:pic>
      <p:sp>
        <p:nvSpPr>
          <p:cNvPr id="29" name="Text 20"/>
          <p:cNvSpPr txBox="1"/>
          <p:nvPr/>
        </p:nvSpPr>
        <p:spPr>
          <a:xfrm>
            <a:off x="960120" y="3941064"/>
            <a:ext cx="1463040" cy="420624"/>
          </a:xfrm>
          <a:prstGeom prst="rect">
            <a:avLst/>
          </a:prstGeom>
          <a:noFill/>
          <a:ln/>
        </p:spPr>
        <p:txBody>
          <a:bodyPr wrap="square" lIns="0" tIns="0" rIns="0" bIns="0" rtlCol="0" anchor="ctr"/>
          <a:lstStyle/>
          <a:p>
            <a:pPr indent="0" marL="0">
              <a:buNone/>
            </a:pPr>
            <a:r>
              <a:rPr lang="en-US" sz="1400" b="1" dirty="0">
                <a:solidFill>
                  <a:schemeClr val="tx1"/>
                </a:solidFill>
              </a:rPr>
              <a:t>GitOps bump</a:t>
            </a:r>
            <a:endParaRPr lang="en-US" sz="1400" dirty="0"/>
          </a:p>
        </p:txBody>
      </p:sp>
      <p:sp>
        <p:nvSpPr>
          <p:cNvPr id="30" name="Text 21"/>
          <p:cNvSpPr txBox="1"/>
          <p:nvPr/>
        </p:nvSpPr>
        <p:spPr>
          <a:xfrm>
            <a:off x="2468880" y="3941064"/>
            <a:ext cx="2468880" cy="420624"/>
          </a:xfrm>
          <a:prstGeom prst="rect">
            <a:avLst/>
          </a:prstGeom>
          <a:noFill/>
          <a:ln/>
        </p:spPr>
        <p:txBody>
          <a:bodyPr wrap="square" lIns="0" tIns="0" rIns="0" bIns="0" rtlCol="0" anchor="ctr"/>
          <a:lstStyle/>
          <a:p>
            <a:pPr indent="0" marL="0">
              <a:buNone/>
            </a:pPr>
            <a:r>
              <a:rPr lang="en-US" sz="1100" dirty="0">
                <a:solidFill>
                  <a:schemeClr val="accent5"/>
                </a:solidFill>
              </a:rPr>
              <a:t>commit the new tag for ArgoCD</a:t>
            </a:r>
            <a:endParaRPr lang="en-US" sz="1100" dirty="0"/>
          </a:p>
        </p:txBody>
      </p:sp>
      <p:sp>
        <p:nvSpPr>
          <p:cNvPr id="31" name="actions run frame"/>
          <p:cNvSpPr/>
          <p:nvPr/>
        </p:nvSpPr>
        <p:spPr>
          <a:xfrm>
            <a:off x="5047488" y="1069848"/>
            <a:ext cx="3666744" cy="2632843"/>
          </a:xfrm>
          <a:prstGeom prst="rect">
            <a:avLst/>
          </a:prstGeom>
          <a:solidFill>
            <a:srgbClr val="FFFFFF"/>
          </a:solidFill>
          <a:ln w="12700">
            <a:solidFill>
              <a:srgbClr val="E2E8F0"/>
            </a:solidFill>
            <a:prstDash val="solid"/>
          </a:ln>
          <a:effectLst>
            <a:outerShdw sx="100000" sy="100000" kx="0" ky="0" algn="bl" rotWithShape="0" blurRad="76200" dist="25400" dir="5400000">
              <a:srgbClr val="94A3B8">
                <a:alpha val="35000"/>
              </a:srgbClr>
            </a:outerShdw>
          </a:effectLst>
        </p:spPr>
      </p:sp>
      <p:pic>
        <p:nvPicPr>
          <p:cNvPr id="32" name="actions run" descr="Green GitHub Actions run with 14 jobs">    </p:cNvPr>
          <p:cNvPicPr>
            <a:picLocks noChangeAspect="1"/>
          </p:cNvPicPr>
          <p:nvPr/>
        </p:nvPicPr>
        <p:blipFill>
          <a:blip r:embed="rId8"/>
          <a:stretch>
            <a:fillRect/>
          </a:stretch>
        </p:blipFill>
        <p:spPr>
          <a:xfrm>
            <a:off x="5074920" y="1097280"/>
            <a:ext cx="3611880" cy="2577979"/>
          </a:xfrm>
          <a:prstGeom prst="rect">
            <a:avLst/>
          </a:prstGeom>
        </p:spPr>
      </p:pic>
      <p:sp>
        <p:nvSpPr>
          <p:cNvPr id="33" name="Text 23"/>
          <p:cNvSpPr txBox="1"/>
          <p:nvPr/>
        </p:nvSpPr>
        <p:spPr>
          <a:xfrm>
            <a:off x="5074920" y="3794131"/>
            <a:ext cx="3611880" cy="274320"/>
          </a:xfrm>
          <a:prstGeom prst="rect">
            <a:avLst/>
          </a:prstGeom>
          <a:noFill/>
          <a:ln/>
        </p:spPr>
        <p:txBody>
          <a:bodyPr wrap="square" lIns="0" tIns="0" rIns="0" bIns="0" rtlCol="0" anchor="t"/>
          <a:lstStyle/>
          <a:p>
            <a:pPr indent="0" marL="0">
              <a:buNone/>
            </a:pPr>
            <a:r>
              <a:rPr lang="en-US" sz="1100" i="1" dirty="0">
                <a:solidFill>
                  <a:schemeClr val="accent5"/>
                </a:solidFill>
              </a:rPr>
              <a:t>14 jobs · about 4 minutes · main branch only for push and deploy</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indent="0" marL="0">
              <a:buNone/>
            </a:pPr>
            <a:r>
              <a:rPr lang="en-US" sz="3600" b="1" dirty="0">
                <a:solidFill>
                  <a:schemeClr val="tx1"/>
                </a:solidFill>
              </a:rPr>
              <a:t>DevSecOps: the gate blocked me</a:t>
            </a:r>
            <a:endParaRPr lang="en-US" sz="3600" dirty="0"/>
          </a:p>
        </p:txBody>
      </p:sp>
      <p:graphicFrame>
        <p:nvGraphicFramePr>
          <p:cNvPr id="3" name="cve chart" descr=""/>
          <p:cNvGraphicFramePr/>
          <p:nvPr/>
        </p:nvGraphicFramePr>
        <p:xfrm>
          <a:off x="457200" y="1051560"/>
          <a:ext cx="4754880" cy="3108960"/>
        </p:xfrm>
        <a:graphic xmlns:a="http://schemas.openxmlformats.org/drawingml/2006/main">
          <a:graphicData uri="http://schemas.openxmlformats.org/drawingml/2006/chart">
            <c:chart xmlns:c="http://schemas.openxmlformats.org/drawingml/2006/chart" r:id="rId1"/>
          </a:graphicData>
        </a:graphic>
      </p:graphicFrame>
      <p:sp>
        <p:nvSpPr>
          <p:cNvPr id="4" name="stat cves"/>
          <p:cNvSpPr/>
          <p:nvPr/>
        </p:nvSpPr>
        <p:spPr>
          <a:xfrm>
            <a:off x="5486400" y="1097280"/>
            <a:ext cx="3200400" cy="1325880"/>
          </a:xfrm>
          <a:prstGeom prst="roundRect">
            <a:avLst>
              <a:gd name="adj" fmla="val 5517"/>
            </a:avLst>
          </a:prstGeom>
          <a:solidFill>
            <a:srgbClr val="FEF2F2"/>
          </a:solidFill>
          <a:ln w="12700">
            <a:solidFill>
              <a:srgbClr val="FEF2F2"/>
            </a:solidFill>
            <a:prstDash val="solid"/>
          </a:ln>
        </p:spPr>
      </p:sp>
      <p:sp>
        <p:nvSpPr>
          <p:cNvPr id="5" name="Text 2"/>
          <p:cNvSpPr txBox="1"/>
          <p:nvPr/>
        </p:nvSpPr>
        <p:spPr>
          <a:xfrm>
            <a:off x="5623560" y="1170432"/>
            <a:ext cx="2926080" cy="685800"/>
          </a:xfrm>
          <a:prstGeom prst="rect">
            <a:avLst/>
          </a:prstGeom>
          <a:noFill/>
          <a:ln/>
        </p:spPr>
        <p:txBody>
          <a:bodyPr wrap="square" lIns="0" tIns="0" rIns="0" bIns="0" rtlCol="0" anchor="t"/>
          <a:lstStyle/>
          <a:p>
            <a:pPr indent="0" marL="0">
              <a:buNone/>
            </a:pPr>
            <a:r>
              <a:rPr lang="en-US" sz="4000" b="1" dirty="0">
                <a:solidFill>
                  <a:schemeClr val="accent4"/>
                </a:solidFill>
              </a:rPr>
              <a:t>43 → 0</a:t>
            </a:r>
            <a:endParaRPr lang="en-US" sz="4000" dirty="0"/>
          </a:p>
        </p:txBody>
      </p:sp>
      <p:sp>
        <p:nvSpPr>
          <p:cNvPr id="6" name="Text 3"/>
          <p:cNvSpPr txBox="1"/>
          <p:nvPr/>
        </p:nvSpPr>
        <p:spPr>
          <a:xfrm>
            <a:off x="5623560" y="1847088"/>
            <a:ext cx="2926080" cy="502920"/>
          </a:xfrm>
          <a:prstGeom prst="rect">
            <a:avLst/>
          </a:prstGeom>
          <a:noFill/>
          <a:ln/>
        </p:spPr>
        <p:txBody>
          <a:bodyPr wrap="square" lIns="0" tIns="0" rIns="0" bIns="0" rtlCol="0" anchor="t"/>
          <a:lstStyle/>
          <a:p>
            <a:pPr indent="0" marL="0">
              <a:buNone/>
            </a:pPr>
            <a:r>
              <a:rPr lang="en-US" sz="1200" dirty="0">
                <a:solidFill>
                  <a:schemeClr val="tx1"/>
                </a:solidFill>
              </a:rPr>
              <a:t>fixable HIGH CVEs, all inherited from the nginx base image</a:t>
            </a:r>
            <a:endParaRPr lang="en-US" sz="1200" dirty="0"/>
          </a:p>
        </p:txBody>
      </p:sp>
      <p:sp>
        <p:nvSpPr>
          <p:cNvPr id="7" name="Upgraded the Alpine packages circle"/>
          <p:cNvSpPr/>
          <p:nvPr/>
        </p:nvSpPr>
        <p:spPr>
          <a:xfrm>
            <a:off x="5486400" y="2651760"/>
            <a:ext cx="365760" cy="365760"/>
          </a:xfrm>
          <a:prstGeom prst="ellipse">
            <a:avLst/>
          </a:prstGeom>
          <a:solidFill>
            <a:schemeClr val="accent1"/>
          </a:solidFill>
          <a:ln w="12700">
            <a:solidFill>
              <a:schemeClr val="accent1"/>
            </a:solidFill>
            <a:prstDash val="solid"/>
          </a:ln>
        </p:spPr>
      </p:sp>
      <p:pic>
        <p:nvPicPr>
          <p:cNvPr id="8" name="Upgraded the Alpine packages icon" descr="Upgraded the Alpine packages">    </p:cNvPr>
          <p:cNvPicPr>
            <a:picLocks noChangeAspect="1"/>
          </p:cNvPicPr>
          <p:nvPr/>
        </p:nvPicPr>
        <p:blipFill>
          <a:blip r:embed="rId2"/>
          <a:stretch>
            <a:fillRect/>
          </a:stretch>
        </p:blipFill>
        <p:spPr>
          <a:xfrm>
            <a:off x="5574182" y="2739542"/>
            <a:ext cx="190195" cy="190195"/>
          </a:xfrm>
          <a:prstGeom prst="rect">
            <a:avLst/>
          </a:prstGeom>
        </p:spPr>
      </p:pic>
      <p:sp>
        <p:nvSpPr>
          <p:cNvPr id="9" name="Text 5"/>
          <p:cNvSpPr txBox="1"/>
          <p:nvPr/>
        </p:nvSpPr>
        <p:spPr>
          <a:xfrm>
            <a:off x="5943600" y="2606040"/>
            <a:ext cx="2743200" cy="256032"/>
          </a:xfrm>
          <a:prstGeom prst="rect">
            <a:avLst/>
          </a:prstGeom>
          <a:noFill/>
          <a:ln/>
        </p:spPr>
        <p:txBody>
          <a:bodyPr wrap="square" lIns="0" tIns="0" rIns="0" bIns="0" rtlCol="0" anchor="t"/>
          <a:lstStyle/>
          <a:p>
            <a:pPr indent="0" marL="0">
              <a:buNone/>
            </a:pPr>
            <a:r>
              <a:rPr lang="en-US" sz="1300" b="1" dirty="0">
                <a:solidFill>
                  <a:schemeClr val="tx1"/>
                </a:solidFill>
              </a:rPr>
              <a:t>Upgraded the Alpine packages</a:t>
            </a:r>
            <a:endParaRPr lang="en-US" sz="1300" dirty="0"/>
          </a:p>
        </p:txBody>
      </p:sp>
      <p:sp>
        <p:nvSpPr>
          <p:cNvPr id="10" name="Text 6"/>
          <p:cNvSpPr txBox="1"/>
          <p:nvPr/>
        </p:nvSpPr>
        <p:spPr>
          <a:xfrm>
            <a:off x="5943600" y="2852928"/>
            <a:ext cx="2743200" cy="256032"/>
          </a:xfrm>
          <a:prstGeom prst="rect">
            <a:avLst/>
          </a:prstGeom>
          <a:noFill/>
          <a:ln/>
        </p:spPr>
        <p:txBody>
          <a:bodyPr wrap="square" lIns="0" tIns="0" rIns="0" bIns="0" rtlCol="0" anchor="t"/>
          <a:lstStyle/>
          <a:p>
            <a:pPr indent="0" marL="0">
              <a:buNone/>
            </a:pPr>
            <a:r>
              <a:rPr lang="en-US" sz="1100" dirty="0">
                <a:solidFill>
                  <a:schemeClr val="accent5"/>
                </a:solidFill>
              </a:rPr>
              <a:t>apk upgrade in the Dockerfile</a:t>
            </a:r>
            <a:endParaRPr lang="en-US" sz="1100" dirty="0"/>
          </a:p>
        </p:txBody>
      </p:sp>
      <p:sp>
        <p:nvSpPr>
          <p:cNvPr id="11" name="Removed curl entirely circle"/>
          <p:cNvSpPr/>
          <p:nvPr/>
        </p:nvSpPr>
        <p:spPr>
          <a:xfrm>
            <a:off x="5486400" y="3200400"/>
            <a:ext cx="365760" cy="365760"/>
          </a:xfrm>
          <a:prstGeom prst="ellipse">
            <a:avLst/>
          </a:prstGeom>
          <a:solidFill>
            <a:schemeClr val="accent1"/>
          </a:solidFill>
          <a:ln w="12700">
            <a:solidFill>
              <a:schemeClr val="accent1"/>
            </a:solidFill>
            <a:prstDash val="solid"/>
          </a:ln>
        </p:spPr>
      </p:sp>
      <p:pic>
        <p:nvPicPr>
          <p:cNvPr id="12" name="Removed curl entirely icon" descr="Removed curl entirely">    </p:cNvPr>
          <p:cNvPicPr>
            <a:picLocks noChangeAspect="1"/>
          </p:cNvPicPr>
          <p:nvPr/>
        </p:nvPicPr>
        <p:blipFill>
          <a:blip r:embed="rId3"/>
          <a:stretch>
            <a:fillRect/>
          </a:stretch>
        </p:blipFill>
        <p:spPr>
          <a:xfrm>
            <a:off x="5574182" y="3288182"/>
            <a:ext cx="190195" cy="190195"/>
          </a:xfrm>
          <a:prstGeom prst="rect">
            <a:avLst/>
          </a:prstGeom>
        </p:spPr>
      </p:pic>
      <p:sp>
        <p:nvSpPr>
          <p:cNvPr id="13" name="Text 8"/>
          <p:cNvSpPr txBox="1"/>
          <p:nvPr/>
        </p:nvSpPr>
        <p:spPr>
          <a:xfrm>
            <a:off x="5943600" y="3154680"/>
            <a:ext cx="2743200" cy="256032"/>
          </a:xfrm>
          <a:prstGeom prst="rect">
            <a:avLst/>
          </a:prstGeom>
          <a:noFill/>
          <a:ln/>
        </p:spPr>
        <p:txBody>
          <a:bodyPr wrap="square" lIns="0" tIns="0" rIns="0" bIns="0" rtlCol="0" anchor="t"/>
          <a:lstStyle/>
          <a:p>
            <a:pPr indent="0" marL="0">
              <a:buNone/>
            </a:pPr>
            <a:r>
              <a:rPr lang="en-US" sz="1300" b="1" dirty="0">
                <a:solidFill>
                  <a:schemeClr val="tx1"/>
                </a:solidFill>
              </a:rPr>
              <a:t>Removed curl entirely</a:t>
            </a:r>
            <a:endParaRPr lang="en-US" sz="1300" dirty="0"/>
          </a:p>
        </p:txBody>
      </p:sp>
      <p:sp>
        <p:nvSpPr>
          <p:cNvPr id="14" name="Text 9"/>
          <p:cNvSpPr txBox="1"/>
          <p:nvPr/>
        </p:nvSpPr>
        <p:spPr>
          <a:xfrm>
            <a:off x="5943600" y="3401568"/>
            <a:ext cx="2743200" cy="256032"/>
          </a:xfrm>
          <a:prstGeom prst="rect">
            <a:avLst/>
          </a:prstGeom>
          <a:noFill/>
          <a:ln/>
        </p:spPr>
        <p:txBody>
          <a:bodyPr wrap="square" lIns="0" tIns="0" rIns="0" bIns="0" rtlCol="0" anchor="t"/>
          <a:lstStyle/>
          <a:p>
            <a:pPr indent="0" marL="0">
              <a:buNone/>
            </a:pPr>
            <a:r>
              <a:rPr lang="en-US" sz="1100" dirty="0">
                <a:solidFill>
                  <a:schemeClr val="accent5"/>
                </a:solidFill>
              </a:rPr>
              <a:t>nothing used it; 20 of the 43 CVEs</a:t>
            </a:r>
            <a:endParaRPr lang="en-US" sz="1100" dirty="0"/>
          </a:p>
        </p:txBody>
      </p:sp>
      <p:sp>
        <p:nvSpPr>
          <p:cNvPr id="15" name="Nothing hidden circle"/>
          <p:cNvSpPr/>
          <p:nvPr/>
        </p:nvSpPr>
        <p:spPr>
          <a:xfrm>
            <a:off x="5486400" y="3749040"/>
            <a:ext cx="365760" cy="365760"/>
          </a:xfrm>
          <a:prstGeom prst="ellipse">
            <a:avLst/>
          </a:prstGeom>
          <a:solidFill>
            <a:schemeClr val="accent1"/>
          </a:solidFill>
          <a:ln w="12700">
            <a:solidFill>
              <a:schemeClr val="accent1"/>
            </a:solidFill>
            <a:prstDash val="solid"/>
          </a:ln>
        </p:spPr>
      </p:sp>
      <p:pic>
        <p:nvPicPr>
          <p:cNvPr id="16" name="Nothing hidden icon" descr="Nothing hidden">    </p:cNvPr>
          <p:cNvPicPr>
            <a:picLocks noChangeAspect="1"/>
          </p:cNvPicPr>
          <p:nvPr/>
        </p:nvPicPr>
        <p:blipFill>
          <a:blip r:embed="rId4"/>
          <a:stretch>
            <a:fillRect/>
          </a:stretch>
        </p:blipFill>
        <p:spPr>
          <a:xfrm>
            <a:off x="5574182" y="3836822"/>
            <a:ext cx="190195" cy="190195"/>
          </a:xfrm>
          <a:prstGeom prst="rect">
            <a:avLst/>
          </a:prstGeom>
        </p:spPr>
      </p:pic>
      <p:sp>
        <p:nvSpPr>
          <p:cNvPr id="17" name="Text 11"/>
          <p:cNvSpPr txBox="1"/>
          <p:nvPr/>
        </p:nvSpPr>
        <p:spPr>
          <a:xfrm>
            <a:off x="5943600" y="3703320"/>
            <a:ext cx="2743200" cy="256032"/>
          </a:xfrm>
          <a:prstGeom prst="rect">
            <a:avLst/>
          </a:prstGeom>
          <a:noFill/>
          <a:ln/>
        </p:spPr>
        <p:txBody>
          <a:bodyPr wrap="square" lIns="0" tIns="0" rIns="0" bIns="0" rtlCol="0" anchor="t"/>
          <a:lstStyle/>
          <a:p>
            <a:pPr indent="0" marL="0">
              <a:buNone/>
            </a:pPr>
            <a:r>
              <a:rPr lang="en-US" sz="1300" b="1" dirty="0">
                <a:solidFill>
                  <a:schemeClr val="tx1"/>
                </a:solidFill>
              </a:rPr>
              <a:t>Nothing hidden</a:t>
            </a:r>
            <a:endParaRPr lang="en-US" sz="1300" dirty="0"/>
          </a:p>
        </p:txBody>
      </p:sp>
      <p:sp>
        <p:nvSpPr>
          <p:cNvPr id="18" name="Text 12"/>
          <p:cNvSpPr txBox="1"/>
          <p:nvPr/>
        </p:nvSpPr>
        <p:spPr>
          <a:xfrm>
            <a:off x="5943600" y="3950208"/>
            <a:ext cx="2743200" cy="256032"/>
          </a:xfrm>
          <a:prstGeom prst="rect">
            <a:avLst/>
          </a:prstGeom>
          <a:noFill/>
          <a:ln/>
        </p:spPr>
        <p:txBody>
          <a:bodyPr wrap="square" lIns="0" tIns="0" rIns="0" bIns="0" rtlCol="0" anchor="t"/>
          <a:lstStyle/>
          <a:p>
            <a:pPr indent="0" marL="0">
              <a:buNone/>
            </a:pPr>
            <a:r>
              <a:rPr lang="en-US" sz="1100" dirty="0">
                <a:solidFill>
                  <a:schemeClr val="accent5"/>
                </a:solidFill>
              </a:rPr>
              <a:t>unfixed findings are reported, not gated</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indent="0" marL="0">
              <a:buNone/>
            </a:pPr>
            <a:r>
              <a:rPr lang="en-US" sz="3600" b="1" dirty="0">
                <a:solidFill>
                  <a:schemeClr val="tx1"/>
                </a:solidFill>
              </a:rPr>
              <a:t>Kubernetes</a:t>
            </a:r>
            <a:endParaRPr lang="en-US" sz="3600" dirty="0"/>
          </a:p>
        </p:txBody>
      </p:sp>
      <p:sp>
        <p:nvSpPr>
          <p:cNvPr id="3" name="k8s Restricted namespace"/>
          <p:cNvSpPr/>
          <p:nvPr/>
        </p:nvSpPr>
        <p:spPr>
          <a:xfrm>
            <a:off x="457200" y="1051560"/>
            <a:ext cx="1920240" cy="1325880"/>
          </a:xfrm>
          <a:prstGeom prst="roundRect">
            <a:avLst>
              <a:gd name="adj" fmla="val 5517"/>
            </a:avLst>
          </a:prstGeom>
          <a:solidFill>
            <a:schemeClr val="bg2"/>
          </a:solidFill>
          <a:ln w="12700">
            <a:solidFill>
              <a:schemeClr val="bg2"/>
            </a:solidFill>
            <a:prstDash val="solid"/>
          </a:ln>
        </p:spPr>
      </p:sp>
      <p:sp>
        <p:nvSpPr>
          <p:cNvPr id="4" name="Restricted namespace circle"/>
          <p:cNvSpPr/>
          <p:nvPr/>
        </p:nvSpPr>
        <p:spPr>
          <a:xfrm>
            <a:off x="594360" y="1188720"/>
            <a:ext cx="438912" cy="438912"/>
          </a:xfrm>
          <a:prstGeom prst="ellipse">
            <a:avLst/>
          </a:prstGeom>
          <a:solidFill>
            <a:schemeClr val="accent1"/>
          </a:solidFill>
          <a:ln w="12700">
            <a:solidFill>
              <a:schemeClr val="accent1"/>
            </a:solidFill>
            <a:prstDash val="solid"/>
          </a:ln>
        </p:spPr>
      </p:sp>
      <p:pic>
        <p:nvPicPr>
          <p:cNvPr id="5" name="Restricted namespace icon" descr="Restricted namespace">    </p:cNvPr>
          <p:cNvPicPr>
            <a:picLocks noChangeAspect="1"/>
          </p:cNvPicPr>
          <p:nvPr/>
        </p:nvPicPr>
        <p:blipFill>
          <a:blip r:embed="rId1"/>
          <a:stretch>
            <a:fillRect/>
          </a:stretch>
        </p:blipFill>
        <p:spPr>
          <a:xfrm>
            <a:off x="699699" y="1294059"/>
            <a:ext cx="228234" cy="228234"/>
          </a:xfrm>
          <a:prstGeom prst="rect">
            <a:avLst/>
          </a:prstGeom>
        </p:spPr>
      </p:pic>
      <p:sp>
        <p:nvSpPr>
          <p:cNvPr id="6" name="Text 3"/>
          <p:cNvSpPr txBox="1"/>
          <p:nvPr/>
        </p:nvSpPr>
        <p:spPr>
          <a:xfrm>
            <a:off x="594360" y="1709928"/>
            <a:ext cx="1645920" cy="274320"/>
          </a:xfrm>
          <a:prstGeom prst="rect">
            <a:avLst/>
          </a:prstGeom>
          <a:noFill/>
          <a:ln/>
        </p:spPr>
        <p:txBody>
          <a:bodyPr wrap="square" lIns="0" tIns="0" rIns="0" bIns="0" rtlCol="0" anchor="t"/>
          <a:lstStyle/>
          <a:p>
            <a:pPr indent="0" marL="0">
              <a:buNone/>
            </a:pPr>
            <a:r>
              <a:rPr lang="en-US" sz="1300" b="1" dirty="0">
                <a:solidFill>
                  <a:schemeClr val="tx1"/>
                </a:solidFill>
              </a:rPr>
              <a:t>Restricted namespace</a:t>
            </a:r>
            <a:endParaRPr lang="en-US" sz="1300" dirty="0"/>
          </a:p>
        </p:txBody>
      </p:sp>
      <p:sp>
        <p:nvSpPr>
          <p:cNvPr id="7" name="Text 4"/>
          <p:cNvSpPr txBox="1"/>
          <p:nvPr/>
        </p:nvSpPr>
        <p:spPr>
          <a:xfrm>
            <a:off x="594360" y="1965960"/>
            <a:ext cx="1645920" cy="365760"/>
          </a:xfrm>
          <a:prstGeom prst="rect">
            <a:avLst/>
          </a:prstGeom>
          <a:noFill/>
          <a:ln/>
        </p:spPr>
        <p:txBody>
          <a:bodyPr wrap="square" lIns="0" tIns="0" rIns="0" bIns="0" rtlCol="0" anchor="t"/>
          <a:lstStyle/>
          <a:p>
            <a:pPr indent="0" marL="0">
              <a:buNone/>
            </a:pPr>
            <a:r>
              <a:rPr lang="en-US" sz="1100" dirty="0">
                <a:solidFill>
                  <a:schemeClr val="accent5"/>
                </a:solidFill>
              </a:rPr>
              <a:t>Pod Security refuses root pods</a:t>
            </a:r>
            <a:endParaRPr lang="en-US" sz="1100" dirty="0"/>
          </a:p>
        </p:txBody>
      </p:sp>
      <p:sp>
        <p:nvSpPr>
          <p:cNvPr id="8" name="k8s Deployments"/>
          <p:cNvSpPr/>
          <p:nvPr/>
        </p:nvSpPr>
        <p:spPr>
          <a:xfrm>
            <a:off x="2560320" y="1051560"/>
            <a:ext cx="1920240" cy="1325880"/>
          </a:xfrm>
          <a:prstGeom prst="roundRect">
            <a:avLst>
              <a:gd name="adj" fmla="val 5517"/>
            </a:avLst>
          </a:prstGeom>
          <a:solidFill>
            <a:schemeClr val="bg2"/>
          </a:solidFill>
          <a:ln w="12700">
            <a:solidFill>
              <a:schemeClr val="bg2"/>
            </a:solidFill>
            <a:prstDash val="solid"/>
          </a:ln>
        </p:spPr>
      </p:sp>
      <p:sp>
        <p:nvSpPr>
          <p:cNvPr id="9" name="Deployments circle"/>
          <p:cNvSpPr/>
          <p:nvPr/>
        </p:nvSpPr>
        <p:spPr>
          <a:xfrm>
            <a:off x="2697480" y="1188720"/>
            <a:ext cx="438912" cy="438912"/>
          </a:xfrm>
          <a:prstGeom prst="ellipse">
            <a:avLst/>
          </a:prstGeom>
          <a:solidFill>
            <a:schemeClr val="accent1"/>
          </a:solidFill>
          <a:ln w="12700">
            <a:solidFill>
              <a:schemeClr val="accent1"/>
            </a:solidFill>
            <a:prstDash val="solid"/>
          </a:ln>
        </p:spPr>
      </p:sp>
      <p:pic>
        <p:nvPicPr>
          <p:cNvPr id="10" name="Deployments icon" descr="Deployments">    </p:cNvPr>
          <p:cNvPicPr>
            <a:picLocks noChangeAspect="1"/>
          </p:cNvPicPr>
          <p:nvPr/>
        </p:nvPicPr>
        <p:blipFill>
          <a:blip r:embed="rId2"/>
          <a:stretch>
            <a:fillRect/>
          </a:stretch>
        </p:blipFill>
        <p:spPr>
          <a:xfrm>
            <a:off x="2802819" y="1294059"/>
            <a:ext cx="228234" cy="228234"/>
          </a:xfrm>
          <a:prstGeom prst="rect">
            <a:avLst/>
          </a:prstGeom>
        </p:spPr>
      </p:pic>
      <p:sp>
        <p:nvSpPr>
          <p:cNvPr id="11" name="Text 7"/>
          <p:cNvSpPr txBox="1"/>
          <p:nvPr/>
        </p:nvSpPr>
        <p:spPr>
          <a:xfrm>
            <a:off x="2697480" y="1709928"/>
            <a:ext cx="1645920" cy="274320"/>
          </a:xfrm>
          <a:prstGeom prst="rect">
            <a:avLst/>
          </a:prstGeom>
          <a:noFill/>
          <a:ln/>
        </p:spPr>
        <p:txBody>
          <a:bodyPr wrap="square" lIns="0" tIns="0" rIns="0" bIns="0" rtlCol="0" anchor="t"/>
          <a:lstStyle/>
          <a:p>
            <a:pPr indent="0" marL="0">
              <a:buNone/>
            </a:pPr>
            <a:r>
              <a:rPr lang="en-US" sz="1300" b="1" dirty="0">
                <a:solidFill>
                  <a:schemeClr val="tx1"/>
                </a:solidFill>
              </a:rPr>
              <a:t>Deployments</a:t>
            </a:r>
            <a:endParaRPr lang="en-US" sz="1300" dirty="0"/>
          </a:p>
        </p:txBody>
      </p:sp>
      <p:sp>
        <p:nvSpPr>
          <p:cNvPr id="12" name="Text 8"/>
          <p:cNvSpPr txBox="1"/>
          <p:nvPr/>
        </p:nvSpPr>
        <p:spPr>
          <a:xfrm>
            <a:off x="2697480" y="1965960"/>
            <a:ext cx="1645920" cy="365760"/>
          </a:xfrm>
          <a:prstGeom prst="rect">
            <a:avLst/>
          </a:prstGeom>
          <a:noFill/>
          <a:ln/>
        </p:spPr>
        <p:txBody>
          <a:bodyPr wrap="square" lIns="0" tIns="0" rIns="0" bIns="0" rtlCol="0" anchor="t"/>
          <a:lstStyle/>
          <a:p>
            <a:pPr indent="0" marL="0">
              <a:buNone/>
            </a:pPr>
            <a:r>
              <a:rPr lang="en-US" sz="1100" dirty="0">
                <a:solidFill>
                  <a:schemeClr val="accent5"/>
                </a:solidFill>
              </a:rPr>
              <a:t>2 backend + 2 frontend minimum</a:t>
            </a:r>
            <a:endParaRPr lang="en-US" sz="1100" dirty="0"/>
          </a:p>
        </p:txBody>
      </p:sp>
      <p:sp>
        <p:nvSpPr>
          <p:cNvPr id="13" name="k8s StatefulSet + PVC"/>
          <p:cNvSpPr/>
          <p:nvPr/>
        </p:nvSpPr>
        <p:spPr>
          <a:xfrm>
            <a:off x="4663440" y="1051560"/>
            <a:ext cx="1920240" cy="1325880"/>
          </a:xfrm>
          <a:prstGeom prst="roundRect">
            <a:avLst>
              <a:gd name="adj" fmla="val 5517"/>
            </a:avLst>
          </a:prstGeom>
          <a:solidFill>
            <a:schemeClr val="bg2"/>
          </a:solidFill>
          <a:ln w="12700">
            <a:solidFill>
              <a:schemeClr val="bg2"/>
            </a:solidFill>
            <a:prstDash val="solid"/>
          </a:ln>
        </p:spPr>
      </p:sp>
      <p:sp>
        <p:nvSpPr>
          <p:cNvPr id="14" name="StatefulSet + PVC circle"/>
          <p:cNvSpPr/>
          <p:nvPr/>
        </p:nvSpPr>
        <p:spPr>
          <a:xfrm>
            <a:off x="4800600" y="1188720"/>
            <a:ext cx="438912" cy="438912"/>
          </a:xfrm>
          <a:prstGeom prst="ellipse">
            <a:avLst/>
          </a:prstGeom>
          <a:solidFill>
            <a:schemeClr val="accent1"/>
          </a:solidFill>
          <a:ln w="12700">
            <a:solidFill>
              <a:schemeClr val="accent1"/>
            </a:solidFill>
            <a:prstDash val="solid"/>
          </a:ln>
        </p:spPr>
      </p:sp>
      <p:pic>
        <p:nvPicPr>
          <p:cNvPr id="15" name="StatefulSet + PVC icon" descr="StatefulSet + PVC">    </p:cNvPr>
          <p:cNvPicPr>
            <a:picLocks noChangeAspect="1"/>
          </p:cNvPicPr>
          <p:nvPr/>
        </p:nvPicPr>
        <p:blipFill>
          <a:blip r:embed="rId3"/>
          <a:stretch>
            <a:fillRect/>
          </a:stretch>
        </p:blipFill>
        <p:spPr>
          <a:xfrm>
            <a:off x="4905939" y="1294059"/>
            <a:ext cx="228234" cy="228234"/>
          </a:xfrm>
          <a:prstGeom prst="rect">
            <a:avLst/>
          </a:prstGeom>
        </p:spPr>
      </p:pic>
      <p:sp>
        <p:nvSpPr>
          <p:cNvPr id="16" name="Text 11"/>
          <p:cNvSpPr txBox="1"/>
          <p:nvPr/>
        </p:nvSpPr>
        <p:spPr>
          <a:xfrm>
            <a:off x="4800600" y="1709928"/>
            <a:ext cx="1645920" cy="274320"/>
          </a:xfrm>
          <a:prstGeom prst="rect">
            <a:avLst/>
          </a:prstGeom>
          <a:noFill/>
          <a:ln/>
        </p:spPr>
        <p:txBody>
          <a:bodyPr wrap="square" lIns="0" tIns="0" rIns="0" bIns="0" rtlCol="0" anchor="t"/>
          <a:lstStyle/>
          <a:p>
            <a:pPr indent="0" marL="0">
              <a:buNone/>
            </a:pPr>
            <a:r>
              <a:rPr lang="en-US" sz="1300" b="1" dirty="0">
                <a:solidFill>
                  <a:schemeClr val="tx1"/>
                </a:solidFill>
              </a:rPr>
              <a:t>StatefulSet + PVC</a:t>
            </a:r>
            <a:endParaRPr lang="en-US" sz="1300" dirty="0"/>
          </a:p>
        </p:txBody>
      </p:sp>
      <p:sp>
        <p:nvSpPr>
          <p:cNvPr id="17" name="Text 12"/>
          <p:cNvSpPr txBox="1"/>
          <p:nvPr/>
        </p:nvSpPr>
        <p:spPr>
          <a:xfrm>
            <a:off x="4800600" y="1965960"/>
            <a:ext cx="1645920" cy="365760"/>
          </a:xfrm>
          <a:prstGeom prst="rect">
            <a:avLst/>
          </a:prstGeom>
          <a:noFill/>
          <a:ln/>
        </p:spPr>
        <p:txBody>
          <a:bodyPr wrap="square" lIns="0" tIns="0" rIns="0" bIns="0" rtlCol="0" anchor="t"/>
          <a:lstStyle/>
          <a:p>
            <a:pPr indent="0" marL="0">
              <a:buNone/>
            </a:pPr>
            <a:r>
              <a:rPr lang="en-US" sz="1100" dirty="0">
                <a:solidFill>
                  <a:schemeClr val="accent5"/>
                </a:solidFill>
              </a:rPr>
              <a:t>Postgres keeps its data</a:t>
            </a:r>
            <a:endParaRPr lang="en-US" sz="1100" dirty="0"/>
          </a:p>
        </p:txBody>
      </p:sp>
      <p:sp>
        <p:nvSpPr>
          <p:cNvPr id="18" name="k8s Services + Ingress"/>
          <p:cNvSpPr/>
          <p:nvPr/>
        </p:nvSpPr>
        <p:spPr>
          <a:xfrm>
            <a:off x="6766560" y="1051560"/>
            <a:ext cx="1920240" cy="1325880"/>
          </a:xfrm>
          <a:prstGeom prst="roundRect">
            <a:avLst>
              <a:gd name="adj" fmla="val 5517"/>
            </a:avLst>
          </a:prstGeom>
          <a:solidFill>
            <a:schemeClr val="bg2"/>
          </a:solidFill>
          <a:ln w="12700">
            <a:solidFill>
              <a:schemeClr val="bg2"/>
            </a:solidFill>
            <a:prstDash val="solid"/>
          </a:ln>
        </p:spPr>
      </p:sp>
      <p:sp>
        <p:nvSpPr>
          <p:cNvPr id="19" name="Services + Ingress circle"/>
          <p:cNvSpPr/>
          <p:nvPr/>
        </p:nvSpPr>
        <p:spPr>
          <a:xfrm>
            <a:off x="6903720" y="1188720"/>
            <a:ext cx="438912" cy="438912"/>
          </a:xfrm>
          <a:prstGeom prst="ellipse">
            <a:avLst/>
          </a:prstGeom>
          <a:solidFill>
            <a:schemeClr val="accent1"/>
          </a:solidFill>
          <a:ln w="12700">
            <a:solidFill>
              <a:schemeClr val="accent1"/>
            </a:solidFill>
            <a:prstDash val="solid"/>
          </a:ln>
        </p:spPr>
      </p:sp>
      <p:pic>
        <p:nvPicPr>
          <p:cNvPr id="20" name="Services + Ingress icon" descr="Services + Ingress">    </p:cNvPr>
          <p:cNvPicPr>
            <a:picLocks noChangeAspect="1"/>
          </p:cNvPicPr>
          <p:nvPr/>
        </p:nvPicPr>
        <p:blipFill>
          <a:blip r:embed="rId4"/>
          <a:stretch>
            <a:fillRect/>
          </a:stretch>
        </p:blipFill>
        <p:spPr>
          <a:xfrm>
            <a:off x="7009059" y="1294059"/>
            <a:ext cx="228234" cy="228234"/>
          </a:xfrm>
          <a:prstGeom prst="rect">
            <a:avLst/>
          </a:prstGeom>
        </p:spPr>
      </p:pic>
      <p:sp>
        <p:nvSpPr>
          <p:cNvPr id="21" name="Text 15"/>
          <p:cNvSpPr txBox="1"/>
          <p:nvPr/>
        </p:nvSpPr>
        <p:spPr>
          <a:xfrm>
            <a:off x="6903720" y="1709928"/>
            <a:ext cx="1645920" cy="274320"/>
          </a:xfrm>
          <a:prstGeom prst="rect">
            <a:avLst/>
          </a:prstGeom>
          <a:noFill/>
          <a:ln/>
        </p:spPr>
        <p:txBody>
          <a:bodyPr wrap="square" lIns="0" tIns="0" rIns="0" bIns="0" rtlCol="0" anchor="t"/>
          <a:lstStyle/>
          <a:p>
            <a:pPr indent="0" marL="0">
              <a:buNone/>
            </a:pPr>
            <a:r>
              <a:rPr lang="en-US" sz="1300" b="1" dirty="0">
                <a:solidFill>
                  <a:schemeClr val="tx1"/>
                </a:solidFill>
              </a:rPr>
              <a:t>Services + Ingress</a:t>
            </a:r>
            <a:endParaRPr lang="en-US" sz="1300" dirty="0"/>
          </a:p>
        </p:txBody>
      </p:sp>
      <p:sp>
        <p:nvSpPr>
          <p:cNvPr id="22" name="Text 16"/>
          <p:cNvSpPr txBox="1"/>
          <p:nvPr/>
        </p:nvSpPr>
        <p:spPr>
          <a:xfrm>
            <a:off x="6903720" y="1965960"/>
            <a:ext cx="1645920" cy="365760"/>
          </a:xfrm>
          <a:prstGeom prst="rect">
            <a:avLst/>
          </a:prstGeom>
          <a:noFill/>
          <a:ln/>
        </p:spPr>
        <p:txBody>
          <a:bodyPr wrap="square" lIns="0" tIns="0" rIns="0" bIns="0" rtlCol="0" anchor="t"/>
          <a:lstStyle/>
          <a:p>
            <a:pPr indent="0" marL="0">
              <a:buNone/>
            </a:pPr>
            <a:r>
              <a:rPr lang="en-US" sz="1100" dirty="0">
                <a:solidFill>
                  <a:schemeClr val="accent5"/>
                </a:solidFill>
              </a:rPr>
              <a:t>/ to frontend, /api to backend</a:t>
            </a:r>
            <a:endParaRPr lang="en-US" sz="1100" dirty="0"/>
          </a:p>
        </p:txBody>
      </p:sp>
      <p:sp>
        <p:nvSpPr>
          <p:cNvPr id="23" name="k8s ConfigMap + Secret"/>
          <p:cNvSpPr/>
          <p:nvPr/>
        </p:nvSpPr>
        <p:spPr>
          <a:xfrm>
            <a:off x="457200" y="2560320"/>
            <a:ext cx="1920240" cy="1325880"/>
          </a:xfrm>
          <a:prstGeom prst="roundRect">
            <a:avLst>
              <a:gd name="adj" fmla="val 5517"/>
            </a:avLst>
          </a:prstGeom>
          <a:solidFill>
            <a:schemeClr val="bg2"/>
          </a:solidFill>
          <a:ln w="12700">
            <a:solidFill>
              <a:schemeClr val="bg2"/>
            </a:solidFill>
            <a:prstDash val="solid"/>
          </a:ln>
        </p:spPr>
      </p:sp>
      <p:sp>
        <p:nvSpPr>
          <p:cNvPr id="24" name="ConfigMap + Secret circle"/>
          <p:cNvSpPr/>
          <p:nvPr/>
        </p:nvSpPr>
        <p:spPr>
          <a:xfrm>
            <a:off x="594360" y="2697480"/>
            <a:ext cx="438912" cy="438912"/>
          </a:xfrm>
          <a:prstGeom prst="ellipse">
            <a:avLst/>
          </a:prstGeom>
          <a:solidFill>
            <a:schemeClr val="accent1"/>
          </a:solidFill>
          <a:ln w="12700">
            <a:solidFill>
              <a:schemeClr val="accent1"/>
            </a:solidFill>
            <a:prstDash val="solid"/>
          </a:ln>
        </p:spPr>
      </p:sp>
      <p:pic>
        <p:nvPicPr>
          <p:cNvPr id="25" name="ConfigMap + Secret icon" descr="ConfigMap + Secret">    </p:cNvPr>
          <p:cNvPicPr>
            <a:picLocks noChangeAspect="1"/>
          </p:cNvPicPr>
          <p:nvPr/>
        </p:nvPicPr>
        <p:blipFill>
          <a:blip r:embed="rId5"/>
          <a:stretch>
            <a:fillRect/>
          </a:stretch>
        </p:blipFill>
        <p:spPr>
          <a:xfrm>
            <a:off x="699699" y="2802819"/>
            <a:ext cx="228234" cy="228234"/>
          </a:xfrm>
          <a:prstGeom prst="rect">
            <a:avLst/>
          </a:prstGeom>
        </p:spPr>
      </p:pic>
      <p:sp>
        <p:nvSpPr>
          <p:cNvPr id="26" name="Text 19"/>
          <p:cNvSpPr txBox="1"/>
          <p:nvPr/>
        </p:nvSpPr>
        <p:spPr>
          <a:xfrm>
            <a:off x="594360" y="3218688"/>
            <a:ext cx="1645920" cy="274320"/>
          </a:xfrm>
          <a:prstGeom prst="rect">
            <a:avLst/>
          </a:prstGeom>
          <a:noFill/>
          <a:ln/>
        </p:spPr>
        <p:txBody>
          <a:bodyPr wrap="square" lIns="0" tIns="0" rIns="0" bIns="0" rtlCol="0" anchor="t"/>
          <a:lstStyle/>
          <a:p>
            <a:pPr indent="0" marL="0">
              <a:buNone/>
            </a:pPr>
            <a:r>
              <a:rPr lang="en-US" sz="1300" b="1" dirty="0">
                <a:solidFill>
                  <a:schemeClr val="tx1"/>
                </a:solidFill>
              </a:rPr>
              <a:t>ConfigMap + Secret</a:t>
            </a:r>
            <a:endParaRPr lang="en-US" sz="1300" dirty="0"/>
          </a:p>
        </p:txBody>
      </p:sp>
      <p:sp>
        <p:nvSpPr>
          <p:cNvPr id="27" name="Text 20"/>
          <p:cNvSpPr txBox="1"/>
          <p:nvPr/>
        </p:nvSpPr>
        <p:spPr>
          <a:xfrm>
            <a:off x="594360" y="3474720"/>
            <a:ext cx="1645920" cy="365760"/>
          </a:xfrm>
          <a:prstGeom prst="rect">
            <a:avLst/>
          </a:prstGeom>
          <a:noFill/>
          <a:ln/>
        </p:spPr>
        <p:txBody>
          <a:bodyPr wrap="square" lIns="0" tIns="0" rIns="0" bIns="0" rtlCol="0" anchor="t"/>
          <a:lstStyle/>
          <a:p>
            <a:pPr indent="0" marL="0">
              <a:buNone/>
            </a:pPr>
            <a:r>
              <a:rPr lang="en-US" sz="1100" dirty="0">
                <a:solidFill>
                  <a:schemeClr val="accent5"/>
                </a:solidFill>
              </a:rPr>
              <a:t>password generated in the cluster</a:t>
            </a:r>
            <a:endParaRPr lang="en-US" sz="1100" dirty="0"/>
          </a:p>
        </p:txBody>
      </p:sp>
      <p:sp>
        <p:nvSpPr>
          <p:cNvPr id="28" name="k8s Probes"/>
          <p:cNvSpPr/>
          <p:nvPr/>
        </p:nvSpPr>
        <p:spPr>
          <a:xfrm>
            <a:off x="2560320" y="2560320"/>
            <a:ext cx="1920240" cy="1325880"/>
          </a:xfrm>
          <a:prstGeom prst="roundRect">
            <a:avLst>
              <a:gd name="adj" fmla="val 5517"/>
            </a:avLst>
          </a:prstGeom>
          <a:solidFill>
            <a:schemeClr val="bg2"/>
          </a:solidFill>
          <a:ln w="12700">
            <a:solidFill>
              <a:schemeClr val="bg2"/>
            </a:solidFill>
            <a:prstDash val="solid"/>
          </a:ln>
        </p:spPr>
      </p:sp>
      <p:sp>
        <p:nvSpPr>
          <p:cNvPr id="29" name="Probes circle"/>
          <p:cNvSpPr/>
          <p:nvPr/>
        </p:nvSpPr>
        <p:spPr>
          <a:xfrm>
            <a:off x="2697480" y="2697480"/>
            <a:ext cx="438912" cy="438912"/>
          </a:xfrm>
          <a:prstGeom prst="ellipse">
            <a:avLst/>
          </a:prstGeom>
          <a:solidFill>
            <a:schemeClr val="accent1"/>
          </a:solidFill>
          <a:ln w="12700">
            <a:solidFill>
              <a:schemeClr val="accent1"/>
            </a:solidFill>
            <a:prstDash val="solid"/>
          </a:ln>
        </p:spPr>
      </p:sp>
      <p:pic>
        <p:nvPicPr>
          <p:cNvPr id="30" name="Probes icon" descr="Probes">    </p:cNvPr>
          <p:cNvPicPr>
            <a:picLocks noChangeAspect="1"/>
          </p:cNvPicPr>
          <p:nvPr/>
        </p:nvPicPr>
        <p:blipFill>
          <a:blip r:embed="rId6"/>
          <a:stretch>
            <a:fillRect/>
          </a:stretch>
        </p:blipFill>
        <p:spPr>
          <a:xfrm>
            <a:off x="2802819" y="2802819"/>
            <a:ext cx="228234" cy="228234"/>
          </a:xfrm>
          <a:prstGeom prst="rect">
            <a:avLst/>
          </a:prstGeom>
        </p:spPr>
      </p:pic>
      <p:sp>
        <p:nvSpPr>
          <p:cNvPr id="31" name="Text 23"/>
          <p:cNvSpPr txBox="1"/>
          <p:nvPr/>
        </p:nvSpPr>
        <p:spPr>
          <a:xfrm>
            <a:off x="2697480" y="3218688"/>
            <a:ext cx="1645920" cy="274320"/>
          </a:xfrm>
          <a:prstGeom prst="rect">
            <a:avLst/>
          </a:prstGeom>
          <a:noFill/>
          <a:ln/>
        </p:spPr>
        <p:txBody>
          <a:bodyPr wrap="square" lIns="0" tIns="0" rIns="0" bIns="0" rtlCol="0" anchor="t"/>
          <a:lstStyle/>
          <a:p>
            <a:pPr indent="0" marL="0">
              <a:buNone/>
            </a:pPr>
            <a:r>
              <a:rPr lang="en-US" sz="1300" b="1" dirty="0">
                <a:solidFill>
                  <a:schemeClr val="tx1"/>
                </a:solidFill>
              </a:rPr>
              <a:t>Probes</a:t>
            </a:r>
            <a:endParaRPr lang="en-US" sz="1300" dirty="0"/>
          </a:p>
        </p:txBody>
      </p:sp>
      <p:sp>
        <p:nvSpPr>
          <p:cNvPr id="32" name="Text 24"/>
          <p:cNvSpPr txBox="1"/>
          <p:nvPr/>
        </p:nvSpPr>
        <p:spPr>
          <a:xfrm>
            <a:off x="2697480" y="3474720"/>
            <a:ext cx="1645920" cy="365760"/>
          </a:xfrm>
          <a:prstGeom prst="rect">
            <a:avLst/>
          </a:prstGeom>
          <a:noFill/>
          <a:ln/>
        </p:spPr>
        <p:txBody>
          <a:bodyPr wrap="square" lIns="0" tIns="0" rIns="0" bIns="0" rtlCol="0" anchor="t"/>
          <a:lstStyle/>
          <a:p>
            <a:pPr indent="0" marL="0">
              <a:buNone/>
            </a:pPr>
            <a:r>
              <a:rPr lang="en-US" sz="1100" dirty="0">
                <a:solidFill>
                  <a:schemeClr val="accent5"/>
                </a:solidFill>
              </a:rPr>
              <a:t>startup, readiness, liveness</a:t>
            </a:r>
            <a:endParaRPr lang="en-US" sz="1100" dirty="0"/>
          </a:p>
        </p:txBody>
      </p:sp>
      <p:sp>
        <p:nvSpPr>
          <p:cNvPr id="33" name="k8s HPA + PDB"/>
          <p:cNvSpPr/>
          <p:nvPr/>
        </p:nvSpPr>
        <p:spPr>
          <a:xfrm>
            <a:off x="4663440" y="2560320"/>
            <a:ext cx="1920240" cy="1325880"/>
          </a:xfrm>
          <a:prstGeom prst="roundRect">
            <a:avLst>
              <a:gd name="adj" fmla="val 5517"/>
            </a:avLst>
          </a:prstGeom>
          <a:solidFill>
            <a:schemeClr val="bg2"/>
          </a:solidFill>
          <a:ln w="12700">
            <a:solidFill>
              <a:schemeClr val="bg2"/>
            </a:solidFill>
            <a:prstDash val="solid"/>
          </a:ln>
        </p:spPr>
      </p:sp>
      <p:sp>
        <p:nvSpPr>
          <p:cNvPr id="34" name="HPA + PDB circle"/>
          <p:cNvSpPr/>
          <p:nvPr/>
        </p:nvSpPr>
        <p:spPr>
          <a:xfrm>
            <a:off x="4800600" y="2697480"/>
            <a:ext cx="438912" cy="438912"/>
          </a:xfrm>
          <a:prstGeom prst="ellipse">
            <a:avLst/>
          </a:prstGeom>
          <a:solidFill>
            <a:schemeClr val="accent1"/>
          </a:solidFill>
          <a:ln w="12700">
            <a:solidFill>
              <a:schemeClr val="accent1"/>
            </a:solidFill>
            <a:prstDash val="solid"/>
          </a:ln>
        </p:spPr>
      </p:sp>
      <p:pic>
        <p:nvPicPr>
          <p:cNvPr id="35" name="HPA + PDB icon" descr="HPA + PDB">    </p:cNvPr>
          <p:cNvPicPr>
            <a:picLocks noChangeAspect="1"/>
          </p:cNvPicPr>
          <p:nvPr/>
        </p:nvPicPr>
        <p:blipFill>
          <a:blip r:embed="rId7"/>
          <a:stretch>
            <a:fillRect/>
          </a:stretch>
        </p:blipFill>
        <p:spPr>
          <a:xfrm>
            <a:off x="4905939" y="2802819"/>
            <a:ext cx="228234" cy="228234"/>
          </a:xfrm>
          <a:prstGeom prst="rect">
            <a:avLst/>
          </a:prstGeom>
        </p:spPr>
      </p:pic>
      <p:sp>
        <p:nvSpPr>
          <p:cNvPr id="36" name="Text 27"/>
          <p:cNvSpPr txBox="1"/>
          <p:nvPr/>
        </p:nvSpPr>
        <p:spPr>
          <a:xfrm>
            <a:off x="4800600" y="3218688"/>
            <a:ext cx="1645920" cy="274320"/>
          </a:xfrm>
          <a:prstGeom prst="rect">
            <a:avLst/>
          </a:prstGeom>
          <a:noFill/>
          <a:ln/>
        </p:spPr>
        <p:txBody>
          <a:bodyPr wrap="square" lIns="0" tIns="0" rIns="0" bIns="0" rtlCol="0" anchor="t"/>
          <a:lstStyle/>
          <a:p>
            <a:pPr indent="0" marL="0">
              <a:buNone/>
            </a:pPr>
            <a:r>
              <a:rPr lang="en-US" sz="1300" b="1" dirty="0">
                <a:solidFill>
                  <a:schemeClr val="tx1"/>
                </a:solidFill>
              </a:rPr>
              <a:t>HPA + PDB</a:t>
            </a:r>
            <a:endParaRPr lang="en-US" sz="1300" dirty="0"/>
          </a:p>
        </p:txBody>
      </p:sp>
      <p:sp>
        <p:nvSpPr>
          <p:cNvPr id="37" name="Text 28"/>
          <p:cNvSpPr txBox="1"/>
          <p:nvPr/>
        </p:nvSpPr>
        <p:spPr>
          <a:xfrm>
            <a:off x="4800600" y="3474720"/>
            <a:ext cx="1645920" cy="365760"/>
          </a:xfrm>
          <a:prstGeom prst="rect">
            <a:avLst/>
          </a:prstGeom>
          <a:noFill/>
          <a:ln/>
        </p:spPr>
        <p:txBody>
          <a:bodyPr wrap="square" lIns="0" tIns="0" rIns="0" bIns="0" rtlCol="0" anchor="t"/>
          <a:lstStyle/>
          <a:p>
            <a:pPr indent="0" marL="0">
              <a:buNone/>
            </a:pPr>
            <a:r>
              <a:rPr lang="en-US" sz="1100" dirty="0">
                <a:solidFill>
                  <a:schemeClr val="accent5"/>
                </a:solidFill>
              </a:rPr>
              <a:t>2 to 6 pods, never all down</a:t>
            </a:r>
            <a:endParaRPr lang="en-US" sz="1100" dirty="0"/>
          </a:p>
        </p:txBody>
      </p:sp>
      <p:sp>
        <p:nvSpPr>
          <p:cNvPr id="38" name="k8s Quota + LimitRange"/>
          <p:cNvSpPr/>
          <p:nvPr/>
        </p:nvSpPr>
        <p:spPr>
          <a:xfrm>
            <a:off x="6766560" y="2560320"/>
            <a:ext cx="1920240" cy="1325880"/>
          </a:xfrm>
          <a:prstGeom prst="roundRect">
            <a:avLst>
              <a:gd name="adj" fmla="val 5517"/>
            </a:avLst>
          </a:prstGeom>
          <a:solidFill>
            <a:schemeClr val="bg2"/>
          </a:solidFill>
          <a:ln w="12700">
            <a:solidFill>
              <a:schemeClr val="bg2"/>
            </a:solidFill>
            <a:prstDash val="solid"/>
          </a:ln>
        </p:spPr>
      </p:sp>
      <p:sp>
        <p:nvSpPr>
          <p:cNvPr id="39" name="Quota + LimitRange circle"/>
          <p:cNvSpPr/>
          <p:nvPr/>
        </p:nvSpPr>
        <p:spPr>
          <a:xfrm>
            <a:off x="6903720" y="2697480"/>
            <a:ext cx="438912" cy="438912"/>
          </a:xfrm>
          <a:prstGeom prst="ellipse">
            <a:avLst/>
          </a:prstGeom>
          <a:solidFill>
            <a:schemeClr val="accent1"/>
          </a:solidFill>
          <a:ln w="12700">
            <a:solidFill>
              <a:schemeClr val="accent1"/>
            </a:solidFill>
            <a:prstDash val="solid"/>
          </a:ln>
        </p:spPr>
      </p:sp>
      <p:pic>
        <p:nvPicPr>
          <p:cNvPr id="40" name="Quota + LimitRange icon" descr="Quota + LimitRange">    </p:cNvPr>
          <p:cNvPicPr>
            <a:picLocks noChangeAspect="1"/>
          </p:cNvPicPr>
          <p:nvPr/>
        </p:nvPicPr>
        <p:blipFill>
          <a:blip r:embed="rId8"/>
          <a:stretch>
            <a:fillRect/>
          </a:stretch>
        </p:blipFill>
        <p:spPr>
          <a:xfrm>
            <a:off x="7009059" y="2802819"/>
            <a:ext cx="228234" cy="228234"/>
          </a:xfrm>
          <a:prstGeom prst="rect">
            <a:avLst/>
          </a:prstGeom>
        </p:spPr>
      </p:pic>
      <p:sp>
        <p:nvSpPr>
          <p:cNvPr id="41" name="Text 31"/>
          <p:cNvSpPr txBox="1"/>
          <p:nvPr/>
        </p:nvSpPr>
        <p:spPr>
          <a:xfrm>
            <a:off x="6903720" y="3218688"/>
            <a:ext cx="1645920" cy="274320"/>
          </a:xfrm>
          <a:prstGeom prst="rect">
            <a:avLst/>
          </a:prstGeom>
          <a:noFill/>
          <a:ln/>
        </p:spPr>
        <p:txBody>
          <a:bodyPr wrap="square" lIns="0" tIns="0" rIns="0" bIns="0" rtlCol="0" anchor="t"/>
          <a:lstStyle/>
          <a:p>
            <a:pPr indent="0" marL="0">
              <a:buNone/>
            </a:pPr>
            <a:r>
              <a:rPr lang="en-US" sz="1300" b="1" dirty="0">
                <a:solidFill>
                  <a:schemeClr val="tx1"/>
                </a:solidFill>
              </a:rPr>
              <a:t>Quota + LimitRange</a:t>
            </a:r>
            <a:endParaRPr lang="en-US" sz="1300" dirty="0"/>
          </a:p>
        </p:txBody>
      </p:sp>
      <p:sp>
        <p:nvSpPr>
          <p:cNvPr id="42" name="Text 32"/>
          <p:cNvSpPr txBox="1"/>
          <p:nvPr/>
        </p:nvSpPr>
        <p:spPr>
          <a:xfrm>
            <a:off x="6903720" y="3474720"/>
            <a:ext cx="1645920" cy="365760"/>
          </a:xfrm>
          <a:prstGeom prst="rect">
            <a:avLst/>
          </a:prstGeom>
          <a:noFill/>
          <a:ln/>
        </p:spPr>
        <p:txBody>
          <a:bodyPr wrap="square" lIns="0" tIns="0" rIns="0" bIns="0" rtlCol="0" anchor="t"/>
          <a:lstStyle/>
          <a:p>
            <a:pPr indent="0" marL="0">
              <a:buNone/>
            </a:pPr>
            <a:r>
              <a:rPr lang="en-US" sz="1100" dirty="0">
                <a:solidFill>
                  <a:schemeClr val="accent5"/>
                </a:solidFill>
              </a:rPr>
              <a:t>a cap on the whole namespace</a:t>
            </a:r>
            <a:endParaRPr lang="en-US" sz="1100" dirty="0"/>
          </a:p>
        </p:txBody>
      </p:sp>
      <p:sp>
        <p:nvSpPr>
          <p:cNvPr id="43" name="Text 33"/>
          <p:cNvSpPr txBox="1"/>
          <p:nvPr/>
        </p:nvSpPr>
        <p:spPr>
          <a:xfrm>
            <a:off x="457200" y="4160520"/>
            <a:ext cx="8229600" cy="320040"/>
          </a:xfrm>
          <a:prstGeom prst="rect">
            <a:avLst/>
          </a:prstGeom>
          <a:noFill/>
          <a:ln/>
        </p:spPr>
        <p:txBody>
          <a:bodyPr wrap="square" lIns="0" tIns="0" rIns="0" bIns="0" rtlCol="0" anchor="t"/>
          <a:lstStyle/>
          <a:p>
            <a:pPr indent="0" marL="0">
              <a:buNone/>
            </a:pPr>
            <a:r>
              <a:rPr lang="en-US" sz="1300" i="1" dirty="0">
                <a:solidFill>
                  <a:schemeClr val="accent1"/>
                </a:solidFill>
              </a:rPr>
              <a:t>Every pod: non-root, read-only root filesystem, all capabilities dropped, no service-account token</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indent="0" marL="0">
              <a:buNone/>
            </a:pPr>
            <a:r>
              <a:rPr lang="en-US" sz="3600" b="1" dirty="0">
                <a:solidFill>
                  <a:schemeClr val="tx1"/>
                </a:solidFill>
              </a:rPr>
              <a:t>Helm chart: decisions that matter</a:t>
            </a:r>
            <a:endParaRPr lang="en-US" sz="3600" dirty="0"/>
          </a:p>
        </p:txBody>
      </p:sp>
      <p:sp>
        <p:nvSpPr>
          <p:cNvPr id="3" name="helm Zero-downtime rollouts"/>
          <p:cNvSpPr/>
          <p:nvPr/>
        </p:nvSpPr>
        <p:spPr>
          <a:xfrm>
            <a:off x="457200" y="1097280"/>
            <a:ext cx="4023360" cy="896112"/>
          </a:xfrm>
          <a:prstGeom prst="roundRect">
            <a:avLst>
              <a:gd name="adj" fmla="val 8163"/>
            </a:avLst>
          </a:prstGeom>
          <a:solidFill>
            <a:schemeClr val="bg2"/>
          </a:solidFill>
          <a:ln w="12700">
            <a:solidFill>
              <a:schemeClr val="bg2"/>
            </a:solidFill>
            <a:prstDash val="solid"/>
          </a:ln>
        </p:spPr>
      </p:sp>
      <p:sp>
        <p:nvSpPr>
          <p:cNvPr id="4" name="Text 2"/>
          <p:cNvSpPr txBox="1"/>
          <p:nvPr/>
        </p:nvSpPr>
        <p:spPr>
          <a:xfrm>
            <a:off x="640080" y="1188720"/>
            <a:ext cx="502920" cy="713232"/>
          </a:xfrm>
          <a:prstGeom prst="rect">
            <a:avLst/>
          </a:prstGeom>
          <a:noFill/>
          <a:ln/>
        </p:spPr>
        <p:txBody>
          <a:bodyPr wrap="square" lIns="0" tIns="0" rIns="0" bIns="0" rtlCol="0" anchor="ctr"/>
          <a:lstStyle/>
          <a:p>
            <a:pPr indent="0" marL="0">
              <a:buNone/>
            </a:pPr>
            <a:r>
              <a:rPr lang="en-US" sz="3200" b="1" dirty="0">
                <a:solidFill>
                  <a:schemeClr val="accent1"/>
                </a:solidFill>
              </a:rPr>
              <a:t>1</a:t>
            </a:r>
            <a:endParaRPr lang="en-US" sz="3200" dirty="0"/>
          </a:p>
        </p:txBody>
      </p:sp>
      <p:sp>
        <p:nvSpPr>
          <p:cNvPr id="5" name="Text 3"/>
          <p:cNvSpPr txBox="1"/>
          <p:nvPr/>
        </p:nvSpPr>
        <p:spPr>
          <a:xfrm>
            <a:off x="1188720" y="1216152"/>
            <a:ext cx="3200400" cy="292608"/>
          </a:xfrm>
          <a:prstGeom prst="rect">
            <a:avLst/>
          </a:prstGeom>
          <a:noFill/>
          <a:ln/>
        </p:spPr>
        <p:txBody>
          <a:bodyPr wrap="square" lIns="0" tIns="0" rIns="0" bIns="0" rtlCol="0" anchor="t"/>
          <a:lstStyle/>
          <a:p>
            <a:pPr indent="0" marL="0">
              <a:buNone/>
            </a:pPr>
            <a:r>
              <a:rPr lang="en-US" sz="1500" b="1" dirty="0">
                <a:solidFill>
                  <a:schemeClr val="tx1"/>
                </a:solidFill>
              </a:rPr>
              <a:t>Zero-downtime rollouts</a:t>
            </a:r>
            <a:endParaRPr lang="en-US" sz="1500" dirty="0"/>
          </a:p>
        </p:txBody>
      </p:sp>
      <p:sp>
        <p:nvSpPr>
          <p:cNvPr id="6" name="Text 4"/>
          <p:cNvSpPr txBox="1"/>
          <p:nvPr/>
        </p:nvSpPr>
        <p:spPr>
          <a:xfrm>
            <a:off x="1188720" y="1527048"/>
            <a:ext cx="3200400" cy="384048"/>
          </a:xfrm>
          <a:prstGeom prst="rect">
            <a:avLst/>
          </a:prstGeom>
          <a:noFill/>
          <a:ln/>
        </p:spPr>
        <p:txBody>
          <a:bodyPr wrap="square" lIns="0" tIns="0" rIns="0" bIns="0" rtlCol="0" anchor="t"/>
          <a:lstStyle/>
          <a:p>
            <a:pPr indent="0" marL="0">
              <a:buNone/>
            </a:pPr>
            <a:r>
              <a:rPr lang="en-US" sz="1200" dirty="0">
                <a:solidFill>
                  <a:schemeClr val="accent5"/>
                </a:solidFill>
              </a:rPr>
              <a:t>maxUnavailable 0, plus a 5 s preStop pause</a:t>
            </a:r>
            <a:endParaRPr lang="en-US" sz="1200" dirty="0"/>
          </a:p>
        </p:txBody>
      </p:sp>
      <p:sp>
        <p:nvSpPr>
          <p:cNvPr id="7" name="helm The HPA owns replicas"/>
          <p:cNvSpPr/>
          <p:nvPr/>
        </p:nvSpPr>
        <p:spPr>
          <a:xfrm>
            <a:off x="4663440" y="1097280"/>
            <a:ext cx="4023360" cy="896112"/>
          </a:xfrm>
          <a:prstGeom prst="roundRect">
            <a:avLst>
              <a:gd name="adj" fmla="val 8163"/>
            </a:avLst>
          </a:prstGeom>
          <a:solidFill>
            <a:schemeClr val="bg2"/>
          </a:solidFill>
          <a:ln w="12700">
            <a:solidFill>
              <a:schemeClr val="bg2"/>
            </a:solidFill>
            <a:prstDash val="solid"/>
          </a:ln>
        </p:spPr>
      </p:sp>
      <p:sp>
        <p:nvSpPr>
          <p:cNvPr id="8" name="Text 6"/>
          <p:cNvSpPr txBox="1"/>
          <p:nvPr/>
        </p:nvSpPr>
        <p:spPr>
          <a:xfrm>
            <a:off x="4846320" y="1188720"/>
            <a:ext cx="502920" cy="713232"/>
          </a:xfrm>
          <a:prstGeom prst="rect">
            <a:avLst/>
          </a:prstGeom>
          <a:noFill/>
          <a:ln/>
        </p:spPr>
        <p:txBody>
          <a:bodyPr wrap="square" lIns="0" tIns="0" rIns="0" bIns="0" rtlCol="0" anchor="ctr"/>
          <a:lstStyle/>
          <a:p>
            <a:pPr indent="0" marL="0">
              <a:buNone/>
            </a:pPr>
            <a:r>
              <a:rPr lang="en-US" sz="3200" b="1" dirty="0">
                <a:solidFill>
                  <a:schemeClr val="accent1"/>
                </a:solidFill>
              </a:rPr>
              <a:t>2</a:t>
            </a:r>
            <a:endParaRPr lang="en-US" sz="3200" dirty="0"/>
          </a:p>
        </p:txBody>
      </p:sp>
      <p:sp>
        <p:nvSpPr>
          <p:cNvPr id="9" name="Text 7"/>
          <p:cNvSpPr txBox="1"/>
          <p:nvPr/>
        </p:nvSpPr>
        <p:spPr>
          <a:xfrm>
            <a:off x="5394960" y="1216152"/>
            <a:ext cx="3200400" cy="292608"/>
          </a:xfrm>
          <a:prstGeom prst="rect">
            <a:avLst/>
          </a:prstGeom>
          <a:noFill/>
          <a:ln/>
        </p:spPr>
        <p:txBody>
          <a:bodyPr wrap="square" lIns="0" tIns="0" rIns="0" bIns="0" rtlCol="0" anchor="t"/>
          <a:lstStyle/>
          <a:p>
            <a:pPr indent="0" marL="0">
              <a:buNone/>
            </a:pPr>
            <a:r>
              <a:rPr lang="en-US" sz="1500" b="1" dirty="0">
                <a:solidFill>
                  <a:schemeClr val="tx1"/>
                </a:solidFill>
              </a:rPr>
              <a:t>The HPA owns replicas</a:t>
            </a:r>
            <a:endParaRPr lang="en-US" sz="1500" dirty="0"/>
          </a:p>
        </p:txBody>
      </p:sp>
      <p:sp>
        <p:nvSpPr>
          <p:cNvPr id="10" name="Text 8"/>
          <p:cNvSpPr txBox="1"/>
          <p:nvPr/>
        </p:nvSpPr>
        <p:spPr>
          <a:xfrm>
            <a:off x="5394960" y="1527048"/>
            <a:ext cx="3200400" cy="384048"/>
          </a:xfrm>
          <a:prstGeom prst="rect">
            <a:avLst/>
          </a:prstGeom>
          <a:noFill/>
          <a:ln/>
        </p:spPr>
        <p:txBody>
          <a:bodyPr wrap="square" lIns="0" tIns="0" rIns="0" bIns="0" rtlCol="0" anchor="t"/>
          <a:lstStyle/>
          <a:p>
            <a:pPr indent="0" marL="0">
              <a:buNone/>
            </a:pPr>
            <a:r>
              <a:rPr lang="en-US" sz="1200" dirty="0">
                <a:solidFill>
                  <a:schemeClr val="accent5"/>
                </a:solidFill>
              </a:rPr>
              <a:t>the chart leaves replicas out, so nobody fights it</a:t>
            </a:r>
            <a:endParaRPr lang="en-US" sz="1200" dirty="0"/>
          </a:p>
        </p:txBody>
      </p:sp>
      <p:sp>
        <p:nvSpPr>
          <p:cNvPr id="11" name="helm Config change rolls pods"/>
          <p:cNvSpPr/>
          <p:nvPr/>
        </p:nvSpPr>
        <p:spPr>
          <a:xfrm>
            <a:off x="457200" y="2148840"/>
            <a:ext cx="4023360" cy="896112"/>
          </a:xfrm>
          <a:prstGeom prst="roundRect">
            <a:avLst>
              <a:gd name="adj" fmla="val 8163"/>
            </a:avLst>
          </a:prstGeom>
          <a:solidFill>
            <a:schemeClr val="bg2"/>
          </a:solidFill>
          <a:ln w="12700">
            <a:solidFill>
              <a:schemeClr val="bg2"/>
            </a:solidFill>
            <a:prstDash val="solid"/>
          </a:ln>
        </p:spPr>
      </p:sp>
      <p:sp>
        <p:nvSpPr>
          <p:cNvPr id="12" name="Text 10"/>
          <p:cNvSpPr txBox="1"/>
          <p:nvPr/>
        </p:nvSpPr>
        <p:spPr>
          <a:xfrm>
            <a:off x="640080" y="2240280"/>
            <a:ext cx="502920" cy="713232"/>
          </a:xfrm>
          <a:prstGeom prst="rect">
            <a:avLst/>
          </a:prstGeom>
          <a:noFill/>
          <a:ln/>
        </p:spPr>
        <p:txBody>
          <a:bodyPr wrap="square" lIns="0" tIns="0" rIns="0" bIns="0" rtlCol="0" anchor="ctr"/>
          <a:lstStyle/>
          <a:p>
            <a:pPr indent="0" marL="0">
              <a:buNone/>
            </a:pPr>
            <a:r>
              <a:rPr lang="en-US" sz="3200" b="1" dirty="0">
                <a:solidFill>
                  <a:schemeClr val="accent1"/>
                </a:solidFill>
              </a:rPr>
              <a:t>3</a:t>
            </a:r>
            <a:endParaRPr lang="en-US" sz="3200" dirty="0"/>
          </a:p>
        </p:txBody>
      </p:sp>
      <p:sp>
        <p:nvSpPr>
          <p:cNvPr id="13" name="Text 11"/>
          <p:cNvSpPr txBox="1"/>
          <p:nvPr/>
        </p:nvSpPr>
        <p:spPr>
          <a:xfrm>
            <a:off x="1188720" y="2267712"/>
            <a:ext cx="3200400" cy="292608"/>
          </a:xfrm>
          <a:prstGeom prst="rect">
            <a:avLst/>
          </a:prstGeom>
          <a:noFill/>
          <a:ln/>
        </p:spPr>
        <p:txBody>
          <a:bodyPr wrap="square" lIns="0" tIns="0" rIns="0" bIns="0" rtlCol="0" anchor="t"/>
          <a:lstStyle/>
          <a:p>
            <a:pPr indent="0" marL="0">
              <a:buNone/>
            </a:pPr>
            <a:r>
              <a:rPr lang="en-US" sz="1500" b="1" dirty="0">
                <a:solidFill>
                  <a:schemeClr val="tx1"/>
                </a:solidFill>
              </a:rPr>
              <a:t>Config change rolls pods</a:t>
            </a:r>
            <a:endParaRPr lang="en-US" sz="1500" dirty="0"/>
          </a:p>
        </p:txBody>
      </p:sp>
      <p:sp>
        <p:nvSpPr>
          <p:cNvPr id="14" name="Text 12"/>
          <p:cNvSpPr txBox="1"/>
          <p:nvPr/>
        </p:nvSpPr>
        <p:spPr>
          <a:xfrm>
            <a:off x="1188720" y="2578608"/>
            <a:ext cx="3200400" cy="384048"/>
          </a:xfrm>
          <a:prstGeom prst="rect">
            <a:avLst/>
          </a:prstGeom>
          <a:noFill/>
          <a:ln/>
        </p:spPr>
        <p:txBody>
          <a:bodyPr wrap="square" lIns="0" tIns="0" rIns="0" bIns="0" rtlCol="0" anchor="t"/>
          <a:lstStyle/>
          <a:p>
            <a:pPr indent="0" marL="0">
              <a:buNone/>
            </a:pPr>
            <a:r>
              <a:rPr lang="en-US" sz="1200" dirty="0">
                <a:solidFill>
                  <a:schemeClr val="accent5"/>
                </a:solidFill>
              </a:rPr>
              <a:t>a checksum of the ConfigMap is in the pod template</a:t>
            </a:r>
            <a:endParaRPr lang="en-US" sz="1200" dirty="0"/>
          </a:p>
        </p:txBody>
      </p:sp>
      <p:sp>
        <p:nvSpPr>
          <p:cNvPr id="15" name="helm No password in the chart"/>
          <p:cNvSpPr/>
          <p:nvPr/>
        </p:nvSpPr>
        <p:spPr>
          <a:xfrm>
            <a:off x="4663440" y="2148840"/>
            <a:ext cx="4023360" cy="896112"/>
          </a:xfrm>
          <a:prstGeom prst="roundRect">
            <a:avLst>
              <a:gd name="adj" fmla="val 8163"/>
            </a:avLst>
          </a:prstGeom>
          <a:solidFill>
            <a:schemeClr val="bg2"/>
          </a:solidFill>
          <a:ln w="12700">
            <a:solidFill>
              <a:schemeClr val="bg2"/>
            </a:solidFill>
            <a:prstDash val="solid"/>
          </a:ln>
        </p:spPr>
      </p:sp>
      <p:sp>
        <p:nvSpPr>
          <p:cNvPr id="16" name="Text 14"/>
          <p:cNvSpPr txBox="1"/>
          <p:nvPr/>
        </p:nvSpPr>
        <p:spPr>
          <a:xfrm>
            <a:off x="4846320" y="2240280"/>
            <a:ext cx="502920" cy="713232"/>
          </a:xfrm>
          <a:prstGeom prst="rect">
            <a:avLst/>
          </a:prstGeom>
          <a:noFill/>
          <a:ln/>
        </p:spPr>
        <p:txBody>
          <a:bodyPr wrap="square" lIns="0" tIns="0" rIns="0" bIns="0" rtlCol="0" anchor="ctr"/>
          <a:lstStyle/>
          <a:p>
            <a:pPr indent="0" marL="0">
              <a:buNone/>
            </a:pPr>
            <a:r>
              <a:rPr lang="en-US" sz="3200" b="1" dirty="0">
                <a:solidFill>
                  <a:schemeClr val="accent1"/>
                </a:solidFill>
              </a:rPr>
              <a:t>4</a:t>
            </a:r>
            <a:endParaRPr lang="en-US" sz="3200" dirty="0"/>
          </a:p>
        </p:txBody>
      </p:sp>
      <p:sp>
        <p:nvSpPr>
          <p:cNvPr id="17" name="Text 15"/>
          <p:cNvSpPr txBox="1"/>
          <p:nvPr/>
        </p:nvSpPr>
        <p:spPr>
          <a:xfrm>
            <a:off x="5394960" y="2267712"/>
            <a:ext cx="3200400" cy="292608"/>
          </a:xfrm>
          <a:prstGeom prst="rect">
            <a:avLst/>
          </a:prstGeom>
          <a:noFill/>
          <a:ln/>
        </p:spPr>
        <p:txBody>
          <a:bodyPr wrap="square" lIns="0" tIns="0" rIns="0" bIns="0" rtlCol="0" anchor="t"/>
          <a:lstStyle/>
          <a:p>
            <a:pPr indent="0" marL="0">
              <a:buNone/>
            </a:pPr>
            <a:r>
              <a:rPr lang="en-US" sz="1500" b="1" dirty="0">
                <a:solidFill>
                  <a:schemeClr val="tx1"/>
                </a:solidFill>
              </a:rPr>
              <a:t>No password in the chart</a:t>
            </a:r>
            <a:endParaRPr lang="en-US" sz="1500" dirty="0"/>
          </a:p>
        </p:txBody>
      </p:sp>
      <p:sp>
        <p:nvSpPr>
          <p:cNvPr id="18" name="Text 16"/>
          <p:cNvSpPr txBox="1"/>
          <p:nvPr/>
        </p:nvSpPr>
        <p:spPr>
          <a:xfrm>
            <a:off x="5394960" y="2578608"/>
            <a:ext cx="3200400" cy="384048"/>
          </a:xfrm>
          <a:prstGeom prst="rect">
            <a:avLst/>
          </a:prstGeom>
          <a:noFill/>
          <a:ln/>
        </p:spPr>
        <p:txBody>
          <a:bodyPr wrap="square" lIns="0" tIns="0" rIns="0" bIns="0" rtlCol="0" anchor="t"/>
          <a:lstStyle/>
          <a:p>
            <a:pPr indent="0" marL="0">
              <a:buNone/>
            </a:pPr>
            <a:r>
              <a:rPr lang="en-US" sz="1200" dirty="0">
                <a:solidFill>
                  <a:schemeClr val="accent5"/>
                </a:solidFill>
              </a:rPr>
              <a:t>it only names an existing Secret</a:t>
            </a:r>
            <a:endParaRPr lang="en-US" sz="1200" dirty="0"/>
          </a:p>
        </p:txBody>
      </p:sp>
      <p:sp>
        <p:nvSpPr>
          <p:cNvPr id="19" name="helm Commit SHAs only"/>
          <p:cNvSpPr/>
          <p:nvPr/>
        </p:nvSpPr>
        <p:spPr>
          <a:xfrm>
            <a:off x="457200" y="3200400"/>
            <a:ext cx="4023360" cy="896112"/>
          </a:xfrm>
          <a:prstGeom prst="roundRect">
            <a:avLst>
              <a:gd name="adj" fmla="val 8163"/>
            </a:avLst>
          </a:prstGeom>
          <a:solidFill>
            <a:schemeClr val="bg2"/>
          </a:solidFill>
          <a:ln w="12700">
            <a:solidFill>
              <a:schemeClr val="bg2"/>
            </a:solidFill>
            <a:prstDash val="solid"/>
          </a:ln>
        </p:spPr>
      </p:sp>
      <p:sp>
        <p:nvSpPr>
          <p:cNvPr id="20" name="Text 18"/>
          <p:cNvSpPr txBox="1"/>
          <p:nvPr/>
        </p:nvSpPr>
        <p:spPr>
          <a:xfrm>
            <a:off x="640080" y="3291840"/>
            <a:ext cx="502920" cy="713232"/>
          </a:xfrm>
          <a:prstGeom prst="rect">
            <a:avLst/>
          </a:prstGeom>
          <a:noFill/>
          <a:ln/>
        </p:spPr>
        <p:txBody>
          <a:bodyPr wrap="square" lIns="0" tIns="0" rIns="0" bIns="0" rtlCol="0" anchor="ctr"/>
          <a:lstStyle/>
          <a:p>
            <a:pPr indent="0" marL="0">
              <a:buNone/>
            </a:pPr>
            <a:r>
              <a:rPr lang="en-US" sz="3200" b="1" dirty="0">
                <a:solidFill>
                  <a:schemeClr val="accent1"/>
                </a:solidFill>
              </a:rPr>
              <a:t>5</a:t>
            </a:r>
            <a:endParaRPr lang="en-US" sz="3200" dirty="0"/>
          </a:p>
        </p:txBody>
      </p:sp>
      <p:sp>
        <p:nvSpPr>
          <p:cNvPr id="21" name="Text 19"/>
          <p:cNvSpPr txBox="1"/>
          <p:nvPr/>
        </p:nvSpPr>
        <p:spPr>
          <a:xfrm>
            <a:off x="1188720" y="3319272"/>
            <a:ext cx="3200400" cy="292608"/>
          </a:xfrm>
          <a:prstGeom prst="rect">
            <a:avLst/>
          </a:prstGeom>
          <a:noFill/>
          <a:ln/>
        </p:spPr>
        <p:txBody>
          <a:bodyPr wrap="square" lIns="0" tIns="0" rIns="0" bIns="0" rtlCol="0" anchor="t"/>
          <a:lstStyle/>
          <a:p>
            <a:pPr indent="0" marL="0">
              <a:buNone/>
            </a:pPr>
            <a:r>
              <a:rPr lang="en-US" sz="1500" b="1" dirty="0">
                <a:solidFill>
                  <a:schemeClr val="tx1"/>
                </a:solidFill>
              </a:rPr>
              <a:t>Commit SHAs only</a:t>
            </a:r>
            <a:endParaRPr lang="en-US" sz="1500" dirty="0"/>
          </a:p>
        </p:txBody>
      </p:sp>
      <p:sp>
        <p:nvSpPr>
          <p:cNvPr id="22" name="Text 20"/>
          <p:cNvSpPr txBox="1"/>
          <p:nvPr/>
        </p:nvSpPr>
        <p:spPr>
          <a:xfrm>
            <a:off x="1188720" y="3630168"/>
            <a:ext cx="3200400" cy="384048"/>
          </a:xfrm>
          <a:prstGeom prst="rect">
            <a:avLst/>
          </a:prstGeom>
          <a:noFill/>
          <a:ln/>
        </p:spPr>
        <p:txBody>
          <a:bodyPr wrap="square" lIns="0" tIns="0" rIns="0" bIns="0" rtlCol="0" anchor="t"/>
          <a:lstStyle/>
          <a:p>
            <a:pPr indent="0" marL="0">
              <a:buNone/>
            </a:pPr>
            <a:r>
              <a:rPr lang="en-US" sz="1200" dirty="0">
                <a:solidFill>
                  <a:schemeClr val="accent5"/>
                </a:solidFill>
              </a:rPr>
              <a:t>images.tag=latest makes the chart refuse to render</a:t>
            </a:r>
            <a:endParaRPr lang="en-US" sz="1200" dirty="0"/>
          </a:p>
        </p:txBody>
      </p:sp>
      <p:sp>
        <p:nvSpPr>
          <p:cNvPr id="23" name="helm Migrations before start"/>
          <p:cNvSpPr/>
          <p:nvPr/>
        </p:nvSpPr>
        <p:spPr>
          <a:xfrm>
            <a:off x="4663440" y="3200400"/>
            <a:ext cx="4023360" cy="896112"/>
          </a:xfrm>
          <a:prstGeom prst="roundRect">
            <a:avLst>
              <a:gd name="adj" fmla="val 8163"/>
            </a:avLst>
          </a:prstGeom>
          <a:solidFill>
            <a:schemeClr val="bg2"/>
          </a:solidFill>
          <a:ln w="12700">
            <a:solidFill>
              <a:schemeClr val="bg2"/>
            </a:solidFill>
            <a:prstDash val="solid"/>
          </a:ln>
        </p:spPr>
      </p:sp>
      <p:sp>
        <p:nvSpPr>
          <p:cNvPr id="24" name="Text 22"/>
          <p:cNvSpPr txBox="1"/>
          <p:nvPr/>
        </p:nvSpPr>
        <p:spPr>
          <a:xfrm>
            <a:off x="4846320" y="3291840"/>
            <a:ext cx="502920" cy="713232"/>
          </a:xfrm>
          <a:prstGeom prst="rect">
            <a:avLst/>
          </a:prstGeom>
          <a:noFill/>
          <a:ln/>
        </p:spPr>
        <p:txBody>
          <a:bodyPr wrap="square" lIns="0" tIns="0" rIns="0" bIns="0" rtlCol="0" anchor="ctr"/>
          <a:lstStyle/>
          <a:p>
            <a:pPr indent="0" marL="0">
              <a:buNone/>
            </a:pPr>
            <a:r>
              <a:rPr lang="en-US" sz="3200" b="1" dirty="0">
                <a:solidFill>
                  <a:schemeClr val="accent1"/>
                </a:solidFill>
              </a:rPr>
              <a:t>6</a:t>
            </a:r>
            <a:endParaRPr lang="en-US" sz="3200" dirty="0"/>
          </a:p>
        </p:txBody>
      </p:sp>
      <p:sp>
        <p:nvSpPr>
          <p:cNvPr id="25" name="Text 23"/>
          <p:cNvSpPr txBox="1"/>
          <p:nvPr/>
        </p:nvSpPr>
        <p:spPr>
          <a:xfrm>
            <a:off x="5394960" y="3319272"/>
            <a:ext cx="3200400" cy="292608"/>
          </a:xfrm>
          <a:prstGeom prst="rect">
            <a:avLst/>
          </a:prstGeom>
          <a:noFill/>
          <a:ln/>
        </p:spPr>
        <p:txBody>
          <a:bodyPr wrap="square" lIns="0" tIns="0" rIns="0" bIns="0" rtlCol="0" anchor="t"/>
          <a:lstStyle/>
          <a:p>
            <a:pPr indent="0" marL="0">
              <a:buNone/>
            </a:pPr>
            <a:r>
              <a:rPr lang="en-US" sz="1500" b="1" dirty="0">
                <a:solidFill>
                  <a:schemeClr val="tx1"/>
                </a:solidFill>
              </a:rPr>
              <a:t>Migrations before start</a:t>
            </a:r>
            <a:endParaRPr lang="en-US" sz="1500" dirty="0"/>
          </a:p>
        </p:txBody>
      </p:sp>
      <p:sp>
        <p:nvSpPr>
          <p:cNvPr id="26" name="Text 24"/>
          <p:cNvSpPr txBox="1"/>
          <p:nvPr/>
        </p:nvSpPr>
        <p:spPr>
          <a:xfrm>
            <a:off x="5394960" y="3630168"/>
            <a:ext cx="3200400" cy="384048"/>
          </a:xfrm>
          <a:prstGeom prst="rect">
            <a:avLst/>
          </a:prstGeom>
          <a:noFill/>
          <a:ln/>
        </p:spPr>
        <p:txBody>
          <a:bodyPr wrap="square" lIns="0" tIns="0" rIns="0" bIns="0" rtlCol="0" anchor="t"/>
          <a:lstStyle/>
          <a:p>
            <a:pPr indent="0" marL="0">
              <a:buNone/>
            </a:pPr>
            <a:r>
              <a:rPr lang="en-US" sz="1200" dirty="0">
                <a:solidFill>
                  <a:schemeClr val="accent5"/>
                </a:solidFill>
              </a:rPr>
              <a:t>init container + Postgres advisory lock</a:t>
            </a:r>
            <a:endParaRPr lang="en-US" sz="1200" dirty="0"/>
          </a:p>
        </p:txBody>
      </p:sp>
      <p:sp>
        <p:nvSpPr>
          <p:cNvPr id="27" name="Text 25"/>
          <p:cNvSpPr txBox="1"/>
          <p:nvPr/>
        </p:nvSpPr>
        <p:spPr>
          <a:xfrm>
            <a:off x="457200" y="4224528"/>
            <a:ext cx="8229600" cy="274320"/>
          </a:xfrm>
          <a:prstGeom prst="rect">
            <a:avLst/>
          </a:prstGeom>
          <a:noFill/>
          <a:ln/>
        </p:spPr>
        <p:txBody>
          <a:bodyPr wrap="square" lIns="0" tIns="0" rIns="0" bIns="0" rtlCol="0" anchor="t"/>
          <a:lstStyle/>
          <a:p>
            <a:pPr indent="0" marL="0">
              <a:buNone/>
            </a:pPr>
            <a:r>
              <a:rPr lang="en-US" sz="1200" dirty="0">
                <a:solidFill>
                  <a:schemeClr val="accent5"/>
                </a:solidFill>
                <a:latin typeface="Consolas" pitchFamily="34" charset="0"/>
                <a:ea typeface="Consolas" pitchFamily="34" charset="-122"/>
                <a:cs typeface="Consolas" pitchFamily="34" charset="-120"/>
              </a:rPr>
              <a:t>helm test: 4 checks from inside the cluster, all passed</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indent="0" marL="0">
              <a:buNone/>
            </a:pPr>
            <a:r>
              <a:rPr lang="en-US" sz="3600" b="1" dirty="0">
                <a:solidFill>
                  <a:schemeClr val="tx1"/>
                </a:solidFill>
              </a:rPr>
              <a:t>Autoscaling under real load</a:t>
            </a:r>
            <a:endParaRPr lang="en-US" sz="3600" dirty="0"/>
          </a:p>
        </p:txBody>
      </p:sp>
      <p:graphicFrame>
        <p:nvGraphicFramePr>
          <p:cNvPr id="3" name="hpa chart" descr=""/>
          <p:cNvGraphicFramePr/>
          <p:nvPr/>
        </p:nvGraphicFramePr>
        <p:xfrm>
          <a:off x="457200" y="1051560"/>
          <a:ext cx="4846320" cy="3200400"/>
        </p:xfrm>
        <a:graphic xmlns:a="http://schemas.openxmlformats.org/drawingml/2006/main">
          <a:graphicData uri="http://schemas.openxmlformats.org/drawingml/2006/chart">
            <c:chart xmlns:c="http://schemas.openxmlformats.org/drawingml/2006/chart" r:id="rId1"/>
          </a:graphicData>
        </a:graphic>
      </p:graphicFrame>
      <p:sp>
        <p:nvSpPr>
          <p:cNvPr id="4" name="stat pods in about 35 seconds"/>
          <p:cNvSpPr/>
          <p:nvPr/>
        </p:nvSpPr>
        <p:spPr>
          <a:xfrm>
            <a:off x="5577840" y="1097280"/>
            <a:ext cx="3108960" cy="914400"/>
          </a:xfrm>
          <a:prstGeom prst="roundRect">
            <a:avLst>
              <a:gd name="adj" fmla="val 8000"/>
            </a:avLst>
          </a:prstGeom>
          <a:solidFill>
            <a:srgbClr val="E6F4F1"/>
          </a:solidFill>
          <a:ln w="12700">
            <a:solidFill>
              <a:srgbClr val="E6F4F1"/>
            </a:solidFill>
            <a:prstDash val="solid"/>
          </a:ln>
        </p:spPr>
      </p:sp>
      <p:sp>
        <p:nvSpPr>
          <p:cNvPr id="5" name="Text 2"/>
          <p:cNvSpPr txBox="1"/>
          <p:nvPr/>
        </p:nvSpPr>
        <p:spPr>
          <a:xfrm>
            <a:off x="5715000" y="1152144"/>
            <a:ext cx="2834640" cy="502920"/>
          </a:xfrm>
          <a:prstGeom prst="rect">
            <a:avLst/>
          </a:prstGeom>
          <a:noFill/>
          <a:ln/>
        </p:spPr>
        <p:txBody>
          <a:bodyPr wrap="square" lIns="0" tIns="0" rIns="0" bIns="0" rtlCol="0" anchor="t"/>
          <a:lstStyle/>
          <a:p>
            <a:pPr indent="0" marL="0">
              <a:buNone/>
            </a:pPr>
            <a:r>
              <a:rPr lang="en-US" sz="3000" b="1" dirty="0">
                <a:solidFill>
                  <a:schemeClr val="accent1"/>
                </a:solidFill>
              </a:rPr>
              <a:t>2 → 6</a:t>
            </a:r>
            <a:endParaRPr lang="en-US" sz="3000" dirty="0"/>
          </a:p>
        </p:txBody>
      </p:sp>
      <p:sp>
        <p:nvSpPr>
          <p:cNvPr id="6" name="Text 3"/>
          <p:cNvSpPr txBox="1"/>
          <p:nvPr/>
        </p:nvSpPr>
        <p:spPr>
          <a:xfrm>
            <a:off x="5715000" y="1645920"/>
            <a:ext cx="2834640" cy="292608"/>
          </a:xfrm>
          <a:prstGeom prst="rect">
            <a:avLst/>
          </a:prstGeom>
          <a:noFill/>
          <a:ln/>
        </p:spPr>
        <p:txBody>
          <a:bodyPr wrap="square" lIns="0" tIns="0" rIns="0" bIns="0" rtlCol="0" anchor="t"/>
          <a:lstStyle/>
          <a:p>
            <a:pPr indent="0" marL="0">
              <a:buNone/>
            </a:pPr>
            <a:r>
              <a:rPr lang="en-US" sz="1200" dirty="0">
                <a:solidFill>
                  <a:schemeClr val="tx1"/>
                </a:solidFill>
              </a:rPr>
              <a:t>pods in about 35 seconds</a:t>
            </a:r>
            <a:endParaRPr lang="en-US" sz="1200" dirty="0"/>
          </a:p>
        </p:txBody>
      </p:sp>
      <p:sp>
        <p:nvSpPr>
          <p:cNvPr id="7" name="stat failed requests, after fixing a bug it exposed"/>
          <p:cNvSpPr/>
          <p:nvPr/>
        </p:nvSpPr>
        <p:spPr>
          <a:xfrm>
            <a:off x="5577840" y="2148840"/>
            <a:ext cx="3108960" cy="914400"/>
          </a:xfrm>
          <a:prstGeom prst="roundRect">
            <a:avLst>
              <a:gd name="adj" fmla="val 8000"/>
            </a:avLst>
          </a:prstGeom>
          <a:solidFill>
            <a:srgbClr val="FEF2F2"/>
          </a:solidFill>
          <a:ln w="12700">
            <a:solidFill>
              <a:srgbClr val="FEF2F2"/>
            </a:solidFill>
            <a:prstDash val="solid"/>
          </a:ln>
        </p:spPr>
      </p:sp>
      <p:sp>
        <p:nvSpPr>
          <p:cNvPr id="8" name="Text 5"/>
          <p:cNvSpPr txBox="1"/>
          <p:nvPr/>
        </p:nvSpPr>
        <p:spPr>
          <a:xfrm>
            <a:off x="5715000" y="2203704"/>
            <a:ext cx="2834640" cy="502920"/>
          </a:xfrm>
          <a:prstGeom prst="rect">
            <a:avLst/>
          </a:prstGeom>
          <a:noFill/>
          <a:ln/>
        </p:spPr>
        <p:txBody>
          <a:bodyPr wrap="square" lIns="0" tIns="0" rIns="0" bIns="0" rtlCol="0" anchor="t"/>
          <a:lstStyle/>
          <a:p>
            <a:pPr indent="0" marL="0">
              <a:buNone/>
            </a:pPr>
            <a:r>
              <a:rPr lang="en-US" sz="3000" b="1" dirty="0">
                <a:solidFill>
                  <a:schemeClr val="accent4"/>
                </a:solidFill>
              </a:rPr>
              <a:t>409 → 0</a:t>
            </a:r>
            <a:endParaRPr lang="en-US" sz="3000" dirty="0"/>
          </a:p>
        </p:txBody>
      </p:sp>
      <p:sp>
        <p:nvSpPr>
          <p:cNvPr id="9" name="Text 6"/>
          <p:cNvSpPr txBox="1"/>
          <p:nvPr/>
        </p:nvSpPr>
        <p:spPr>
          <a:xfrm>
            <a:off x="5715000" y="2697480"/>
            <a:ext cx="2834640" cy="292608"/>
          </a:xfrm>
          <a:prstGeom prst="rect">
            <a:avLst/>
          </a:prstGeom>
          <a:noFill/>
          <a:ln/>
        </p:spPr>
        <p:txBody>
          <a:bodyPr wrap="square" lIns="0" tIns="0" rIns="0" bIns="0" rtlCol="0" anchor="t"/>
          <a:lstStyle/>
          <a:p>
            <a:pPr indent="0" marL="0">
              <a:buNone/>
            </a:pPr>
            <a:r>
              <a:rPr lang="en-US" sz="1200" dirty="0">
                <a:solidFill>
                  <a:schemeClr val="tx1"/>
                </a:solidFill>
              </a:rPr>
              <a:t>failed requests, after fixing a bug it exposed</a:t>
            </a:r>
            <a:endParaRPr lang="en-US" sz="1200" dirty="0"/>
          </a:p>
        </p:txBody>
      </p:sp>
      <p:sp>
        <p:nvSpPr>
          <p:cNvPr id="10" name="stat requests per second"/>
          <p:cNvSpPr/>
          <p:nvPr/>
        </p:nvSpPr>
        <p:spPr>
          <a:xfrm>
            <a:off x="5577840" y="3200400"/>
            <a:ext cx="3108960" cy="914400"/>
          </a:xfrm>
          <a:prstGeom prst="roundRect">
            <a:avLst>
              <a:gd name="adj" fmla="val 8000"/>
            </a:avLst>
          </a:prstGeom>
          <a:solidFill>
            <a:srgbClr val="E6F4F1"/>
          </a:solidFill>
          <a:ln w="12700">
            <a:solidFill>
              <a:srgbClr val="E6F4F1"/>
            </a:solidFill>
            <a:prstDash val="solid"/>
          </a:ln>
        </p:spPr>
      </p:sp>
      <p:sp>
        <p:nvSpPr>
          <p:cNvPr id="11" name="Text 8"/>
          <p:cNvSpPr txBox="1"/>
          <p:nvPr/>
        </p:nvSpPr>
        <p:spPr>
          <a:xfrm>
            <a:off x="5715000" y="3255264"/>
            <a:ext cx="2834640" cy="502920"/>
          </a:xfrm>
          <a:prstGeom prst="rect">
            <a:avLst/>
          </a:prstGeom>
          <a:noFill/>
          <a:ln/>
        </p:spPr>
        <p:txBody>
          <a:bodyPr wrap="square" lIns="0" tIns="0" rIns="0" bIns="0" rtlCol="0" anchor="t"/>
          <a:lstStyle/>
          <a:p>
            <a:pPr indent="0" marL="0">
              <a:buNone/>
            </a:pPr>
            <a:r>
              <a:rPr lang="en-US" sz="3000" b="1" dirty="0">
                <a:solidFill>
                  <a:schemeClr val="accent1"/>
                </a:solidFill>
              </a:rPr>
              <a:t>88 → 138</a:t>
            </a:r>
            <a:endParaRPr lang="en-US" sz="3000" dirty="0"/>
          </a:p>
        </p:txBody>
      </p:sp>
      <p:sp>
        <p:nvSpPr>
          <p:cNvPr id="12" name="Text 9"/>
          <p:cNvSpPr txBox="1"/>
          <p:nvPr/>
        </p:nvSpPr>
        <p:spPr>
          <a:xfrm>
            <a:off x="5715000" y="3749040"/>
            <a:ext cx="2834640" cy="292608"/>
          </a:xfrm>
          <a:prstGeom prst="rect">
            <a:avLst/>
          </a:prstGeom>
          <a:noFill/>
          <a:ln/>
        </p:spPr>
        <p:txBody>
          <a:bodyPr wrap="square" lIns="0" tIns="0" rIns="0" bIns="0" rtlCol="0" anchor="t"/>
          <a:lstStyle/>
          <a:p>
            <a:pPr indent="0" marL="0">
              <a:buNone/>
            </a:pPr>
            <a:r>
              <a:rPr lang="en-US" sz="1200" dirty="0">
                <a:solidFill>
                  <a:schemeClr val="tx1"/>
                </a:solidFill>
              </a:rPr>
              <a:t>requests per second</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indent="0" marL="0">
              <a:buNone/>
            </a:pPr>
            <a:r>
              <a:rPr lang="en-US" sz="3600" b="1" dirty="0">
                <a:solidFill>
                  <a:schemeClr val="tx1"/>
                </a:solidFill>
              </a:rPr>
              <a:t>Terraform: AWS VPC + EKS</a:t>
            </a:r>
            <a:endParaRPr lang="en-US" sz="3600" dirty="0"/>
          </a:p>
        </p:txBody>
      </p:sp>
      <p:sp>
        <p:nvSpPr>
          <p:cNvPr id="3" name="vpc"/>
          <p:cNvSpPr/>
          <p:nvPr/>
        </p:nvSpPr>
        <p:spPr>
          <a:xfrm>
            <a:off x="457200" y="1051560"/>
            <a:ext cx="4754880" cy="3291840"/>
          </a:xfrm>
          <a:prstGeom prst="roundRect">
            <a:avLst>
              <a:gd name="adj" fmla="val 2222"/>
            </a:avLst>
          </a:prstGeom>
          <a:solidFill>
            <a:srgbClr val="EFF6F5"/>
          </a:solidFill>
          <a:ln w="12700">
            <a:solidFill>
              <a:srgbClr val="EFF6F5"/>
            </a:solidFill>
            <a:prstDash val="solid"/>
          </a:ln>
        </p:spPr>
      </p:sp>
      <p:sp>
        <p:nvSpPr>
          <p:cNvPr id="4" name="Text 2"/>
          <p:cNvSpPr txBox="1"/>
          <p:nvPr/>
        </p:nvSpPr>
        <p:spPr>
          <a:xfrm>
            <a:off x="594360" y="1115568"/>
            <a:ext cx="4572000" cy="274320"/>
          </a:xfrm>
          <a:prstGeom prst="rect">
            <a:avLst/>
          </a:prstGeom>
          <a:noFill/>
          <a:ln/>
        </p:spPr>
        <p:txBody>
          <a:bodyPr wrap="square" lIns="0" tIns="0" rIns="0" bIns="0" rtlCol="0" anchor="t"/>
          <a:lstStyle/>
          <a:p>
            <a:pPr indent="0" marL="0">
              <a:buNone/>
            </a:pPr>
            <a:r>
              <a:rPr lang="en-US" sz="1300" b="1" dirty="0">
                <a:solidFill>
                  <a:schemeClr val="accent1"/>
                </a:solidFill>
              </a:rPr>
              <a:t>VPC 10.20.0.0/16 · ap-south-1</a:t>
            </a:r>
            <a:endParaRPr lang="en-US" sz="1300" dirty="0"/>
          </a:p>
        </p:txBody>
      </p:sp>
      <p:sp>
        <p:nvSpPr>
          <p:cNvPr id="5" name="az ap-south-1a"/>
          <p:cNvSpPr/>
          <p:nvPr/>
        </p:nvSpPr>
        <p:spPr>
          <a:xfrm>
            <a:off x="640080" y="1463040"/>
            <a:ext cx="2103120" cy="2194560"/>
          </a:xfrm>
          <a:prstGeom prst="roundRect">
            <a:avLst>
              <a:gd name="adj" fmla="val 2174"/>
            </a:avLst>
          </a:prstGeom>
          <a:solidFill>
            <a:srgbClr val="FFFFFF"/>
          </a:solidFill>
          <a:ln w="12700">
            <a:solidFill>
              <a:srgbClr val="E2E8F0"/>
            </a:solidFill>
            <a:prstDash val="dash"/>
          </a:ln>
        </p:spPr>
      </p:sp>
      <p:sp>
        <p:nvSpPr>
          <p:cNvPr id="6" name="Text 4"/>
          <p:cNvSpPr txBox="1"/>
          <p:nvPr/>
        </p:nvSpPr>
        <p:spPr>
          <a:xfrm>
            <a:off x="731520" y="1508760"/>
            <a:ext cx="1920240" cy="228600"/>
          </a:xfrm>
          <a:prstGeom prst="rect">
            <a:avLst/>
          </a:prstGeom>
          <a:noFill/>
          <a:ln/>
        </p:spPr>
        <p:txBody>
          <a:bodyPr wrap="square" lIns="0" tIns="0" rIns="0" bIns="0" rtlCol="0" anchor="t"/>
          <a:lstStyle/>
          <a:p>
            <a:pPr indent="0" marL="0">
              <a:buNone/>
            </a:pPr>
            <a:r>
              <a:rPr lang="en-US" sz="1100" dirty="0">
                <a:solidFill>
                  <a:schemeClr val="accent5"/>
                </a:solidFill>
              </a:rPr>
              <a:t>ap-south-1a</a:t>
            </a:r>
            <a:endParaRPr lang="en-US" sz="1100" dirty="0"/>
          </a:p>
        </p:txBody>
      </p:sp>
      <p:sp>
        <p:nvSpPr>
          <p:cNvPr id="7" name="public ap-south-1a"/>
          <p:cNvSpPr/>
          <p:nvPr/>
        </p:nvSpPr>
        <p:spPr>
          <a:xfrm>
            <a:off x="749808" y="1783080"/>
            <a:ext cx="1883664" cy="731520"/>
          </a:xfrm>
          <a:prstGeom prst="roundRect">
            <a:avLst>
              <a:gd name="adj" fmla="val 6250"/>
            </a:avLst>
          </a:prstGeom>
          <a:solidFill>
            <a:srgbClr val="CCFBF1"/>
          </a:solidFill>
          <a:ln w="12700">
            <a:solidFill>
              <a:srgbClr val="CCFBF1"/>
            </a:solidFill>
            <a:prstDash val="solid"/>
          </a:ln>
        </p:spPr>
      </p:sp>
      <p:sp>
        <p:nvSpPr>
          <p:cNvPr id="8" name="Text 6"/>
          <p:cNvSpPr txBox="1"/>
          <p:nvPr/>
        </p:nvSpPr>
        <p:spPr>
          <a:xfrm>
            <a:off x="822960" y="1828800"/>
            <a:ext cx="1737360" cy="640080"/>
          </a:xfrm>
          <a:prstGeom prst="rect">
            <a:avLst/>
          </a:prstGeom>
          <a:noFill/>
          <a:ln/>
        </p:spPr>
        <p:txBody>
          <a:bodyPr wrap="square" lIns="0" tIns="0" rIns="0" bIns="0" rtlCol="0" anchor="t"/>
          <a:lstStyle/>
          <a:p>
            <a:pPr indent="0" marL="0">
              <a:buNone/>
            </a:pPr>
            <a:r>
              <a:rPr lang="en-US" sz="1100" b="1" dirty="0">
                <a:solidFill>
                  <a:schemeClr val="tx1"/>
                </a:solidFill>
              </a:rPr>
              <a:t>Public subnet</a:t>
            </a:r>
            <a:endParaRPr lang="en-US" sz="1100" dirty="0"/>
          </a:p>
          <a:p>
            <a:pPr indent="0" marL="0">
              <a:buNone/>
            </a:pPr>
            <a:r>
              <a:rPr lang="en-US" sz="1100" dirty="0">
                <a:solidFill>
                  <a:schemeClr val="tx1"/>
                </a:solidFill>
              </a:rPr>
              <a:t>NAT gateway, load balancers</a:t>
            </a:r>
            <a:endParaRPr lang="en-US" sz="1100" dirty="0"/>
          </a:p>
        </p:txBody>
      </p:sp>
      <p:sp>
        <p:nvSpPr>
          <p:cNvPr id="9" name="private ap-south-1a"/>
          <p:cNvSpPr/>
          <p:nvPr/>
        </p:nvSpPr>
        <p:spPr>
          <a:xfrm>
            <a:off x="749808" y="2651760"/>
            <a:ext cx="1883664" cy="868680"/>
          </a:xfrm>
          <a:prstGeom prst="roundRect">
            <a:avLst>
              <a:gd name="adj" fmla="val 5263"/>
            </a:avLst>
          </a:prstGeom>
          <a:solidFill>
            <a:srgbClr val="0F766E"/>
          </a:solidFill>
          <a:ln w="12700">
            <a:solidFill>
              <a:srgbClr val="0F766E"/>
            </a:solidFill>
            <a:prstDash val="solid"/>
          </a:ln>
        </p:spPr>
      </p:sp>
      <p:sp>
        <p:nvSpPr>
          <p:cNvPr id="10" name="Text 8"/>
          <p:cNvSpPr txBox="1"/>
          <p:nvPr/>
        </p:nvSpPr>
        <p:spPr>
          <a:xfrm>
            <a:off x="822960" y="2697480"/>
            <a:ext cx="1737360" cy="777240"/>
          </a:xfrm>
          <a:prstGeom prst="rect">
            <a:avLst/>
          </a:prstGeom>
          <a:noFill/>
          <a:ln/>
        </p:spPr>
        <p:txBody>
          <a:bodyPr wrap="square" lIns="0" tIns="0" rIns="0" bIns="0" rtlCol="0" anchor="t"/>
          <a:lstStyle/>
          <a:p>
            <a:pPr indent="0" marL="0">
              <a:buNone/>
            </a:pPr>
            <a:r>
              <a:rPr lang="en-US" sz="1100" b="1" dirty="0">
                <a:solidFill>
                  <a:schemeClr val="bg1"/>
                </a:solidFill>
              </a:rPr>
              <a:t>Private subnet</a:t>
            </a:r>
            <a:endParaRPr lang="en-US" sz="1100" dirty="0"/>
          </a:p>
          <a:p>
            <a:pPr indent="0" marL="0">
              <a:buNone/>
            </a:pPr>
            <a:r>
              <a:rPr lang="en-US" sz="1100" dirty="0">
                <a:solidFill>
                  <a:schemeClr val="bg1"/>
                </a:solidFill>
              </a:rPr>
              <a:t>EKS nodes, no public IP</a:t>
            </a:r>
            <a:endParaRPr lang="en-US" sz="1100" dirty="0"/>
          </a:p>
        </p:txBody>
      </p:sp>
      <p:sp>
        <p:nvSpPr>
          <p:cNvPr id="11" name="az ap-south-1b"/>
          <p:cNvSpPr/>
          <p:nvPr/>
        </p:nvSpPr>
        <p:spPr>
          <a:xfrm>
            <a:off x="2926080" y="1463040"/>
            <a:ext cx="2103120" cy="2194560"/>
          </a:xfrm>
          <a:prstGeom prst="roundRect">
            <a:avLst>
              <a:gd name="adj" fmla="val 2174"/>
            </a:avLst>
          </a:prstGeom>
          <a:solidFill>
            <a:srgbClr val="FFFFFF"/>
          </a:solidFill>
          <a:ln w="12700">
            <a:solidFill>
              <a:srgbClr val="E2E8F0"/>
            </a:solidFill>
            <a:prstDash val="dash"/>
          </a:ln>
        </p:spPr>
      </p:sp>
      <p:sp>
        <p:nvSpPr>
          <p:cNvPr id="12" name="Text 10"/>
          <p:cNvSpPr txBox="1"/>
          <p:nvPr/>
        </p:nvSpPr>
        <p:spPr>
          <a:xfrm>
            <a:off x="3017520" y="1508760"/>
            <a:ext cx="1920240" cy="228600"/>
          </a:xfrm>
          <a:prstGeom prst="rect">
            <a:avLst/>
          </a:prstGeom>
          <a:noFill/>
          <a:ln/>
        </p:spPr>
        <p:txBody>
          <a:bodyPr wrap="square" lIns="0" tIns="0" rIns="0" bIns="0" rtlCol="0" anchor="t"/>
          <a:lstStyle/>
          <a:p>
            <a:pPr indent="0" marL="0">
              <a:buNone/>
            </a:pPr>
            <a:r>
              <a:rPr lang="en-US" sz="1100" dirty="0">
                <a:solidFill>
                  <a:schemeClr val="accent5"/>
                </a:solidFill>
              </a:rPr>
              <a:t>ap-south-1b</a:t>
            </a:r>
            <a:endParaRPr lang="en-US" sz="1100" dirty="0"/>
          </a:p>
        </p:txBody>
      </p:sp>
      <p:sp>
        <p:nvSpPr>
          <p:cNvPr id="13" name="public ap-south-1b"/>
          <p:cNvSpPr/>
          <p:nvPr/>
        </p:nvSpPr>
        <p:spPr>
          <a:xfrm>
            <a:off x="3035808" y="1783080"/>
            <a:ext cx="1883664" cy="731520"/>
          </a:xfrm>
          <a:prstGeom prst="roundRect">
            <a:avLst>
              <a:gd name="adj" fmla="val 6250"/>
            </a:avLst>
          </a:prstGeom>
          <a:solidFill>
            <a:srgbClr val="CCFBF1"/>
          </a:solidFill>
          <a:ln w="12700">
            <a:solidFill>
              <a:srgbClr val="CCFBF1"/>
            </a:solidFill>
            <a:prstDash val="solid"/>
          </a:ln>
        </p:spPr>
      </p:sp>
      <p:sp>
        <p:nvSpPr>
          <p:cNvPr id="14" name="Text 12"/>
          <p:cNvSpPr txBox="1"/>
          <p:nvPr/>
        </p:nvSpPr>
        <p:spPr>
          <a:xfrm>
            <a:off x="3108960" y="1828800"/>
            <a:ext cx="1737360" cy="640080"/>
          </a:xfrm>
          <a:prstGeom prst="rect">
            <a:avLst/>
          </a:prstGeom>
          <a:noFill/>
          <a:ln/>
        </p:spPr>
        <p:txBody>
          <a:bodyPr wrap="square" lIns="0" tIns="0" rIns="0" bIns="0" rtlCol="0" anchor="t"/>
          <a:lstStyle/>
          <a:p>
            <a:pPr indent="0" marL="0">
              <a:buNone/>
            </a:pPr>
            <a:r>
              <a:rPr lang="en-US" sz="1100" b="1" dirty="0">
                <a:solidFill>
                  <a:schemeClr val="tx1"/>
                </a:solidFill>
              </a:rPr>
              <a:t>Public subnet</a:t>
            </a:r>
            <a:endParaRPr lang="en-US" sz="1100" dirty="0"/>
          </a:p>
          <a:p>
            <a:pPr indent="0" marL="0">
              <a:buNone/>
            </a:pPr>
            <a:r>
              <a:rPr lang="en-US" sz="1100" dirty="0">
                <a:solidFill>
                  <a:schemeClr val="tx1"/>
                </a:solidFill>
              </a:rPr>
              <a:t>load balancers</a:t>
            </a:r>
            <a:endParaRPr lang="en-US" sz="1100" dirty="0"/>
          </a:p>
        </p:txBody>
      </p:sp>
      <p:sp>
        <p:nvSpPr>
          <p:cNvPr id="15" name="private ap-south-1b"/>
          <p:cNvSpPr/>
          <p:nvPr/>
        </p:nvSpPr>
        <p:spPr>
          <a:xfrm>
            <a:off x="3035808" y="2651760"/>
            <a:ext cx="1883664" cy="868680"/>
          </a:xfrm>
          <a:prstGeom prst="roundRect">
            <a:avLst>
              <a:gd name="adj" fmla="val 5263"/>
            </a:avLst>
          </a:prstGeom>
          <a:solidFill>
            <a:srgbClr val="0F766E"/>
          </a:solidFill>
          <a:ln w="12700">
            <a:solidFill>
              <a:srgbClr val="0F766E"/>
            </a:solidFill>
            <a:prstDash val="solid"/>
          </a:ln>
        </p:spPr>
      </p:sp>
      <p:sp>
        <p:nvSpPr>
          <p:cNvPr id="16" name="Text 14"/>
          <p:cNvSpPr txBox="1"/>
          <p:nvPr/>
        </p:nvSpPr>
        <p:spPr>
          <a:xfrm>
            <a:off x="3108960" y="2697480"/>
            <a:ext cx="1737360" cy="777240"/>
          </a:xfrm>
          <a:prstGeom prst="rect">
            <a:avLst/>
          </a:prstGeom>
          <a:noFill/>
          <a:ln/>
        </p:spPr>
        <p:txBody>
          <a:bodyPr wrap="square" lIns="0" tIns="0" rIns="0" bIns="0" rtlCol="0" anchor="t"/>
          <a:lstStyle/>
          <a:p>
            <a:pPr indent="0" marL="0">
              <a:buNone/>
            </a:pPr>
            <a:r>
              <a:rPr lang="en-US" sz="1100" b="1" dirty="0">
                <a:solidFill>
                  <a:schemeClr val="bg1"/>
                </a:solidFill>
              </a:rPr>
              <a:t>Private subnet</a:t>
            </a:r>
            <a:endParaRPr lang="en-US" sz="1100" dirty="0"/>
          </a:p>
          <a:p>
            <a:pPr indent="0" marL="0">
              <a:buNone/>
            </a:pPr>
            <a:r>
              <a:rPr lang="en-US" sz="1100" dirty="0">
                <a:solidFill>
                  <a:schemeClr val="bg1"/>
                </a:solidFill>
              </a:rPr>
              <a:t>EKS nodes, no public IP</a:t>
            </a:r>
            <a:endParaRPr lang="en-US" sz="1100" dirty="0"/>
          </a:p>
        </p:txBody>
      </p:sp>
      <p:sp>
        <p:nvSpPr>
          <p:cNvPr id="17" name="Text 15"/>
          <p:cNvSpPr txBox="1"/>
          <p:nvPr/>
        </p:nvSpPr>
        <p:spPr>
          <a:xfrm>
            <a:off x="594360" y="3794760"/>
            <a:ext cx="4572000" cy="457200"/>
          </a:xfrm>
          <a:prstGeom prst="rect">
            <a:avLst/>
          </a:prstGeom>
          <a:noFill/>
          <a:ln/>
        </p:spPr>
        <p:txBody>
          <a:bodyPr wrap="square" lIns="0" tIns="0" rIns="0" bIns="0" rtlCol="0" anchor="t"/>
          <a:lstStyle/>
          <a:p>
            <a:pPr indent="0" marL="0">
              <a:buNone/>
            </a:pPr>
            <a:r>
              <a:rPr lang="en-US" sz="1200" dirty="0">
                <a:solidFill>
                  <a:schemeClr val="tx1"/>
                </a:solidFill>
              </a:rPr>
              <a:t>EKS: private API endpoint, KMS-encrypted Secrets, managed node group</a:t>
            </a:r>
            <a:endParaRPr lang="en-US" sz="1200" dirty="0"/>
          </a:p>
        </p:txBody>
      </p:sp>
      <p:sp>
        <p:nvSpPr>
          <p:cNvPr id="18" name="Text 16"/>
          <p:cNvSpPr txBox="1"/>
          <p:nvPr/>
        </p:nvSpPr>
        <p:spPr>
          <a:xfrm>
            <a:off x="5486400" y="1097280"/>
            <a:ext cx="1005840" cy="640080"/>
          </a:xfrm>
          <a:prstGeom prst="rect">
            <a:avLst/>
          </a:prstGeom>
          <a:noFill/>
          <a:ln/>
        </p:spPr>
        <p:txBody>
          <a:bodyPr wrap="square" lIns="0" tIns="0" rIns="0" bIns="0" rtlCol="0" anchor="ctr"/>
          <a:lstStyle/>
          <a:p>
            <a:pPr indent="0" marL="0">
              <a:buNone/>
            </a:pPr>
            <a:r>
              <a:rPr lang="en-US" sz="3600" b="1" dirty="0">
                <a:solidFill>
                  <a:schemeClr val="accent1"/>
                </a:solidFill>
              </a:rPr>
              <a:t>39</a:t>
            </a:r>
            <a:endParaRPr lang="en-US" sz="3600" dirty="0"/>
          </a:p>
        </p:txBody>
      </p:sp>
      <p:sp>
        <p:nvSpPr>
          <p:cNvPr id="19" name="Text 17"/>
          <p:cNvSpPr txBox="1"/>
          <p:nvPr/>
        </p:nvSpPr>
        <p:spPr>
          <a:xfrm>
            <a:off x="6492240" y="1097280"/>
            <a:ext cx="2194560" cy="640080"/>
          </a:xfrm>
          <a:prstGeom prst="rect">
            <a:avLst/>
          </a:prstGeom>
          <a:noFill/>
          <a:ln/>
        </p:spPr>
        <p:txBody>
          <a:bodyPr wrap="square" lIns="0" tIns="0" rIns="0" bIns="0" rtlCol="0" anchor="ctr"/>
          <a:lstStyle/>
          <a:p>
            <a:pPr indent="0" marL="0">
              <a:buNone/>
            </a:pPr>
            <a:r>
              <a:rPr lang="en-US" sz="1400" dirty="0">
                <a:solidFill>
                  <a:schemeClr val="tx1"/>
                </a:solidFill>
              </a:rPr>
              <a:t>resources planned</a:t>
            </a:r>
            <a:endParaRPr lang="en-US" sz="1400" dirty="0"/>
          </a:p>
        </p:txBody>
      </p:sp>
      <p:sp>
        <p:nvSpPr>
          <p:cNvPr id="20" name="Text 18"/>
          <p:cNvSpPr txBox="1"/>
          <p:nvPr/>
        </p:nvSpPr>
        <p:spPr>
          <a:xfrm>
            <a:off x="5486400" y="1874520"/>
            <a:ext cx="1005840" cy="640080"/>
          </a:xfrm>
          <a:prstGeom prst="rect">
            <a:avLst/>
          </a:prstGeom>
          <a:noFill/>
          <a:ln/>
        </p:spPr>
        <p:txBody>
          <a:bodyPr wrap="square" lIns="0" tIns="0" rIns="0" bIns="0" rtlCol="0" anchor="ctr"/>
          <a:lstStyle/>
          <a:p>
            <a:pPr indent="0" marL="0">
              <a:buNone/>
            </a:pPr>
            <a:r>
              <a:rPr lang="en-US" sz="3600" b="1" dirty="0">
                <a:solidFill>
                  <a:schemeClr val="accent1"/>
                </a:solidFill>
              </a:rPr>
              <a:t>23</a:t>
            </a:r>
            <a:endParaRPr lang="en-US" sz="3600" dirty="0"/>
          </a:p>
        </p:txBody>
      </p:sp>
      <p:sp>
        <p:nvSpPr>
          <p:cNvPr id="21" name="Text 19"/>
          <p:cNvSpPr txBox="1"/>
          <p:nvPr/>
        </p:nvSpPr>
        <p:spPr>
          <a:xfrm>
            <a:off x="6492240" y="1874520"/>
            <a:ext cx="2194560" cy="640080"/>
          </a:xfrm>
          <a:prstGeom prst="rect">
            <a:avLst/>
          </a:prstGeom>
          <a:noFill/>
          <a:ln/>
        </p:spPr>
        <p:txBody>
          <a:bodyPr wrap="square" lIns="0" tIns="0" rIns="0" bIns="0" rtlCol="0" anchor="ctr"/>
          <a:lstStyle/>
          <a:p>
            <a:pPr indent="0" marL="0">
              <a:buNone/>
            </a:pPr>
            <a:r>
              <a:rPr lang="en-US" sz="1400" dirty="0">
                <a:solidFill>
                  <a:schemeClr val="tx1"/>
                </a:solidFill>
              </a:rPr>
              <a:t>applied for real (network)</a:t>
            </a:r>
            <a:endParaRPr lang="en-US" sz="1400" dirty="0"/>
          </a:p>
        </p:txBody>
      </p:sp>
      <p:sp>
        <p:nvSpPr>
          <p:cNvPr id="22" name="Text 20"/>
          <p:cNvSpPr txBox="1"/>
          <p:nvPr/>
        </p:nvSpPr>
        <p:spPr>
          <a:xfrm>
            <a:off x="5486400" y="2651760"/>
            <a:ext cx="1005840" cy="640080"/>
          </a:xfrm>
          <a:prstGeom prst="rect">
            <a:avLst/>
          </a:prstGeom>
          <a:noFill/>
          <a:ln/>
        </p:spPr>
        <p:txBody>
          <a:bodyPr wrap="square" lIns="0" tIns="0" rIns="0" bIns="0" rtlCol="0" anchor="ctr"/>
          <a:lstStyle/>
          <a:p>
            <a:pPr indent="0" marL="0">
              <a:buNone/>
            </a:pPr>
            <a:r>
              <a:rPr lang="en-US" sz="3600" b="1" dirty="0">
                <a:solidFill>
                  <a:schemeClr val="accent1"/>
                </a:solidFill>
              </a:rPr>
              <a:t>34</a:t>
            </a:r>
            <a:endParaRPr lang="en-US" sz="3600" dirty="0"/>
          </a:p>
        </p:txBody>
      </p:sp>
      <p:sp>
        <p:nvSpPr>
          <p:cNvPr id="23" name="Text 21"/>
          <p:cNvSpPr txBox="1"/>
          <p:nvPr/>
        </p:nvSpPr>
        <p:spPr>
          <a:xfrm>
            <a:off x="6492240" y="2651760"/>
            <a:ext cx="2194560" cy="640080"/>
          </a:xfrm>
          <a:prstGeom prst="rect">
            <a:avLst/>
          </a:prstGeom>
          <a:noFill/>
          <a:ln/>
        </p:spPr>
        <p:txBody>
          <a:bodyPr wrap="square" lIns="0" tIns="0" rIns="0" bIns="0" rtlCol="0" anchor="ctr"/>
          <a:lstStyle/>
          <a:p>
            <a:pPr indent="0" marL="0">
              <a:buNone/>
            </a:pPr>
            <a:r>
              <a:rPr lang="en-US" sz="1400" dirty="0">
                <a:solidFill>
                  <a:schemeClr val="tx1"/>
                </a:solidFill>
              </a:rPr>
              <a:t>destroyed cleanly</a:t>
            </a:r>
            <a:endParaRPr lang="en-US" sz="1400" dirty="0"/>
          </a:p>
        </p:txBody>
      </p:sp>
      <p:sp>
        <p:nvSpPr>
          <p:cNvPr id="24" name="honest note"/>
          <p:cNvSpPr/>
          <p:nvPr/>
        </p:nvSpPr>
        <p:spPr>
          <a:xfrm>
            <a:off x="5486400" y="3520440"/>
            <a:ext cx="3200400" cy="731520"/>
          </a:xfrm>
          <a:prstGeom prst="roundRect">
            <a:avLst>
              <a:gd name="adj" fmla="val 10000"/>
            </a:avLst>
          </a:prstGeom>
          <a:solidFill>
            <a:srgbClr val="FFF7ED"/>
          </a:solidFill>
          <a:ln w="12700">
            <a:solidFill>
              <a:srgbClr val="FFF7ED"/>
            </a:solidFill>
            <a:prstDash val="solid"/>
          </a:ln>
        </p:spPr>
      </p:sp>
      <p:sp>
        <p:nvSpPr>
          <p:cNvPr id="25" name="Text 23"/>
          <p:cNvSpPr txBox="1"/>
          <p:nvPr/>
        </p:nvSpPr>
        <p:spPr>
          <a:xfrm>
            <a:off x="5596128" y="3593592"/>
            <a:ext cx="2999232" cy="603504"/>
          </a:xfrm>
          <a:prstGeom prst="rect">
            <a:avLst/>
          </a:prstGeom>
          <a:noFill/>
          <a:ln/>
        </p:spPr>
        <p:txBody>
          <a:bodyPr wrap="square" lIns="0" tIns="0" rIns="0" bIns="0" rtlCol="0" anchor="t"/>
          <a:lstStyle/>
          <a:p>
            <a:pPr indent="0" marL="0">
              <a:buNone/>
            </a:pPr>
            <a:r>
              <a:rPr lang="en-US" sz="1100" dirty="0">
                <a:solidFill>
                  <a:schemeClr val="tx1"/>
                </a:solidFill>
              </a:rPr>
              <a:t>Ran on LocalStack, not a paid AWS account. Its free edition has no EKS, so the cluster step returns a 501.</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indent="0" marL="0">
              <a:buNone/>
            </a:pPr>
            <a:r>
              <a:rPr lang="en-US" sz="3600" b="1" dirty="0">
                <a:solidFill>
                  <a:schemeClr val="tx1"/>
                </a:solidFill>
              </a:rPr>
              <a:t>Monitoring: Prometheus + Grafana</a:t>
            </a:r>
            <a:endParaRPr lang="en-US" sz="3600" dirty="0"/>
          </a:p>
        </p:txBody>
      </p:sp>
      <p:sp>
        <p:nvSpPr>
          <p:cNvPr id="3" name="grafana frame"/>
          <p:cNvSpPr/>
          <p:nvPr/>
        </p:nvSpPr>
        <p:spPr>
          <a:xfrm>
            <a:off x="429768" y="1024128"/>
            <a:ext cx="4275172" cy="3483864"/>
          </a:xfrm>
          <a:prstGeom prst="rect">
            <a:avLst/>
          </a:prstGeom>
          <a:solidFill>
            <a:srgbClr val="FFFFFF"/>
          </a:solidFill>
          <a:ln w="12700">
            <a:solidFill>
              <a:srgbClr val="E2E8F0"/>
            </a:solidFill>
            <a:prstDash val="solid"/>
          </a:ln>
          <a:effectLst>
            <a:outerShdw sx="100000" sy="100000" kx="0" ky="0" algn="bl" rotWithShape="0" blurRad="76200" dist="25400" dir="5400000">
              <a:srgbClr val="94A3B8">
                <a:alpha val="35000"/>
              </a:srgbClr>
            </a:outerShdw>
          </a:effectLst>
        </p:spPr>
      </p:sp>
      <p:pic>
        <p:nvPicPr>
          <p:cNvPr id="4" name="grafana" descr="Grafana dashboard for Kharcha">    </p:cNvPr>
          <p:cNvPicPr>
            <a:picLocks noChangeAspect="1"/>
          </p:cNvPicPr>
          <p:nvPr/>
        </p:nvPicPr>
        <p:blipFill>
          <a:blip r:embed="rId1"/>
          <a:stretch>
            <a:fillRect/>
          </a:stretch>
        </p:blipFill>
        <p:spPr>
          <a:xfrm>
            <a:off x="457200" y="1051560"/>
            <a:ext cx="4220308" cy="3429000"/>
          </a:xfrm>
          <a:prstGeom prst="rect">
            <a:avLst/>
          </a:prstGeom>
        </p:spPr>
      </p:pic>
      <p:sp>
        <p:nvSpPr>
          <p:cNvPr id="5" name="Found by annotations circle"/>
          <p:cNvSpPr/>
          <p:nvPr/>
        </p:nvSpPr>
        <p:spPr>
          <a:xfrm>
            <a:off x="4997548" y="1097280"/>
            <a:ext cx="457200" cy="457200"/>
          </a:xfrm>
          <a:prstGeom prst="ellipse">
            <a:avLst/>
          </a:prstGeom>
          <a:solidFill>
            <a:schemeClr val="accent1"/>
          </a:solidFill>
          <a:ln w="12700">
            <a:solidFill>
              <a:schemeClr val="accent1"/>
            </a:solidFill>
            <a:prstDash val="solid"/>
          </a:ln>
        </p:spPr>
      </p:sp>
      <p:pic>
        <p:nvPicPr>
          <p:cNvPr id="6" name="Found by annotations icon" descr="Found by annotations">    </p:cNvPr>
          <p:cNvPicPr>
            <a:picLocks noChangeAspect="1"/>
          </p:cNvPicPr>
          <p:nvPr/>
        </p:nvPicPr>
        <p:blipFill>
          <a:blip r:embed="rId2"/>
          <a:stretch>
            <a:fillRect/>
          </a:stretch>
        </p:blipFill>
        <p:spPr>
          <a:xfrm>
            <a:off x="5107276" y="1207008"/>
            <a:ext cx="237744" cy="237744"/>
          </a:xfrm>
          <a:prstGeom prst="rect">
            <a:avLst/>
          </a:prstGeom>
        </p:spPr>
      </p:pic>
      <p:sp>
        <p:nvSpPr>
          <p:cNvPr id="7" name="Text 3"/>
          <p:cNvSpPr txBox="1"/>
          <p:nvPr/>
        </p:nvSpPr>
        <p:spPr>
          <a:xfrm>
            <a:off x="5591908" y="1097280"/>
            <a:ext cx="3094892" cy="274320"/>
          </a:xfrm>
          <a:prstGeom prst="rect">
            <a:avLst/>
          </a:prstGeom>
          <a:noFill/>
          <a:ln/>
        </p:spPr>
        <p:txBody>
          <a:bodyPr wrap="square" lIns="0" tIns="0" rIns="0" bIns="0" rtlCol="0" anchor="t"/>
          <a:lstStyle/>
          <a:p>
            <a:pPr indent="0" marL="0">
              <a:buNone/>
            </a:pPr>
            <a:r>
              <a:rPr lang="en-US" sz="1400" b="1" dirty="0">
                <a:solidFill>
                  <a:schemeClr val="tx1"/>
                </a:solidFill>
              </a:rPr>
              <a:t>Found by annotations</a:t>
            </a:r>
            <a:endParaRPr lang="en-US" sz="1400" dirty="0"/>
          </a:p>
        </p:txBody>
      </p:sp>
      <p:sp>
        <p:nvSpPr>
          <p:cNvPr id="8" name="Text 4"/>
          <p:cNvSpPr txBox="1"/>
          <p:nvPr/>
        </p:nvSpPr>
        <p:spPr>
          <a:xfrm>
            <a:off x="5591908" y="1389888"/>
            <a:ext cx="3094892" cy="640080"/>
          </a:xfrm>
          <a:prstGeom prst="rect">
            <a:avLst/>
          </a:prstGeom>
          <a:noFill/>
          <a:ln/>
        </p:spPr>
        <p:txBody>
          <a:bodyPr wrap="square" lIns="0" tIns="0" rIns="0" bIns="0" rtlCol="0" anchor="t"/>
          <a:lstStyle/>
          <a:p>
            <a:pPr indent="0" marL="0">
              <a:buNone/>
            </a:pPr>
            <a:r>
              <a:rPr lang="en-US" sz="1200" dirty="0">
                <a:solidFill>
                  <a:schemeClr val="accent5"/>
                </a:solidFill>
              </a:rPr>
              <a:t>new pods are scraped automatically, no config to update</a:t>
            </a:r>
            <a:endParaRPr lang="en-US" sz="1200" dirty="0"/>
          </a:p>
        </p:txBody>
      </p:sp>
      <p:sp>
        <p:nvSpPr>
          <p:cNvPr id="9" name="Golden signals circle"/>
          <p:cNvSpPr/>
          <p:nvPr/>
        </p:nvSpPr>
        <p:spPr>
          <a:xfrm>
            <a:off x="4997548" y="2194560"/>
            <a:ext cx="457200" cy="457200"/>
          </a:xfrm>
          <a:prstGeom prst="ellipse">
            <a:avLst/>
          </a:prstGeom>
          <a:solidFill>
            <a:schemeClr val="accent1"/>
          </a:solidFill>
          <a:ln w="12700">
            <a:solidFill>
              <a:schemeClr val="accent1"/>
            </a:solidFill>
            <a:prstDash val="solid"/>
          </a:ln>
        </p:spPr>
      </p:sp>
      <p:pic>
        <p:nvPicPr>
          <p:cNvPr id="10" name="Golden signals icon" descr="Golden signals">    </p:cNvPr>
          <p:cNvPicPr>
            <a:picLocks noChangeAspect="1"/>
          </p:cNvPicPr>
          <p:nvPr/>
        </p:nvPicPr>
        <p:blipFill>
          <a:blip r:embed="rId3"/>
          <a:stretch>
            <a:fillRect/>
          </a:stretch>
        </p:blipFill>
        <p:spPr>
          <a:xfrm>
            <a:off x="5107276" y="2304288"/>
            <a:ext cx="237744" cy="237744"/>
          </a:xfrm>
          <a:prstGeom prst="rect">
            <a:avLst/>
          </a:prstGeom>
        </p:spPr>
      </p:pic>
      <p:sp>
        <p:nvSpPr>
          <p:cNvPr id="11" name="Text 6"/>
          <p:cNvSpPr txBox="1"/>
          <p:nvPr/>
        </p:nvSpPr>
        <p:spPr>
          <a:xfrm>
            <a:off x="5591908" y="2194560"/>
            <a:ext cx="3094892" cy="274320"/>
          </a:xfrm>
          <a:prstGeom prst="rect">
            <a:avLst/>
          </a:prstGeom>
          <a:noFill/>
          <a:ln/>
        </p:spPr>
        <p:txBody>
          <a:bodyPr wrap="square" lIns="0" tIns="0" rIns="0" bIns="0" rtlCol="0" anchor="t"/>
          <a:lstStyle/>
          <a:p>
            <a:pPr indent="0" marL="0">
              <a:buNone/>
            </a:pPr>
            <a:r>
              <a:rPr lang="en-US" sz="1400" b="1" dirty="0">
                <a:solidFill>
                  <a:schemeClr val="tx1"/>
                </a:solidFill>
              </a:rPr>
              <a:t>Golden signals</a:t>
            </a:r>
            <a:endParaRPr lang="en-US" sz="1400" dirty="0"/>
          </a:p>
        </p:txBody>
      </p:sp>
      <p:sp>
        <p:nvSpPr>
          <p:cNvPr id="12" name="Text 7"/>
          <p:cNvSpPr txBox="1"/>
          <p:nvPr/>
        </p:nvSpPr>
        <p:spPr>
          <a:xfrm>
            <a:off x="5591908" y="2487168"/>
            <a:ext cx="3094892" cy="640080"/>
          </a:xfrm>
          <a:prstGeom prst="rect">
            <a:avLst/>
          </a:prstGeom>
          <a:noFill/>
          <a:ln/>
        </p:spPr>
        <p:txBody>
          <a:bodyPr wrap="square" lIns="0" tIns="0" rIns="0" bIns="0" rtlCol="0" anchor="t"/>
          <a:lstStyle/>
          <a:p>
            <a:pPr indent="0" marL="0">
              <a:buNone/>
            </a:pPr>
            <a:r>
              <a:rPr lang="en-US" sz="1200" dirty="0">
                <a:solidFill>
                  <a:schemeClr val="accent5"/>
                </a:solidFill>
              </a:rPr>
              <a:t>traffic, errors, latency, plus money by category</a:t>
            </a:r>
            <a:endParaRPr lang="en-US" sz="1200" dirty="0"/>
          </a:p>
        </p:txBody>
      </p:sp>
      <p:sp>
        <p:nvSpPr>
          <p:cNvPr id="13" name="5 alert rules circle"/>
          <p:cNvSpPr/>
          <p:nvPr/>
        </p:nvSpPr>
        <p:spPr>
          <a:xfrm>
            <a:off x="4997548" y="3291840"/>
            <a:ext cx="457200" cy="457200"/>
          </a:xfrm>
          <a:prstGeom prst="ellipse">
            <a:avLst/>
          </a:prstGeom>
          <a:solidFill>
            <a:schemeClr val="accent1"/>
          </a:solidFill>
          <a:ln w="12700">
            <a:solidFill>
              <a:schemeClr val="accent1"/>
            </a:solidFill>
            <a:prstDash val="solid"/>
          </a:ln>
        </p:spPr>
      </p:sp>
      <p:pic>
        <p:nvPicPr>
          <p:cNvPr id="14" name="5 alert rules icon" descr="5 alert rules">    </p:cNvPr>
          <p:cNvPicPr>
            <a:picLocks noChangeAspect="1"/>
          </p:cNvPicPr>
          <p:nvPr/>
        </p:nvPicPr>
        <p:blipFill>
          <a:blip r:embed="rId4"/>
          <a:stretch>
            <a:fillRect/>
          </a:stretch>
        </p:blipFill>
        <p:spPr>
          <a:xfrm>
            <a:off x="5107276" y="3401568"/>
            <a:ext cx="237744" cy="237744"/>
          </a:xfrm>
          <a:prstGeom prst="rect">
            <a:avLst/>
          </a:prstGeom>
        </p:spPr>
      </p:pic>
      <p:sp>
        <p:nvSpPr>
          <p:cNvPr id="15" name="Text 9"/>
          <p:cNvSpPr txBox="1"/>
          <p:nvPr/>
        </p:nvSpPr>
        <p:spPr>
          <a:xfrm>
            <a:off x="5591908" y="3291840"/>
            <a:ext cx="3094892" cy="274320"/>
          </a:xfrm>
          <a:prstGeom prst="rect">
            <a:avLst/>
          </a:prstGeom>
          <a:noFill/>
          <a:ln/>
        </p:spPr>
        <p:txBody>
          <a:bodyPr wrap="square" lIns="0" tIns="0" rIns="0" bIns="0" rtlCol="0" anchor="t"/>
          <a:lstStyle/>
          <a:p>
            <a:pPr indent="0" marL="0">
              <a:buNone/>
            </a:pPr>
            <a:r>
              <a:rPr lang="en-US" sz="1400" b="1" dirty="0">
                <a:solidFill>
                  <a:schemeClr val="tx1"/>
                </a:solidFill>
              </a:rPr>
              <a:t>5 alert rules</a:t>
            </a:r>
            <a:endParaRPr lang="en-US" sz="1400" dirty="0"/>
          </a:p>
        </p:txBody>
      </p:sp>
      <p:sp>
        <p:nvSpPr>
          <p:cNvPr id="16" name="Text 10"/>
          <p:cNvSpPr txBox="1"/>
          <p:nvPr/>
        </p:nvSpPr>
        <p:spPr>
          <a:xfrm>
            <a:off x="5591908" y="3584448"/>
            <a:ext cx="3094892" cy="640080"/>
          </a:xfrm>
          <a:prstGeom prst="rect">
            <a:avLst/>
          </a:prstGeom>
          <a:noFill/>
          <a:ln/>
        </p:spPr>
        <p:txBody>
          <a:bodyPr wrap="square" lIns="0" tIns="0" rIns="0" bIns="0" rtlCol="0" anchor="t"/>
          <a:lstStyle/>
          <a:p>
            <a:pPr indent="0" marL="0">
              <a:buNone/>
            </a:pPr>
            <a:r>
              <a:rPr lang="en-US" sz="1200" dirty="0">
                <a:solidFill>
                  <a:schemeClr val="accent5"/>
                </a:solidFill>
              </a:rPr>
              <a:t>backend down, 5xx rate, slow p95, restarts, HPA at max</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indent="0" marL="0">
              <a:buNone/>
            </a:pPr>
            <a:r>
              <a:rPr lang="en-US" sz="3600" b="1" dirty="0">
                <a:solidFill>
                  <a:schemeClr val="tx1"/>
                </a:solidFill>
              </a:rPr>
              <a:t>GitOps with ArgoCD</a:t>
            </a:r>
            <a:endParaRPr lang="en-US" sz="3600" dirty="0"/>
          </a:p>
        </p:txBody>
      </p:sp>
      <p:sp>
        <p:nvSpPr>
          <p:cNvPr id="3" name="timeline"/>
          <p:cNvSpPr/>
          <p:nvPr/>
        </p:nvSpPr>
        <p:spPr>
          <a:xfrm>
            <a:off x="1143000" y="1874520"/>
            <a:ext cx="6858000" cy="0"/>
          </a:xfrm>
          <a:prstGeom prst="line">
            <a:avLst/>
          </a:prstGeom>
          <a:noFill/>
          <a:ln w="38100">
            <a:solidFill>
              <a:srgbClr val="E2E8F0"/>
            </a:solidFill>
            <a:prstDash val="solid"/>
          </a:ln>
        </p:spPr>
      </p:sp>
      <p:sp>
        <p:nvSpPr>
          <p:cNvPr id="4" name="tick 16:53"/>
          <p:cNvSpPr/>
          <p:nvPr/>
        </p:nvSpPr>
        <p:spPr>
          <a:xfrm>
            <a:off x="1014984" y="1746504"/>
            <a:ext cx="256032" cy="256032"/>
          </a:xfrm>
          <a:prstGeom prst="ellipse">
            <a:avLst/>
          </a:prstGeom>
          <a:solidFill>
            <a:srgbClr val="0F766E"/>
          </a:solidFill>
          <a:ln w="25400">
            <a:solidFill>
              <a:srgbClr val="FFFFFF"/>
            </a:solidFill>
            <a:prstDash val="solid"/>
          </a:ln>
        </p:spPr>
      </p:sp>
      <p:sp>
        <p:nvSpPr>
          <p:cNvPr id="5" name="Text 3"/>
          <p:cNvSpPr txBox="1"/>
          <p:nvPr/>
        </p:nvSpPr>
        <p:spPr>
          <a:xfrm>
            <a:off x="457200" y="1325880"/>
            <a:ext cx="1371600" cy="320040"/>
          </a:xfrm>
          <a:prstGeom prst="rect">
            <a:avLst/>
          </a:prstGeom>
          <a:noFill/>
          <a:ln/>
        </p:spPr>
        <p:txBody>
          <a:bodyPr wrap="square" lIns="0" tIns="0" rIns="0" bIns="0" rtlCol="0" anchor="t"/>
          <a:lstStyle/>
          <a:p>
            <a:pPr algn="ctr" indent="0" marL="0">
              <a:buNone/>
            </a:pPr>
            <a:r>
              <a:rPr lang="en-US" sz="1600" b="1" dirty="0">
                <a:solidFill>
                  <a:schemeClr val="accent1"/>
                </a:solidFill>
              </a:rPr>
              <a:t>16:53</a:t>
            </a:r>
            <a:endParaRPr lang="en-US" sz="1600" dirty="0"/>
          </a:p>
        </p:txBody>
      </p:sp>
      <p:sp>
        <p:nvSpPr>
          <p:cNvPr id="6" name="Text 4"/>
          <p:cNvSpPr txBox="1"/>
          <p:nvPr/>
        </p:nvSpPr>
        <p:spPr>
          <a:xfrm>
            <a:off x="457200" y="2103120"/>
            <a:ext cx="1371600" cy="274320"/>
          </a:xfrm>
          <a:prstGeom prst="rect">
            <a:avLst/>
          </a:prstGeom>
          <a:noFill/>
          <a:ln/>
        </p:spPr>
        <p:txBody>
          <a:bodyPr wrap="square" lIns="0" tIns="0" rIns="0" bIns="0" rtlCol="0" anchor="t"/>
          <a:lstStyle/>
          <a:p>
            <a:pPr algn="ctr" indent="0" marL="0">
              <a:buNone/>
            </a:pPr>
            <a:r>
              <a:rPr lang="en-US" sz="1300" b="1" dirty="0">
                <a:solidFill>
                  <a:schemeClr val="tx1"/>
                </a:solidFill>
              </a:rPr>
              <a:t>git push</a:t>
            </a:r>
            <a:endParaRPr lang="en-US" sz="1300" dirty="0"/>
          </a:p>
        </p:txBody>
      </p:sp>
      <p:sp>
        <p:nvSpPr>
          <p:cNvPr id="7" name="Text 5"/>
          <p:cNvSpPr txBox="1"/>
          <p:nvPr/>
        </p:nvSpPr>
        <p:spPr>
          <a:xfrm>
            <a:off x="457200" y="2377440"/>
            <a:ext cx="1371600" cy="457200"/>
          </a:xfrm>
          <a:prstGeom prst="rect">
            <a:avLst/>
          </a:prstGeom>
          <a:noFill/>
          <a:ln/>
        </p:spPr>
        <p:txBody>
          <a:bodyPr wrap="square" lIns="0" tIns="0" rIns="0" bIns="0" rtlCol="0" anchor="t"/>
          <a:lstStyle/>
          <a:p>
            <a:pPr algn="ctr" indent="0" marL="0">
              <a:buNone/>
            </a:pPr>
            <a:r>
              <a:rPr lang="en-US" sz="1100" dirty="0">
                <a:solidFill>
                  <a:schemeClr val="accent5"/>
                </a:solidFill>
              </a:rPr>
              <a:t>commit 58af10d</a:t>
            </a:r>
            <a:endParaRPr lang="en-US" sz="1100" dirty="0"/>
          </a:p>
        </p:txBody>
      </p:sp>
      <p:sp>
        <p:nvSpPr>
          <p:cNvPr id="8" name="tick 16:55"/>
          <p:cNvSpPr/>
          <p:nvPr/>
        </p:nvSpPr>
        <p:spPr>
          <a:xfrm>
            <a:off x="2729484" y="1746504"/>
            <a:ext cx="256032" cy="256032"/>
          </a:xfrm>
          <a:prstGeom prst="ellipse">
            <a:avLst/>
          </a:prstGeom>
          <a:solidFill>
            <a:srgbClr val="0F766E"/>
          </a:solidFill>
          <a:ln w="25400">
            <a:solidFill>
              <a:srgbClr val="FFFFFF"/>
            </a:solidFill>
            <a:prstDash val="solid"/>
          </a:ln>
        </p:spPr>
      </p:sp>
      <p:sp>
        <p:nvSpPr>
          <p:cNvPr id="9" name="Text 7"/>
          <p:cNvSpPr txBox="1"/>
          <p:nvPr/>
        </p:nvSpPr>
        <p:spPr>
          <a:xfrm>
            <a:off x="2171700" y="1325880"/>
            <a:ext cx="1371600" cy="320040"/>
          </a:xfrm>
          <a:prstGeom prst="rect">
            <a:avLst/>
          </a:prstGeom>
          <a:noFill/>
          <a:ln/>
        </p:spPr>
        <p:txBody>
          <a:bodyPr wrap="square" lIns="0" tIns="0" rIns="0" bIns="0" rtlCol="0" anchor="t"/>
          <a:lstStyle/>
          <a:p>
            <a:pPr algn="ctr" indent="0" marL="0">
              <a:buNone/>
            </a:pPr>
            <a:r>
              <a:rPr lang="en-US" sz="1600" b="1" dirty="0">
                <a:solidFill>
                  <a:schemeClr val="accent1"/>
                </a:solidFill>
              </a:rPr>
              <a:t>16:55</a:t>
            </a:r>
            <a:endParaRPr lang="en-US" sz="1600" dirty="0"/>
          </a:p>
        </p:txBody>
      </p:sp>
      <p:sp>
        <p:nvSpPr>
          <p:cNvPr id="10" name="Text 8"/>
          <p:cNvSpPr txBox="1"/>
          <p:nvPr/>
        </p:nvSpPr>
        <p:spPr>
          <a:xfrm>
            <a:off x="2171700" y="2103120"/>
            <a:ext cx="1371600" cy="274320"/>
          </a:xfrm>
          <a:prstGeom prst="rect">
            <a:avLst/>
          </a:prstGeom>
          <a:noFill/>
          <a:ln/>
        </p:spPr>
        <p:txBody>
          <a:bodyPr wrap="square" lIns="0" tIns="0" rIns="0" bIns="0" rtlCol="0" anchor="t"/>
          <a:lstStyle/>
          <a:p>
            <a:pPr algn="ctr" indent="0" marL="0">
              <a:buNone/>
            </a:pPr>
            <a:r>
              <a:rPr lang="en-US" sz="1300" b="1" dirty="0">
                <a:solidFill>
                  <a:schemeClr val="tx1"/>
                </a:solidFill>
              </a:rPr>
              <a:t>Security gate</a:t>
            </a:r>
            <a:endParaRPr lang="en-US" sz="1300" dirty="0"/>
          </a:p>
        </p:txBody>
      </p:sp>
      <p:sp>
        <p:nvSpPr>
          <p:cNvPr id="11" name="Text 9"/>
          <p:cNvSpPr txBox="1"/>
          <p:nvPr/>
        </p:nvSpPr>
        <p:spPr>
          <a:xfrm>
            <a:off x="2171700" y="2377440"/>
            <a:ext cx="1371600" cy="457200"/>
          </a:xfrm>
          <a:prstGeom prst="rect">
            <a:avLst/>
          </a:prstGeom>
          <a:noFill/>
          <a:ln/>
        </p:spPr>
        <p:txBody>
          <a:bodyPr wrap="square" lIns="0" tIns="0" rIns="0" bIns="0" rtlCol="0" anchor="t"/>
          <a:lstStyle/>
          <a:p>
            <a:pPr algn="ctr" indent="0" marL="0">
              <a:buNone/>
            </a:pPr>
            <a:r>
              <a:rPr lang="en-US" sz="1100" dirty="0">
                <a:solidFill>
                  <a:schemeClr val="accent5"/>
                </a:solidFill>
              </a:rPr>
              <a:t>all tests and scans green</a:t>
            </a:r>
            <a:endParaRPr lang="en-US" sz="1100" dirty="0"/>
          </a:p>
        </p:txBody>
      </p:sp>
      <p:sp>
        <p:nvSpPr>
          <p:cNvPr id="12" name="tick 16:57"/>
          <p:cNvSpPr/>
          <p:nvPr/>
        </p:nvSpPr>
        <p:spPr>
          <a:xfrm>
            <a:off x="4443984" y="1746504"/>
            <a:ext cx="256032" cy="256032"/>
          </a:xfrm>
          <a:prstGeom prst="ellipse">
            <a:avLst/>
          </a:prstGeom>
          <a:solidFill>
            <a:srgbClr val="0F766E"/>
          </a:solidFill>
          <a:ln w="25400">
            <a:solidFill>
              <a:srgbClr val="FFFFFF"/>
            </a:solidFill>
            <a:prstDash val="solid"/>
          </a:ln>
        </p:spPr>
      </p:sp>
      <p:sp>
        <p:nvSpPr>
          <p:cNvPr id="13" name="Text 11"/>
          <p:cNvSpPr txBox="1"/>
          <p:nvPr/>
        </p:nvSpPr>
        <p:spPr>
          <a:xfrm>
            <a:off x="3886200" y="1325880"/>
            <a:ext cx="1371600" cy="320040"/>
          </a:xfrm>
          <a:prstGeom prst="rect">
            <a:avLst/>
          </a:prstGeom>
          <a:noFill/>
          <a:ln/>
        </p:spPr>
        <p:txBody>
          <a:bodyPr wrap="square" lIns="0" tIns="0" rIns="0" bIns="0" rtlCol="0" anchor="t"/>
          <a:lstStyle/>
          <a:p>
            <a:pPr algn="ctr" indent="0" marL="0">
              <a:buNone/>
            </a:pPr>
            <a:r>
              <a:rPr lang="en-US" sz="1600" b="1" dirty="0">
                <a:solidFill>
                  <a:schemeClr val="accent1"/>
                </a:solidFill>
              </a:rPr>
              <a:t>16:57</a:t>
            </a:r>
            <a:endParaRPr lang="en-US" sz="1600" dirty="0"/>
          </a:p>
        </p:txBody>
      </p:sp>
      <p:sp>
        <p:nvSpPr>
          <p:cNvPr id="14" name="Text 12"/>
          <p:cNvSpPr txBox="1"/>
          <p:nvPr/>
        </p:nvSpPr>
        <p:spPr>
          <a:xfrm>
            <a:off x="3886200" y="2103120"/>
            <a:ext cx="1371600" cy="274320"/>
          </a:xfrm>
          <a:prstGeom prst="rect">
            <a:avLst/>
          </a:prstGeom>
          <a:noFill/>
          <a:ln/>
        </p:spPr>
        <p:txBody>
          <a:bodyPr wrap="square" lIns="0" tIns="0" rIns="0" bIns="0" rtlCol="0" anchor="t"/>
          <a:lstStyle/>
          <a:p>
            <a:pPr algn="ctr" indent="0" marL="0">
              <a:buNone/>
            </a:pPr>
            <a:r>
              <a:rPr lang="en-US" sz="1300" b="1" dirty="0">
                <a:solidFill>
                  <a:schemeClr val="tx1"/>
                </a:solidFill>
              </a:rPr>
              <a:t>Bot commits tag</a:t>
            </a:r>
            <a:endParaRPr lang="en-US" sz="1300" dirty="0"/>
          </a:p>
        </p:txBody>
      </p:sp>
      <p:sp>
        <p:nvSpPr>
          <p:cNvPr id="15" name="Text 13"/>
          <p:cNvSpPr txBox="1"/>
          <p:nvPr/>
        </p:nvSpPr>
        <p:spPr>
          <a:xfrm>
            <a:off x="3886200" y="2377440"/>
            <a:ext cx="1371600" cy="457200"/>
          </a:xfrm>
          <a:prstGeom prst="rect">
            <a:avLst/>
          </a:prstGeom>
          <a:noFill/>
          <a:ln/>
        </p:spPr>
        <p:txBody>
          <a:bodyPr wrap="square" lIns="0" tIns="0" rIns="0" bIns="0" rtlCol="0" anchor="t"/>
          <a:lstStyle/>
          <a:p>
            <a:pPr algn="ctr" indent="0" marL="0">
              <a:buNone/>
            </a:pPr>
            <a:r>
              <a:rPr lang="en-US" sz="1100" dirty="0">
                <a:solidFill>
                  <a:schemeClr val="accent5"/>
                </a:solidFill>
              </a:rPr>
              <a:t>deploy 58af10d</a:t>
            </a:r>
            <a:endParaRPr lang="en-US" sz="1100" dirty="0"/>
          </a:p>
        </p:txBody>
      </p:sp>
      <p:sp>
        <p:nvSpPr>
          <p:cNvPr id="16" name="tick 16:59"/>
          <p:cNvSpPr/>
          <p:nvPr/>
        </p:nvSpPr>
        <p:spPr>
          <a:xfrm>
            <a:off x="6158484" y="1746504"/>
            <a:ext cx="256032" cy="256032"/>
          </a:xfrm>
          <a:prstGeom prst="ellipse">
            <a:avLst/>
          </a:prstGeom>
          <a:solidFill>
            <a:srgbClr val="0F766E"/>
          </a:solidFill>
          <a:ln w="25400">
            <a:solidFill>
              <a:srgbClr val="FFFFFF"/>
            </a:solidFill>
            <a:prstDash val="solid"/>
          </a:ln>
        </p:spPr>
      </p:sp>
      <p:sp>
        <p:nvSpPr>
          <p:cNvPr id="17" name="Text 15"/>
          <p:cNvSpPr txBox="1"/>
          <p:nvPr/>
        </p:nvSpPr>
        <p:spPr>
          <a:xfrm>
            <a:off x="5600700" y="1325880"/>
            <a:ext cx="1371600" cy="320040"/>
          </a:xfrm>
          <a:prstGeom prst="rect">
            <a:avLst/>
          </a:prstGeom>
          <a:noFill/>
          <a:ln/>
        </p:spPr>
        <p:txBody>
          <a:bodyPr wrap="square" lIns="0" tIns="0" rIns="0" bIns="0" rtlCol="0" anchor="t"/>
          <a:lstStyle/>
          <a:p>
            <a:pPr algn="ctr" indent="0" marL="0">
              <a:buNone/>
            </a:pPr>
            <a:r>
              <a:rPr lang="en-US" sz="1600" b="1" dirty="0">
                <a:solidFill>
                  <a:schemeClr val="accent1"/>
                </a:solidFill>
              </a:rPr>
              <a:t>16:59</a:t>
            </a:r>
            <a:endParaRPr lang="en-US" sz="1600" dirty="0"/>
          </a:p>
        </p:txBody>
      </p:sp>
      <p:sp>
        <p:nvSpPr>
          <p:cNvPr id="18" name="Text 16"/>
          <p:cNvSpPr txBox="1"/>
          <p:nvPr/>
        </p:nvSpPr>
        <p:spPr>
          <a:xfrm>
            <a:off x="5600700" y="2103120"/>
            <a:ext cx="1371600" cy="274320"/>
          </a:xfrm>
          <a:prstGeom prst="rect">
            <a:avLst/>
          </a:prstGeom>
          <a:noFill/>
          <a:ln/>
        </p:spPr>
        <p:txBody>
          <a:bodyPr wrap="square" lIns="0" tIns="0" rIns="0" bIns="0" rtlCol="0" anchor="t"/>
          <a:lstStyle/>
          <a:p>
            <a:pPr algn="ctr" indent="0" marL="0">
              <a:buNone/>
            </a:pPr>
            <a:r>
              <a:rPr lang="en-US" sz="1300" b="1" dirty="0">
                <a:solidFill>
                  <a:schemeClr val="tx1"/>
                </a:solidFill>
              </a:rPr>
              <a:t>ArgoCD syncs</a:t>
            </a:r>
            <a:endParaRPr lang="en-US" sz="1300" dirty="0"/>
          </a:p>
        </p:txBody>
      </p:sp>
      <p:sp>
        <p:nvSpPr>
          <p:cNvPr id="19" name="Text 17"/>
          <p:cNvSpPr txBox="1"/>
          <p:nvPr/>
        </p:nvSpPr>
        <p:spPr>
          <a:xfrm>
            <a:off x="5600700" y="2377440"/>
            <a:ext cx="1371600" cy="457200"/>
          </a:xfrm>
          <a:prstGeom prst="rect">
            <a:avLst/>
          </a:prstGeom>
          <a:noFill/>
          <a:ln/>
        </p:spPr>
        <p:txBody>
          <a:bodyPr wrap="square" lIns="0" tIns="0" rIns="0" bIns="0" rtlCol="0" anchor="t"/>
          <a:lstStyle/>
          <a:p>
            <a:pPr algn="ctr" indent="0" marL="0">
              <a:buNone/>
            </a:pPr>
            <a:r>
              <a:rPr lang="en-US" sz="1100" dirty="0">
                <a:solidFill>
                  <a:schemeClr val="accent5"/>
                </a:solidFill>
              </a:rPr>
              <a:t>new pods start</a:t>
            </a:r>
            <a:endParaRPr lang="en-US" sz="1100" dirty="0"/>
          </a:p>
        </p:txBody>
      </p:sp>
      <p:sp>
        <p:nvSpPr>
          <p:cNvPr id="20" name="tick 17:00"/>
          <p:cNvSpPr/>
          <p:nvPr/>
        </p:nvSpPr>
        <p:spPr>
          <a:xfrm>
            <a:off x="7872984" y="1746504"/>
            <a:ext cx="256032" cy="256032"/>
          </a:xfrm>
          <a:prstGeom prst="ellipse">
            <a:avLst/>
          </a:prstGeom>
          <a:solidFill>
            <a:srgbClr val="D97706"/>
          </a:solidFill>
          <a:ln w="25400">
            <a:solidFill>
              <a:srgbClr val="FFFFFF"/>
            </a:solidFill>
            <a:prstDash val="solid"/>
          </a:ln>
        </p:spPr>
      </p:sp>
      <p:sp>
        <p:nvSpPr>
          <p:cNvPr id="21" name="Text 19"/>
          <p:cNvSpPr txBox="1"/>
          <p:nvPr/>
        </p:nvSpPr>
        <p:spPr>
          <a:xfrm>
            <a:off x="7315200" y="1325880"/>
            <a:ext cx="1371600" cy="320040"/>
          </a:xfrm>
          <a:prstGeom prst="rect">
            <a:avLst/>
          </a:prstGeom>
          <a:noFill/>
          <a:ln/>
        </p:spPr>
        <p:txBody>
          <a:bodyPr wrap="square" lIns="0" tIns="0" rIns="0" bIns="0" rtlCol="0" anchor="t"/>
          <a:lstStyle/>
          <a:p>
            <a:pPr algn="ctr" indent="0" marL="0">
              <a:buNone/>
            </a:pPr>
            <a:r>
              <a:rPr lang="en-US" sz="1600" b="1" dirty="0">
                <a:solidFill>
                  <a:schemeClr val="accent1"/>
                </a:solidFill>
              </a:rPr>
              <a:t>17:00</a:t>
            </a:r>
            <a:endParaRPr lang="en-US" sz="1600" dirty="0"/>
          </a:p>
        </p:txBody>
      </p:sp>
      <p:sp>
        <p:nvSpPr>
          <p:cNvPr id="22" name="Text 20"/>
          <p:cNvSpPr txBox="1"/>
          <p:nvPr/>
        </p:nvSpPr>
        <p:spPr>
          <a:xfrm>
            <a:off x="7315200" y="2103120"/>
            <a:ext cx="1371600" cy="274320"/>
          </a:xfrm>
          <a:prstGeom prst="rect">
            <a:avLst/>
          </a:prstGeom>
          <a:noFill/>
          <a:ln/>
        </p:spPr>
        <p:txBody>
          <a:bodyPr wrap="square" lIns="0" tIns="0" rIns="0" bIns="0" rtlCol="0" anchor="t"/>
          <a:lstStyle/>
          <a:p>
            <a:pPr algn="ctr" indent="0" marL="0">
              <a:buNone/>
            </a:pPr>
            <a:r>
              <a:rPr lang="en-US" sz="1300" b="1" dirty="0">
                <a:solidFill>
                  <a:schemeClr val="tx1"/>
                </a:solidFill>
              </a:rPr>
              <a:t>Live</a:t>
            </a:r>
            <a:endParaRPr lang="en-US" sz="1300" dirty="0"/>
          </a:p>
        </p:txBody>
      </p:sp>
      <p:sp>
        <p:nvSpPr>
          <p:cNvPr id="23" name="Text 21"/>
          <p:cNvSpPr txBox="1"/>
          <p:nvPr/>
        </p:nvSpPr>
        <p:spPr>
          <a:xfrm>
            <a:off x="7315200" y="2377440"/>
            <a:ext cx="1371600" cy="457200"/>
          </a:xfrm>
          <a:prstGeom prst="rect">
            <a:avLst/>
          </a:prstGeom>
          <a:noFill/>
          <a:ln/>
        </p:spPr>
        <p:txBody>
          <a:bodyPr wrap="square" lIns="0" tIns="0" rIns="0" bIns="0" rtlCol="0" anchor="t"/>
          <a:lstStyle/>
          <a:p>
            <a:pPr algn="ctr" indent="0" marL="0">
              <a:buNone/>
            </a:pPr>
            <a:r>
              <a:rPr lang="en-US" sz="1100" dirty="0">
                <a:solidFill>
                  <a:schemeClr val="accent5"/>
                </a:solidFill>
              </a:rPr>
              <a:t>/health says 58af10d</a:t>
            </a:r>
            <a:endParaRPr lang="en-US" sz="1100" dirty="0"/>
          </a:p>
        </p:txBody>
      </p:sp>
      <p:sp>
        <p:nvSpPr>
          <p:cNvPr id="24" name="stat 7min"/>
          <p:cNvSpPr/>
          <p:nvPr/>
        </p:nvSpPr>
        <p:spPr>
          <a:xfrm>
            <a:off x="457200" y="3063240"/>
            <a:ext cx="3977640" cy="1280160"/>
          </a:xfrm>
          <a:prstGeom prst="roundRect">
            <a:avLst>
              <a:gd name="adj" fmla="val 5714"/>
            </a:avLst>
          </a:prstGeom>
          <a:solidFill>
            <a:srgbClr val="E6F4F1"/>
          </a:solidFill>
          <a:ln w="12700">
            <a:solidFill>
              <a:srgbClr val="E6F4F1"/>
            </a:solidFill>
            <a:prstDash val="solid"/>
          </a:ln>
        </p:spPr>
      </p:sp>
      <p:sp>
        <p:nvSpPr>
          <p:cNvPr id="25" name="Text 23"/>
          <p:cNvSpPr txBox="1"/>
          <p:nvPr/>
        </p:nvSpPr>
        <p:spPr>
          <a:xfrm>
            <a:off x="640080" y="3127248"/>
            <a:ext cx="3657600" cy="594360"/>
          </a:xfrm>
          <a:prstGeom prst="rect">
            <a:avLst/>
          </a:prstGeom>
          <a:noFill/>
          <a:ln/>
        </p:spPr>
        <p:txBody>
          <a:bodyPr wrap="square" lIns="0" tIns="0" rIns="0" bIns="0" rtlCol="0" anchor="t"/>
          <a:lstStyle/>
          <a:p>
            <a:pPr indent="0" marL="0">
              <a:buNone/>
            </a:pPr>
            <a:r>
              <a:rPr lang="en-US" sz="3600" b="1" dirty="0">
                <a:solidFill>
                  <a:schemeClr val="accent1"/>
                </a:solidFill>
              </a:rPr>
              <a:t>~7 min</a:t>
            </a:r>
            <a:endParaRPr lang="en-US" sz="3600" dirty="0"/>
          </a:p>
        </p:txBody>
      </p:sp>
      <p:sp>
        <p:nvSpPr>
          <p:cNvPr id="26" name="Text 24"/>
          <p:cNvSpPr txBox="1"/>
          <p:nvPr/>
        </p:nvSpPr>
        <p:spPr>
          <a:xfrm>
            <a:off x="640080" y="3749040"/>
            <a:ext cx="3657600" cy="457200"/>
          </a:xfrm>
          <a:prstGeom prst="rect">
            <a:avLst/>
          </a:prstGeom>
          <a:noFill/>
          <a:ln/>
        </p:spPr>
        <p:txBody>
          <a:bodyPr wrap="square" lIns="0" tIns="0" rIns="0" bIns="0" rtlCol="0" anchor="t"/>
          <a:lstStyle/>
          <a:p>
            <a:pPr indent="0" marL="0">
              <a:buNone/>
            </a:pPr>
            <a:r>
              <a:rPr lang="en-US" sz="1300" dirty="0">
                <a:solidFill>
                  <a:schemeClr val="tx1"/>
                </a:solidFill>
              </a:rPr>
              <a:t>push to new pods, zero kubectl typed</a:t>
            </a:r>
            <a:endParaRPr lang="en-US" sz="1300" dirty="0"/>
          </a:p>
        </p:txBody>
      </p:sp>
      <p:sp>
        <p:nvSpPr>
          <p:cNvPr id="27" name="stat selfheal"/>
          <p:cNvSpPr/>
          <p:nvPr/>
        </p:nvSpPr>
        <p:spPr>
          <a:xfrm>
            <a:off x="4709160" y="3063240"/>
            <a:ext cx="3977640" cy="1280160"/>
          </a:xfrm>
          <a:prstGeom prst="roundRect">
            <a:avLst>
              <a:gd name="adj" fmla="val 5714"/>
            </a:avLst>
          </a:prstGeom>
          <a:solidFill>
            <a:srgbClr val="E6F4F1"/>
          </a:solidFill>
          <a:ln w="12700">
            <a:solidFill>
              <a:srgbClr val="E6F4F1"/>
            </a:solidFill>
            <a:prstDash val="solid"/>
          </a:ln>
        </p:spPr>
      </p:sp>
      <p:sp>
        <p:nvSpPr>
          <p:cNvPr id="28" name="Text 26"/>
          <p:cNvSpPr txBox="1"/>
          <p:nvPr/>
        </p:nvSpPr>
        <p:spPr>
          <a:xfrm>
            <a:off x="4892040" y="3127248"/>
            <a:ext cx="3657600" cy="594360"/>
          </a:xfrm>
          <a:prstGeom prst="rect">
            <a:avLst/>
          </a:prstGeom>
          <a:noFill/>
          <a:ln/>
        </p:spPr>
        <p:txBody>
          <a:bodyPr wrap="square" lIns="0" tIns="0" rIns="0" bIns="0" rtlCol="0" anchor="t"/>
          <a:lstStyle/>
          <a:p>
            <a:pPr indent="0" marL="0">
              <a:buNone/>
            </a:pPr>
            <a:r>
              <a:rPr lang="en-US" sz="3600" b="1" dirty="0">
                <a:solidFill>
                  <a:schemeClr val="accent1"/>
                </a:solidFill>
              </a:rPr>
              <a:t>2 seconds</a:t>
            </a:r>
            <a:endParaRPr lang="en-US" sz="3600" dirty="0"/>
          </a:p>
        </p:txBody>
      </p:sp>
      <p:sp>
        <p:nvSpPr>
          <p:cNvPr id="29" name="Text 27"/>
          <p:cNvSpPr txBox="1"/>
          <p:nvPr/>
        </p:nvSpPr>
        <p:spPr>
          <a:xfrm>
            <a:off x="4892040" y="3749040"/>
            <a:ext cx="3657600" cy="457200"/>
          </a:xfrm>
          <a:prstGeom prst="rect">
            <a:avLst/>
          </a:prstGeom>
          <a:noFill/>
          <a:ln/>
        </p:spPr>
        <p:txBody>
          <a:bodyPr wrap="square" lIns="0" tIns="0" rIns="0" bIns="0" rtlCol="0" anchor="t"/>
          <a:lstStyle/>
          <a:p>
            <a:pPr indent="0" marL="0">
              <a:buNone/>
            </a:pPr>
            <a:r>
              <a:rPr lang="en-US" sz="1300" dirty="0">
                <a:solidFill>
                  <a:schemeClr val="tx1"/>
                </a:solidFill>
              </a:rPr>
              <a:t>for ArgoCD to undo a hand edit in the cluster</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indent="0" marL="0">
              <a:buNone/>
            </a:pPr>
            <a:r>
              <a:rPr lang="en-US" sz="3600" b="1" dirty="0">
                <a:solidFill>
                  <a:schemeClr val="tx1"/>
                </a:solidFill>
              </a:rPr>
              <a:t>Troubleshooting lab</a:t>
            </a:r>
            <a:endParaRPr lang="en-US" sz="3600" dirty="0"/>
          </a:p>
        </p:txBody>
      </p:sp>
      <p:graphicFrame>
        <p:nvGraphicFramePr>
          <p:cNvPr id="17" name="lab table"/>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331720"/>
                <a:gridCol w="2971800"/>
                <a:gridCol w="2926080"/>
              </a:tblGrid>
              <a:tr h="384048">
                <a:tc>
                  <a:txBody>
                    <a:bodyPr/>
                    <a:lstStyle/>
                    <a:p>
                      <a:pPr indent="0" marL="0">
                        <a:buNone/>
                      </a:pPr>
                      <a:r>
                        <a:rPr lang="en-US" sz="1200" b="1" dirty="0">
                          <a:solidFill>
                            <a:srgbClr val="FFFFFF"/>
                          </a:solidFill>
                        </a:rPr>
                        <a:t>What I broke</a:t>
                      </a:r>
                      <a:endParaRPr lang="en-US" sz="1200" dirty="0"/>
                    </a:p>
                  </a:txBody>
                  <a:tcPr marL="91440" marR="91440" marT="36576" marB="36576">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766E"/>
                    </a:solidFill>
                  </a:tcPr>
                </a:tc>
                <a:tc>
                  <a:txBody>
                    <a:bodyPr/>
                    <a:lstStyle/>
                    <a:p>
                      <a:pPr indent="0" marL="0">
                        <a:buNone/>
                      </a:pPr>
                      <a:r>
                        <a:rPr lang="en-US" sz="1200" b="1" dirty="0">
                          <a:solidFill>
                            <a:srgbClr val="FFFFFF"/>
                          </a:solidFill>
                        </a:rPr>
                        <a:t>What you see</a:t>
                      </a:r>
                      <a:endParaRPr lang="en-US" sz="1200" dirty="0"/>
                    </a:p>
                  </a:txBody>
                  <a:tcPr marL="91440" marR="91440" marT="36576" marB="36576">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766E"/>
                    </a:solidFill>
                  </a:tcPr>
                </a:tc>
                <a:tc>
                  <a:txBody>
                    <a:bodyPr/>
                    <a:lstStyle/>
                    <a:p>
                      <a:pPr indent="0" marL="0">
                        <a:buNone/>
                      </a:pPr>
                      <a:r>
                        <a:rPr lang="en-US" sz="1200" b="1" dirty="0">
                          <a:solidFill>
                            <a:srgbClr val="FFFFFF"/>
                          </a:solidFill>
                        </a:rPr>
                        <a:t>Root cause found with</a:t>
                      </a:r>
                      <a:endParaRPr lang="en-US" sz="1200" dirty="0"/>
                    </a:p>
                  </a:txBody>
                  <a:tcPr marL="91440" marR="91440" marT="36576" marB="36576">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766E"/>
                    </a:solidFill>
                  </a:tcPr>
                </a:tc>
              </a:tr>
              <a:tr h="384048">
                <a:tc>
                  <a:txBody>
                    <a:bodyPr/>
                    <a:lstStyle/>
                    <a:p>
                      <a:pPr indent="0" marL="0">
                        <a:buNone/>
                      </a:pPr>
                      <a:r>
                        <a:rPr lang="en-US" sz="1200" dirty="0">
                          <a:solidFill>
                            <a:srgbClr val="0F172A"/>
                          </a:solidFill>
                        </a:rPr>
                        <a:t>Typo in DB host</a:t>
                      </a:r>
                      <a:endParaRPr lang="en-US" sz="1200" dirty="0"/>
                    </a:p>
                  </a:txBody>
                  <a:tcPr marL="91440" marR="91440" marT="36576" marB="36576">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rPr>
                        <a:t>new pods stuck in Init, app still up</a:t>
                      </a:r>
                      <a:endParaRPr lang="en-US" sz="1200" dirty="0"/>
                    </a:p>
                  </a:txBody>
                  <a:tcPr marL="91440" marR="91440" marT="36576" marB="36576">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rPr>
                        <a:t>init container logs, DNS lookup</a:t>
                      </a:r>
                      <a:endParaRPr lang="en-US" sz="1200" dirty="0"/>
                    </a:p>
                  </a:txBody>
                  <a:tcPr marL="91440" marR="91440" marT="36576" marB="36576">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0F172A"/>
                          </a:solidFill>
                        </a:rPr>
                        <a:t>Image tag never pushed</a:t>
                      </a:r>
                      <a:endParaRPr lang="en-US" sz="1200" dirty="0"/>
                    </a:p>
                  </a:txBody>
                  <a:tcPr marL="91440" marR="91440" marT="36576" marB="36576">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rPr>
                        <a:t>ImagePullBackOff</a:t>
                      </a:r>
                      <a:endParaRPr lang="en-US" sz="1200" dirty="0"/>
                    </a:p>
                  </a:txBody>
                  <a:tcPr marL="91440" marR="91440" marT="36576" marB="36576">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rPr>
                        <a:t>kubectl describe pod, Events</a:t>
                      </a:r>
                      <a:endParaRPr lang="en-US" sz="1200" dirty="0"/>
                    </a:p>
                  </a:txBody>
                  <a:tcPr marL="91440" marR="91440" marT="36576" marB="36576">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0F172A"/>
                          </a:solidFill>
                        </a:rPr>
                        <a:t>DB Secret re-created</a:t>
                      </a:r>
                      <a:endParaRPr lang="en-US" sz="1200" dirty="0"/>
                    </a:p>
                  </a:txBody>
                  <a:tcPr marL="91440" marR="91440" marT="36576" marB="36576">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rPr>
                        <a:t>pods stuck retrying</a:t>
                      </a:r>
                      <a:endParaRPr lang="en-US" sz="1200" dirty="0"/>
                    </a:p>
                  </a:txBody>
                  <a:tcPr marL="91440" marR="91440" marT="36576" marB="36576">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rPr>
                        <a:t>Postgres log: password failed</a:t>
                      </a:r>
                      <a:endParaRPr lang="en-US" sz="1200" dirty="0"/>
                    </a:p>
                  </a:txBody>
                  <a:tcPr marL="91440" marR="91440" marT="36576" marB="36576">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0F172A"/>
                          </a:solidFill>
                        </a:rPr>
                        <a:t>Service targetPort edited</a:t>
                      </a:r>
                      <a:endParaRPr lang="en-US" sz="1200" dirty="0"/>
                    </a:p>
                  </a:txBody>
                  <a:tcPr marL="91440" marR="91440" marT="36576" marB="36576">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rPr>
                        <a:t>502 on every API call, pods Ready</a:t>
                      </a:r>
                      <a:endParaRPr lang="en-US" sz="1200" dirty="0"/>
                    </a:p>
                  </a:txBody>
                  <a:tcPr marL="91440" marR="91440" marT="36576" marB="36576">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rPr>
                        <a:t>endpoints show the wrong port</a:t>
                      </a:r>
                      <a:endParaRPr lang="en-US" sz="1200" dirty="0"/>
                    </a:p>
                  </a:txBody>
                  <a:tcPr marL="91440" marR="91440" marT="36576" marB="36576">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0F172A"/>
                          </a:solidFill>
                        </a:rPr>
                        <a:t>Service selector wrong</a:t>
                      </a:r>
                      <a:endParaRPr lang="en-US" sz="1200" dirty="0"/>
                    </a:p>
                  </a:txBody>
                  <a:tcPr marL="91440" marR="91440" marT="36576" marB="36576">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rPr>
                        <a:t>connection refused, pods Ready</a:t>
                      </a:r>
                      <a:endParaRPr lang="en-US" sz="1200" dirty="0"/>
                    </a:p>
                  </a:txBody>
                  <a:tcPr marL="91440" marR="91440" marT="36576" marB="36576">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rPr>
                        <a:t>endpoints empty, labels differ</a:t>
                      </a:r>
                      <a:endParaRPr lang="en-US" sz="1200" dirty="0"/>
                    </a:p>
                  </a:txBody>
                  <a:tcPr marL="91440" marR="91440" marT="36576" marB="36576">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0F172A"/>
                          </a:solidFill>
                        </a:rPr>
                        <a:t>Scrape annotation wrong</a:t>
                      </a:r>
                      <a:endParaRPr lang="en-US" sz="1200" dirty="0"/>
                    </a:p>
                  </a:txBody>
                  <a:tcPr marL="91440" marR="91440" marT="36576" marB="36576">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rPr>
                        <a:t>app fine, targets DOWN</a:t>
                      </a:r>
                      <a:endParaRPr lang="en-US" sz="1200" dirty="0"/>
                    </a:p>
                  </a:txBody>
                  <a:tcPr marL="91440" marR="91440" marT="36576" marB="36576">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rPr>
                        <a:t>Prometheus scrape URL</a:t>
                      </a:r>
                      <a:endParaRPr lang="en-US" sz="1200" dirty="0"/>
                    </a:p>
                  </a:txBody>
                  <a:tcPr marL="91440" marR="91440" marT="36576" marB="36576">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457200" y="3931920"/>
            <a:ext cx="8229600" cy="320040"/>
          </a:xfrm>
          <a:prstGeom prst="rect">
            <a:avLst/>
          </a:prstGeom>
          <a:noFill/>
          <a:ln/>
        </p:spPr>
        <p:txBody>
          <a:bodyPr wrap="square" lIns="0" tIns="0" rIns="0" bIns="0" rtlCol="0" anchor="t"/>
          <a:lstStyle/>
          <a:p>
            <a:pPr indent="0" marL="0">
              <a:buNone/>
            </a:pPr>
            <a:r>
              <a:rPr lang="en-US" sz="1400" i="1" dirty="0">
                <a:solidFill>
                  <a:schemeClr val="accent1"/>
                </a:solidFill>
              </a:rPr>
              <a:t>Each one: identify  →  investigate  →  root cause  →  fix  →  verify</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indent="0" marL="0">
              <a:buNone/>
            </a:pPr>
            <a:r>
              <a:rPr lang="en-US" sz="3600" b="1" dirty="0">
                <a:solidFill>
                  <a:schemeClr val="tx1"/>
                </a:solidFill>
              </a:rPr>
              <a:t>Real bugs I found by breaking things</a:t>
            </a:r>
            <a:endParaRPr lang="en-US" sz="3600" dirty="0"/>
          </a:p>
        </p:txBody>
      </p:sp>
      <p:sp>
        <p:nvSpPr>
          <p:cNvPr id="3" name="bug 1"/>
          <p:cNvSpPr/>
          <p:nvPr/>
        </p:nvSpPr>
        <p:spPr>
          <a:xfrm>
            <a:off x="457200" y="1051560"/>
            <a:ext cx="4023360" cy="1554480"/>
          </a:xfrm>
          <a:prstGeom prst="roundRect">
            <a:avLst>
              <a:gd name="adj" fmla="val 4706"/>
            </a:avLst>
          </a:prstGeom>
          <a:solidFill>
            <a:schemeClr val="bg2"/>
          </a:solidFill>
          <a:ln w="12700">
            <a:solidFill>
              <a:schemeClr val="bg2"/>
            </a:solidFill>
            <a:prstDash val="solid"/>
          </a:ln>
        </p:spPr>
      </p:sp>
      <p:sp>
        <p:nvSpPr>
          <p:cNvPr id="4" name="Ingress hung on 29% of requests circle"/>
          <p:cNvSpPr/>
          <p:nvPr/>
        </p:nvSpPr>
        <p:spPr>
          <a:xfrm>
            <a:off x="621792" y="1216152"/>
            <a:ext cx="457200" cy="457200"/>
          </a:xfrm>
          <a:prstGeom prst="ellipse">
            <a:avLst/>
          </a:prstGeom>
          <a:solidFill>
            <a:schemeClr val="accent4"/>
          </a:solidFill>
          <a:ln w="12700">
            <a:solidFill>
              <a:schemeClr val="accent4"/>
            </a:solidFill>
            <a:prstDash val="solid"/>
          </a:ln>
        </p:spPr>
      </p:sp>
      <p:pic>
        <p:nvPicPr>
          <p:cNvPr id="5" name="Ingress hung on 29% of requests icon" descr="Ingress hung on 29% of requests">    </p:cNvPr>
          <p:cNvPicPr>
            <a:picLocks noChangeAspect="1"/>
          </p:cNvPicPr>
          <p:nvPr/>
        </p:nvPicPr>
        <p:blipFill>
          <a:blip r:embed="rId1"/>
          <a:stretch>
            <a:fillRect/>
          </a:stretch>
        </p:blipFill>
        <p:spPr>
          <a:xfrm>
            <a:off x="731520" y="1325880"/>
            <a:ext cx="237744" cy="237744"/>
          </a:xfrm>
          <a:prstGeom prst="rect">
            <a:avLst/>
          </a:prstGeom>
        </p:spPr>
      </p:pic>
      <p:sp>
        <p:nvSpPr>
          <p:cNvPr id="6" name="Text 3"/>
          <p:cNvSpPr txBox="1"/>
          <p:nvPr/>
        </p:nvSpPr>
        <p:spPr>
          <a:xfrm>
            <a:off x="1207008" y="1188720"/>
            <a:ext cx="3154680" cy="512064"/>
          </a:xfrm>
          <a:prstGeom prst="rect">
            <a:avLst/>
          </a:prstGeom>
          <a:noFill/>
          <a:ln/>
        </p:spPr>
        <p:txBody>
          <a:bodyPr wrap="square" lIns="0" tIns="0" rIns="0" bIns="0" rtlCol="0" anchor="ctr"/>
          <a:lstStyle/>
          <a:p>
            <a:pPr indent="0" marL="0">
              <a:buNone/>
            </a:pPr>
            <a:r>
              <a:rPr lang="en-US" sz="1400" b="1" dirty="0">
                <a:solidFill>
                  <a:schemeClr val="tx1"/>
                </a:solidFill>
              </a:rPr>
              <a:t>Ingress hung on 29% of requests</a:t>
            </a:r>
            <a:endParaRPr lang="en-US" sz="1400" dirty="0"/>
          </a:p>
        </p:txBody>
      </p:sp>
      <p:sp>
        <p:nvSpPr>
          <p:cNvPr id="7" name="Text 4"/>
          <p:cNvSpPr txBox="1"/>
          <p:nvPr/>
        </p:nvSpPr>
        <p:spPr>
          <a:xfrm>
            <a:off x="640080" y="1764792"/>
            <a:ext cx="3657600" cy="457200"/>
          </a:xfrm>
          <a:prstGeom prst="rect">
            <a:avLst/>
          </a:prstGeom>
          <a:noFill/>
          <a:ln/>
        </p:spPr>
        <p:txBody>
          <a:bodyPr wrap="square" lIns="0" tIns="0" rIns="0" bIns="0" rtlCol="0" anchor="t"/>
          <a:lstStyle/>
          <a:p>
            <a:pPr indent="0" marL="0">
              <a:buNone/>
            </a:pPr>
            <a:r>
              <a:rPr lang="en-US" sz="1100" dirty="0">
                <a:solidFill>
                  <a:schemeClr val="accent5"/>
                </a:solidFill>
              </a:rPr>
              <a:t>7 of 24 nginx workers had died during a reload and their sockets swallowed connections</a:t>
            </a:r>
            <a:endParaRPr lang="en-US" sz="1100" dirty="0"/>
          </a:p>
        </p:txBody>
      </p:sp>
      <p:sp>
        <p:nvSpPr>
          <p:cNvPr id="8" name="Text 5"/>
          <p:cNvSpPr txBox="1"/>
          <p:nvPr/>
        </p:nvSpPr>
        <p:spPr>
          <a:xfrm>
            <a:off x="640080" y="2221992"/>
            <a:ext cx="3657600" cy="292608"/>
          </a:xfrm>
          <a:prstGeom prst="rect">
            <a:avLst/>
          </a:prstGeom>
          <a:noFill/>
          <a:ln/>
        </p:spPr>
        <p:txBody>
          <a:bodyPr wrap="square" lIns="0" tIns="0" rIns="0" bIns="0" rtlCol="0" anchor="t"/>
          <a:lstStyle/>
          <a:p>
            <a:pPr indent="0" marL="0">
              <a:buNone/>
            </a:pPr>
            <a:r>
              <a:rPr lang="en-US" sz="1400" b="1" dirty="0">
                <a:solidFill>
                  <a:schemeClr val="accent1"/>
                </a:solidFill>
              </a:rPr>
              <a:t>29 / 100 → 0 / 100</a:t>
            </a:r>
            <a:endParaRPr lang="en-US" sz="1400" dirty="0"/>
          </a:p>
        </p:txBody>
      </p:sp>
      <p:sp>
        <p:nvSpPr>
          <p:cNvPr id="9" name="bug 2"/>
          <p:cNvSpPr/>
          <p:nvPr/>
        </p:nvSpPr>
        <p:spPr>
          <a:xfrm>
            <a:off x="4663440" y="1051560"/>
            <a:ext cx="4023360" cy="1554480"/>
          </a:xfrm>
          <a:prstGeom prst="roundRect">
            <a:avLst>
              <a:gd name="adj" fmla="val 4706"/>
            </a:avLst>
          </a:prstGeom>
          <a:solidFill>
            <a:schemeClr val="bg2"/>
          </a:solidFill>
          <a:ln w="12700">
            <a:solidFill>
              <a:schemeClr val="bg2"/>
            </a:solidFill>
            <a:prstDash val="solid"/>
          </a:ln>
        </p:spPr>
      </p:sp>
      <p:sp>
        <p:nvSpPr>
          <p:cNvPr id="10" name="A typo silently created an empty database circle"/>
          <p:cNvSpPr/>
          <p:nvPr/>
        </p:nvSpPr>
        <p:spPr>
          <a:xfrm>
            <a:off x="4828032" y="1216152"/>
            <a:ext cx="457200" cy="457200"/>
          </a:xfrm>
          <a:prstGeom prst="ellipse">
            <a:avLst/>
          </a:prstGeom>
          <a:solidFill>
            <a:schemeClr val="accent4"/>
          </a:solidFill>
          <a:ln w="12700">
            <a:solidFill>
              <a:schemeClr val="accent4"/>
            </a:solidFill>
            <a:prstDash val="solid"/>
          </a:ln>
        </p:spPr>
      </p:sp>
      <p:pic>
        <p:nvPicPr>
          <p:cNvPr id="11" name="A typo silently created an empty database icon" descr="A typo silently created an empty database">    </p:cNvPr>
          <p:cNvPicPr>
            <a:picLocks noChangeAspect="1"/>
          </p:cNvPicPr>
          <p:nvPr/>
        </p:nvPicPr>
        <p:blipFill>
          <a:blip r:embed="rId2"/>
          <a:stretch>
            <a:fillRect/>
          </a:stretch>
        </p:blipFill>
        <p:spPr>
          <a:xfrm>
            <a:off x="4937760" y="1325880"/>
            <a:ext cx="237744" cy="237744"/>
          </a:xfrm>
          <a:prstGeom prst="rect">
            <a:avLst/>
          </a:prstGeom>
        </p:spPr>
      </p:pic>
      <p:sp>
        <p:nvSpPr>
          <p:cNvPr id="12" name="Text 8"/>
          <p:cNvSpPr txBox="1"/>
          <p:nvPr/>
        </p:nvSpPr>
        <p:spPr>
          <a:xfrm>
            <a:off x="5413248" y="1188720"/>
            <a:ext cx="3154680" cy="512064"/>
          </a:xfrm>
          <a:prstGeom prst="rect">
            <a:avLst/>
          </a:prstGeom>
          <a:noFill/>
          <a:ln/>
        </p:spPr>
        <p:txBody>
          <a:bodyPr wrap="square" lIns="0" tIns="0" rIns="0" bIns="0" rtlCol="0" anchor="ctr"/>
          <a:lstStyle/>
          <a:p>
            <a:pPr indent="0" marL="0">
              <a:buNone/>
            </a:pPr>
            <a:r>
              <a:rPr lang="en-US" sz="1400" b="1" dirty="0">
                <a:solidFill>
                  <a:schemeClr val="tx1"/>
                </a:solidFill>
              </a:rPr>
              <a:t>A typo silently created an empty database</a:t>
            </a:r>
            <a:endParaRPr lang="en-US" sz="1400" dirty="0"/>
          </a:p>
        </p:txBody>
      </p:sp>
      <p:sp>
        <p:nvSpPr>
          <p:cNvPr id="13" name="Text 9"/>
          <p:cNvSpPr txBox="1"/>
          <p:nvPr/>
        </p:nvSpPr>
        <p:spPr>
          <a:xfrm>
            <a:off x="4846320" y="1764792"/>
            <a:ext cx="3657600" cy="457200"/>
          </a:xfrm>
          <a:prstGeom prst="rect">
            <a:avLst/>
          </a:prstGeom>
          <a:noFill/>
          <a:ln/>
        </p:spPr>
        <p:txBody>
          <a:bodyPr wrap="square" lIns="0" tIns="0" rIns="0" bIns="0" rtlCol="0" anchor="t"/>
          <a:lstStyle/>
          <a:p>
            <a:pPr indent="0" marL="0">
              <a:buNone/>
            </a:pPr>
            <a:r>
              <a:rPr lang="en-US" sz="1100" dirty="0">
                <a:solidFill>
                  <a:schemeClr val="accent5"/>
                </a:solidFill>
              </a:rPr>
              <a:t>the chart named Postgres after database.host, so a typo built a second, empty one</a:t>
            </a:r>
            <a:endParaRPr lang="en-US" sz="1100" dirty="0"/>
          </a:p>
        </p:txBody>
      </p:sp>
      <p:sp>
        <p:nvSpPr>
          <p:cNvPr id="14" name="Text 10"/>
          <p:cNvSpPr txBox="1"/>
          <p:nvPr/>
        </p:nvSpPr>
        <p:spPr>
          <a:xfrm>
            <a:off x="4846320" y="2221992"/>
            <a:ext cx="3657600" cy="292608"/>
          </a:xfrm>
          <a:prstGeom prst="rect">
            <a:avLst/>
          </a:prstGeom>
          <a:noFill/>
          <a:ln/>
        </p:spPr>
        <p:txBody>
          <a:bodyPr wrap="square" lIns="0" tIns="0" rIns="0" bIns="0" rtlCol="0" anchor="t"/>
          <a:lstStyle/>
          <a:p>
            <a:pPr indent="0" marL="0">
              <a:buNone/>
            </a:pPr>
            <a:r>
              <a:rPr lang="en-US" sz="1400" b="1" dirty="0">
                <a:solidFill>
                  <a:schemeClr val="accent1"/>
                </a:solidFill>
              </a:rPr>
              <a:t>now refused at render</a:t>
            </a:r>
            <a:endParaRPr lang="en-US" sz="1400" dirty="0"/>
          </a:p>
        </p:txBody>
      </p:sp>
      <p:sp>
        <p:nvSpPr>
          <p:cNvPr id="15" name="bug 3"/>
          <p:cNvSpPr/>
          <p:nvPr/>
        </p:nvSpPr>
        <p:spPr>
          <a:xfrm>
            <a:off x="457200" y="2743200"/>
            <a:ext cx="4023360" cy="1554480"/>
          </a:xfrm>
          <a:prstGeom prst="roundRect">
            <a:avLst>
              <a:gd name="adj" fmla="val 4706"/>
            </a:avLst>
          </a:prstGeom>
          <a:solidFill>
            <a:schemeClr val="bg2"/>
          </a:solidFill>
          <a:ln w="12700">
            <a:solidFill>
              <a:schemeClr val="bg2"/>
            </a:solidFill>
            <a:prstDash val="solid"/>
          </a:ln>
        </p:spPr>
      </p:sp>
      <p:sp>
        <p:nvSpPr>
          <p:cNvPr id="16" name="Rolling updates dropped requests circle"/>
          <p:cNvSpPr/>
          <p:nvPr/>
        </p:nvSpPr>
        <p:spPr>
          <a:xfrm>
            <a:off x="621792" y="2907792"/>
            <a:ext cx="457200" cy="457200"/>
          </a:xfrm>
          <a:prstGeom prst="ellipse">
            <a:avLst/>
          </a:prstGeom>
          <a:solidFill>
            <a:schemeClr val="accent4"/>
          </a:solidFill>
          <a:ln w="12700">
            <a:solidFill>
              <a:schemeClr val="accent4"/>
            </a:solidFill>
            <a:prstDash val="solid"/>
          </a:ln>
        </p:spPr>
      </p:sp>
      <p:pic>
        <p:nvPicPr>
          <p:cNvPr id="17" name="Rolling updates dropped requests icon" descr="Rolling updates dropped requests">    </p:cNvPr>
          <p:cNvPicPr>
            <a:picLocks noChangeAspect="1"/>
          </p:cNvPicPr>
          <p:nvPr/>
        </p:nvPicPr>
        <p:blipFill>
          <a:blip r:embed="rId3"/>
          <a:stretch>
            <a:fillRect/>
          </a:stretch>
        </p:blipFill>
        <p:spPr>
          <a:xfrm>
            <a:off x="731520" y="3017520"/>
            <a:ext cx="237744" cy="237744"/>
          </a:xfrm>
          <a:prstGeom prst="rect">
            <a:avLst/>
          </a:prstGeom>
        </p:spPr>
      </p:pic>
      <p:sp>
        <p:nvSpPr>
          <p:cNvPr id="18" name="Text 13"/>
          <p:cNvSpPr txBox="1"/>
          <p:nvPr/>
        </p:nvSpPr>
        <p:spPr>
          <a:xfrm>
            <a:off x="1207008" y="2880360"/>
            <a:ext cx="3154680" cy="512064"/>
          </a:xfrm>
          <a:prstGeom prst="rect">
            <a:avLst/>
          </a:prstGeom>
          <a:noFill/>
          <a:ln/>
        </p:spPr>
        <p:txBody>
          <a:bodyPr wrap="square" lIns="0" tIns="0" rIns="0" bIns="0" rtlCol="0" anchor="ctr"/>
          <a:lstStyle/>
          <a:p>
            <a:pPr indent="0" marL="0">
              <a:buNone/>
            </a:pPr>
            <a:r>
              <a:rPr lang="en-US" sz="1400" b="1" dirty="0">
                <a:solidFill>
                  <a:schemeClr val="tx1"/>
                </a:solidFill>
              </a:rPr>
              <a:t>Rolling updates dropped requests</a:t>
            </a:r>
            <a:endParaRPr lang="en-US" sz="1400" dirty="0"/>
          </a:p>
        </p:txBody>
      </p:sp>
      <p:sp>
        <p:nvSpPr>
          <p:cNvPr id="19" name="Text 14"/>
          <p:cNvSpPr txBox="1"/>
          <p:nvPr/>
        </p:nvSpPr>
        <p:spPr>
          <a:xfrm>
            <a:off x="640080" y="3456432"/>
            <a:ext cx="3657600" cy="457200"/>
          </a:xfrm>
          <a:prstGeom prst="rect">
            <a:avLst/>
          </a:prstGeom>
          <a:noFill/>
          <a:ln/>
        </p:spPr>
        <p:txBody>
          <a:bodyPr wrap="square" lIns="0" tIns="0" rIns="0" bIns="0" rtlCol="0" anchor="t"/>
          <a:lstStyle/>
          <a:p>
            <a:pPr indent="0" marL="0">
              <a:buNone/>
            </a:pPr>
            <a:r>
              <a:rPr lang="en-US" sz="1100" dirty="0">
                <a:solidFill>
                  <a:schemeClr val="accent5"/>
                </a:solidFill>
              </a:rPr>
              <a:t>pods stopped listening before Kubernetes stopped routing to them</a:t>
            </a:r>
            <a:endParaRPr lang="en-US" sz="1100" dirty="0"/>
          </a:p>
        </p:txBody>
      </p:sp>
      <p:sp>
        <p:nvSpPr>
          <p:cNvPr id="20" name="Text 15"/>
          <p:cNvSpPr txBox="1"/>
          <p:nvPr/>
        </p:nvSpPr>
        <p:spPr>
          <a:xfrm>
            <a:off x="640080" y="3913632"/>
            <a:ext cx="3657600" cy="292608"/>
          </a:xfrm>
          <a:prstGeom prst="rect">
            <a:avLst/>
          </a:prstGeom>
          <a:noFill/>
          <a:ln/>
        </p:spPr>
        <p:txBody>
          <a:bodyPr wrap="square" lIns="0" tIns="0" rIns="0" bIns="0" rtlCol="0" anchor="t"/>
          <a:lstStyle/>
          <a:p>
            <a:pPr indent="0" marL="0">
              <a:buNone/>
            </a:pPr>
            <a:r>
              <a:rPr lang="en-US" sz="1400" b="1" dirty="0">
                <a:solidFill>
                  <a:schemeClr val="accent1"/>
                </a:solidFill>
              </a:rPr>
              <a:t>5 / 450 → 0 / 900</a:t>
            </a:r>
            <a:endParaRPr lang="en-US" sz="1400" dirty="0"/>
          </a:p>
        </p:txBody>
      </p:sp>
      <p:sp>
        <p:nvSpPr>
          <p:cNvPr id="21" name="bug 4"/>
          <p:cNvSpPr/>
          <p:nvPr/>
        </p:nvSpPr>
        <p:spPr>
          <a:xfrm>
            <a:off x="4663440" y="2743200"/>
            <a:ext cx="4023360" cy="1554480"/>
          </a:xfrm>
          <a:prstGeom prst="roundRect">
            <a:avLst>
              <a:gd name="adj" fmla="val 4706"/>
            </a:avLst>
          </a:prstGeom>
          <a:solidFill>
            <a:schemeClr val="bg2"/>
          </a:solidFill>
          <a:ln w="12700">
            <a:solidFill>
              <a:schemeClr val="bg2"/>
            </a:solidFill>
            <a:prstDash val="solid"/>
          </a:ln>
        </p:spPr>
      </p:sp>
      <p:sp>
        <p:nvSpPr>
          <p:cNvPr id="22" name="Under load, the database was restarted circle"/>
          <p:cNvSpPr/>
          <p:nvPr/>
        </p:nvSpPr>
        <p:spPr>
          <a:xfrm>
            <a:off x="4828032" y="2907792"/>
            <a:ext cx="457200" cy="457200"/>
          </a:xfrm>
          <a:prstGeom prst="ellipse">
            <a:avLst/>
          </a:prstGeom>
          <a:solidFill>
            <a:schemeClr val="accent4"/>
          </a:solidFill>
          <a:ln w="12700">
            <a:solidFill>
              <a:schemeClr val="accent4"/>
            </a:solidFill>
            <a:prstDash val="solid"/>
          </a:ln>
        </p:spPr>
      </p:sp>
      <p:pic>
        <p:nvPicPr>
          <p:cNvPr id="23" name="Under load, the database was restarted icon" descr="Under load, the database was restarted">    </p:cNvPr>
          <p:cNvPicPr>
            <a:picLocks noChangeAspect="1"/>
          </p:cNvPicPr>
          <p:nvPr/>
        </p:nvPicPr>
        <p:blipFill>
          <a:blip r:embed="rId4"/>
          <a:stretch>
            <a:fillRect/>
          </a:stretch>
        </p:blipFill>
        <p:spPr>
          <a:xfrm>
            <a:off x="4937760" y="3017520"/>
            <a:ext cx="237744" cy="237744"/>
          </a:xfrm>
          <a:prstGeom prst="rect">
            <a:avLst/>
          </a:prstGeom>
        </p:spPr>
      </p:pic>
      <p:sp>
        <p:nvSpPr>
          <p:cNvPr id="24" name="Text 18"/>
          <p:cNvSpPr txBox="1"/>
          <p:nvPr/>
        </p:nvSpPr>
        <p:spPr>
          <a:xfrm>
            <a:off x="5413248" y="2880360"/>
            <a:ext cx="3154680" cy="512064"/>
          </a:xfrm>
          <a:prstGeom prst="rect">
            <a:avLst/>
          </a:prstGeom>
          <a:noFill/>
          <a:ln/>
        </p:spPr>
        <p:txBody>
          <a:bodyPr wrap="square" lIns="0" tIns="0" rIns="0" bIns="0" rtlCol="0" anchor="ctr"/>
          <a:lstStyle/>
          <a:p>
            <a:pPr indent="0" marL="0">
              <a:buNone/>
            </a:pPr>
            <a:r>
              <a:rPr lang="en-US" sz="1400" b="1" dirty="0">
                <a:solidFill>
                  <a:schemeClr val="tx1"/>
                </a:solidFill>
              </a:rPr>
              <a:t>Under load, the database was restarted</a:t>
            </a:r>
            <a:endParaRPr lang="en-US" sz="1400" dirty="0"/>
          </a:p>
        </p:txBody>
      </p:sp>
      <p:sp>
        <p:nvSpPr>
          <p:cNvPr id="25" name="Text 19"/>
          <p:cNvSpPr txBox="1"/>
          <p:nvPr/>
        </p:nvSpPr>
        <p:spPr>
          <a:xfrm>
            <a:off x="4846320" y="3456432"/>
            <a:ext cx="3657600" cy="457200"/>
          </a:xfrm>
          <a:prstGeom prst="rect">
            <a:avLst/>
          </a:prstGeom>
          <a:noFill/>
          <a:ln/>
        </p:spPr>
        <p:txBody>
          <a:bodyPr wrap="square" lIns="0" tIns="0" rIns="0" bIns="0" rtlCol="0" anchor="t"/>
          <a:lstStyle/>
          <a:p>
            <a:pPr indent="0" marL="0">
              <a:buNone/>
            </a:pPr>
            <a:r>
              <a:rPr lang="en-US" sz="1100" dirty="0">
                <a:solidFill>
                  <a:schemeClr val="accent5"/>
                </a:solidFill>
              </a:rPr>
              <a:t>a 1 s liveness probe timed out while Postgres was busy</a:t>
            </a:r>
            <a:endParaRPr lang="en-US" sz="1100" dirty="0"/>
          </a:p>
        </p:txBody>
      </p:sp>
      <p:sp>
        <p:nvSpPr>
          <p:cNvPr id="26" name="Text 20"/>
          <p:cNvSpPr txBox="1"/>
          <p:nvPr/>
        </p:nvSpPr>
        <p:spPr>
          <a:xfrm>
            <a:off x="4846320" y="3913632"/>
            <a:ext cx="3657600" cy="292608"/>
          </a:xfrm>
          <a:prstGeom prst="rect">
            <a:avLst/>
          </a:prstGeom>
          <a:noFill/>
          <a:ln/>
        </p:spPr>
        <p:txBody>
          <a:bodyPr wrap="square" lIns="0" tIns="0" rIns="0" bIns="0" rtlCol="0" anchor="t"/>
          <a:lstStyle/>
          <a:p>
            <a:pPr indent="0" marL="0">
              <a:buNone/>
            </a:pPr>
            <a:r>
              <a:rPr lang="en-US" sz="1400" b="1" dirty="0">
                <a:solidFill>
                  <a:schemeClr val="accent1"/>
                </a:solidFill>
              </a:rPr>
              <a:t>409 → 0 failed</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indent="0" marL="0">
              <a:buNone/>
            </a:pPr>
            <a:r>
              <a:rPr lang="en-US" sz="3600" b="1" dirty="0">
                <a:solidFill>
                  <a:schemeClr val="tx1"/>
                </a:solidFill>
              </a:rPr>
              <a:t>Live demo: what I'll show</a:t>
            </a:r>
            <a:endParaRPr lang="en-US" sz="3600" dirty="0"/>
          </a:p>
        </p:txBody>
      </p:sp>
      <p:sp>
        <p:nvSpPr>
          <p:cNvPr id="3" name="num 1"/>
          <p:cNvSpPr/>
          <p:nvPr/>
        </p:nvSpPr>
        <p:spPr>
          <a:xfrm>
            <a:off x="457200" y="1078992"/>
            <a:ext cx="438912" cy="438912"/>
          </a:xfrm>
          <a:prstGeom prst="ellipse">
            <a:avLst/>
          </a:prstGeom>
          <a:solidFill>
            <a:srgbClr val="0F766E"/>
          </a:solidFill>
          <a:ln w="12700">
            <a:solidFill>
              <a:srgbClr val="0F766E"/>
            </a:solidFill>
            <a:prstDash val="solid"/>
          </a:ln>
        </p:spPr>
      </p:sp>
      <p:sp>
        <p:nvSpPr>
          <p:cNvPr id="4" name="Text 2"/>
          <p:cNvSpPr txBox="1"/>
          <p:nvPr/>
        </p:nvSpPr>
        <p:spPr>
          <a:xfrm>
            <a:off x="457200" y="1078992"/>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5" name="Text 3"/>
          <p:cNvSpPr txBox="1"/>
          <p:nvPr/>
        </p:nvSpPr>
        <p:spPr>
          <a:xfrm>
            <a:off x="1024128" y="1042416"/>
            <a:ext cx="3474720" cy="274320"/>
          </a:xfrm>
          <a:prstGeom prst="rect">
            <a:avLst/>
          </a:prstGeom>
          <a:noFill/>
          <a:ln/>
        </p:spPr>
        <p:txBody>
          <a:bodyPr wrap="square" lIns="0" tIns="0" rIns="0" bIns="0" rtlCol="0" anchor="t"/>
          <a:lstStyle/>
          <a:p>
            <a:pPr indent="0" marL="0">
              <a:buNone/>
            </a:pPr>
            <a:r>
              <a:rPr lang="en-US" sz="1400" b="1" dirty="0">
                <a:solidFill>
                  <a:schemeClr val="tx1"/>
                </a:solidFill>
              </a:rPr>
              <a:t>Add an expense in the app</a:t>
            </a:r>
            <a:endParaRPr lang="en-US" sz="1400" dirty="0"/>
          </a:p>
        </p:txBody>
      </p:sp>
      <p:sp>
        <p:nvSpPr>
          <p:cNvPr id="6" name="Text 4"/>
          <p:cNvSpPr txBox="1"/>
          <p:nvPr/>
        </p:nvSpPr>
        <p:spPr>
          <a:xfrm>
            <a:off x="1024128" y="1316736"/>
            <a:ext cx="3474720" cy="256032"/>
          </a:xfrm>
          <a:prstGeom prst="rect">
            <a:avLst/>
          </a:prstGeom>
          <a:noFill/>
          <a:ln/>
        </p:spPr>
        <p:txBody>
          <a:bodyPr wrap="square" lIns="0" tIns="0" rIns="0" bIns="0" rtlCol="0" anchor="t"/>
          <a:lstStyle/>
          <a:p>
            <a:pPr indent="0" marL="0">
              <a:buNone/>
            </a:pPr>
            <a:r>
              <a:rPr lang="en-US" sz="1200" dirty="0">
                <a:solidFill>
                  <a:schemeClr val="accent5"/>
                </a:solidFill>
              </a:rPr>
              <a:t>budget card and pace update</a:t>
            </a:r>
            <a:endParaRPr lang="en-US" sz="1200" dirty="0"/>
          </a:p>
        </p:txBody>
      </p:sp>
      <p:sp>
        <p:nvSpPr>
          <p:cNvPr id="7" name="num 2"/>
          <p:cNvSpPr/>
          <p:nvPr/>
        </p:nvSpPr>
        <p:spPr>
          <a:xfrm>
            <a:off x="4663440" y="1078992"/>
            <a:ext cx="438912" cy="438912"/>
          </a:xfrm>
          <a:prstGeom prst="ellipse">
            <a:avLst/>
          </a:prstGeom>
          <a:solidFill>
            <a:srgbClr val="0F766E"/>
          </a:solidFill>
          <a:ln w="12700">
            <a:solidFill>
              <a:srgbClr val="0F766E"/>
            </a:solidFill>
            <a:prstDash val="solid"/>
          </a:ln>
        </p:spPr>
      </p:sp>
      <p:sp>
        <p:nvSpPr>
          <p:cNvPr id="8" name="Text 6"/>
          <p:cNvSpPr txBox="1"/>
          <p:nvPr/>
        </p:nvSpPr>
        <p:spPr>
          <a:xfrm>
            <a:off x="4663440" y="1078992"/>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9" name="Text 7"/>
          <p:cNvSpPr txBox="1"/>
          <p:nvPr/>
        </p:nvSpPr>
        <p:spPr>
          <a:xfrm>
            <a:off x="5230368" y="1042416"/>
            <a:ext cx="3474720" cy="274320"/>
          </a:xfrm>
          <a:prstGeom prst="rect">
            <a:avLst/>
          </a:prstGeom>
          <a:noFill/>
          <a:ln/>
        </p:spPr>
        <p:txBody>
          <a:bodyPr wrap="square" lIns="0" tIns="0" rIns="0" bIns="0" rtlCol="0" anchor="t"/>
          <a:lstStyle/>
          <a:p>
            <a:pPr indent="0" marL="0">
              <a:buNone/>
            </a:pPr>
            <a:r>
              <a:rPr lang="en-US" sz="1400" b="1" dirty="0">
                <a:solidFill>
                  <a:schemeClr val="tx1"/>
                </a:solidFill>
              </a:rPr>
              <a:t>CRUD in Swagger at /docs</a:t>
            </a:r>
            <a:endParaRPr lang="en-US" sz="1400" dirty="0"/>
          </a:p>
        </p:txBody>
      </p:sp>
      <p:sp>
        <p:nvSpPr>
          <p:cNvPr id="10" name="Text 8"/>
          <p:cNvSpPr txBox="1"/>
          <p:nvPr/>
        </p:nvSpPr>
        <p:spPr>
          <a:xfrm>
            <a:off x="5230368" y="1316736"/>
            <a:ext cx="3474720" cy="256032"/>
          </a:xfrm>
          <a:prstGeom prst="rect">
            <a:avLst/>
          </a:prstGeom>
          <a:noFill/>
          <a:ln/>
        </p:spPr>
        <p:txBody>
          <a:bodyPr wrap="square" lIns="0" tIns="0" rIns="0" bIns="0" rtlCol="0" anchor="t"/>
          <a:lstStyle/>
          <a:p>
            <a:pPr indent="0" marL="0">
              <a:buNone/>
            </a:pPr>
            <a:r>
              <a:rPr lang="en-US" sz="1200" dirty="0">
                <a:solidFill>
                  <a:schemeClr val="accent5"/>
                </a:solidFill>
              </a:rPr>
              <a:t>the API on its own</a:t>
            </a:r>
            <a:endParaRPr lang="en-US" sz="1200" dirty="0"/>
          </a:p>
        </p:txBody>
      </p:sp>
      <p:sp>
        <p:nvSpPr>
          <p:cNvPr id="11" name="num 3"/>
          <p:cNvSpPr/>
          <p:nvPr/>
        </p:nvSpPr>
        <p:spPr>
          <a:xfrm>
            <a:off x="457200" y="1755648"/>
            <a:ext cx="438912" cy="438912"/>
          </a:xfrm>
          <a:prstGeom prst="ellipse">
            <a:avLst/>
          </a:prstGeom>
          <a:solidFill>
            <a:srgbClr val="0F766E"/>
          </a:solidFill>
          <a:ln w="12700">
            <a:solidFill>
              <a:srgbClr val="0F766E"/>
            </a:solidFill>
            <a:prstDash val="solid"/>
          </a:ln>
        </p:spPr>
      </p:sp>
      <p:sp>
        <p:nvSpPr>
          <p:cNvPr id="12" name="Text 10"/>
          <p:cNvSpPr txBox="1"/>
          <p:nvPr/>
        </p:nvSpPr>
        <p:spPr>
          <a:xfrm>
            <a:off x="457200" y="1755648"/>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3" name="Text 11"/>
          <p:cNvSpPr txBox="1"/>
          <p:nvPr/>
        </p:nvSpPr>
        <p:spPr>
          <a:xfrm>
            <a:off x="1024128" y="1719072"/>
            <a:ext cx="3474720" cy="274320"/>
          </a:xfrm>
          <a:prstGeom prst="rect">
            <a:avLst/>
          </a:prstGeom>
          <a:noFill/>
          <a:ln/>
        </p:spPr>
        <p:txBody>
          <a:bodyPr wrap="square" lIns="0" tIns="0" rIns="0" bIns="0" rtlCol="0" anchor="t"/>
          <a:lstStyle/>
          <a:p>
            <a:pPr indent="0" marL="0">
              <a:buNone/>
            </a:pPr>
            <a:r>
              <a:rPr lang="en-US" sz="1400" b="1" dirty="0">
                <a:solidFill>
                  <a:schemeClr val="tx1"/>
                </a:solidFill>
              </a:rPr>
              <a:t>Commit a visible change</a:t>
            </a:r>
            <a:endParaRPr lang="en-US" sz="1400" dirty="0"/>
          </a:p>
        </p:txBody>
      </p:sp>
      <p:sp>
        <p:nvSpPr>
          <p:cNvPr id="14" name="Text 12"/>
          <p:cNvSpPr txBox="1"/>
          <p:nvPr/>
        </p:nvSpPr>
        <p:spPr>
          <a:xfrm>
            <a:off x="1024128" y="1993392"/>
            <a:ext cx="3474720" cy="256032"/>
          </a:xfrm>
          <a:prstGeom prst="rect">
            <a:avLst/>
          </a:prstGeom>
          <a:noFill/>
          <a:ln/>
        </p:spPr>
        <p:txBody>
          <a:bodyPr wrap="square" lIns="0" tIns="0" rIns="0" bIns="0" rtlCol="0" anchor="t"/>
          <a:lstStyle/>
          <a:p>
            <a:pPr indent="0" marL="0">
              <a:buNone/>
            </a:pPr>
            <a:r>
              <a:rPr lang="en-US" sz="1200" dirty="0">
                <a:solidFill>
                  <a:schemeClr val="accent5"/>
                </a:solidFill>
              </a:rPr>
              <a:t>and push to main</a:t>
            </a:r>
            <a:endParaRPr lang="en-US" sz="1200" dirty="0"/>
          </a:p>
        </p:txBody>
      </p:sp>
      <p:sp>
        <p:nvSpPr>
          <p:cNvPr id="15" name="num 4"/>
          <p:cNvSpPr/>
          <p:nvPr/>
        </p:nvSpPr>
        <p:spPr>
          <a:xfrm>
            <a:off x="4663440" y="1755648"/>
            <a:ext cx="438912" cy="438912"/>
          </a:xfrm>
          <a:prstGeom prst="ellipse">
            <a:avLst/>
          </a:prstGeom>
          <a:solidFill>
            <a:srgbClr val="0F766E"/>
          </a:solidFill>
          <a:ln w="12700">
            <a:solidFill>
              <a:srgbClr val="0F766E"/>
            </a:solidFill>
            <a:prstDash val="solid"/>
          </a:ln>
        </p:spPr>
      </p:sp>
      <p:sp>
        <p:nvSpPr>
          <p:cNvPr id="16" name="Text 14"/>
          <p:cNvSpPr txBox="1"/>
          <p:nvPr/>
        </p:nvSpPr>
        <p:spPr>
          <a:xfrm>
            <a:off x="4663440" y="1755648"/>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17" name="Text 15"/>
          <p:cNvSpPr txBox="1"/>
          <p:nvPr/>
        </p:nvSpPr>
        <p:spPr>
          <a:xfrm>
            <a:off x="5230368" y="1719072"/>
            <a:ext cx="3474720" cy="274320"/>
          </a:xfrm>
          <a:prstGeom prst="rect">
            <a:avLst/>
          </a:prstGeom>
          <a:noFill/>
          <a:ln/>
        </p:spPr>
        <p:txBody>
          <a:bodyPr wrap="square" lIns="0" tIns="0" rIns="0" bIns="0" rtlCol="0" anchor="t"/>
          <a:lstStyle/>
          <a:p>
            <a:pPr indent="0" marL="0">
              <a:buNone/>
            </a:pPr>
            <a:r>
              <a:rPr lang="en-US" sz="1400" b="1" dirty="0">
                <a:solidFill>
                  <a:schemeClr val="tx1"/>
                </a:solidFill>
              </a:rPr>
              <a:t>Watch the pipeline</a:t>
            </a:r>
            <a:endParaRPr lang="en-US" sz="1400" dirty="0"/>
          </a:p>
        </p:txBody>
      </p:sp>
      <p:sp>
        <p:nvSpPr>
          <p:cNvPr id="18" name="Text 16"/>
          <p:cNvSpPr txBox="1"/>
          <p:nvPr/>
        </p:nvSpPr>
        <p:spPr>
          <a:xfrm>
            <a:off x="5230368" y="1993392"/>
            <a:ext cx="3474720" cy="256032"/>
          </a:xfrm>
          <a:prstGeom prst="rect">
            <a:avLst/>
          </a:prstGeom>
          <a:noFill/>
          <a:ln/>
        </p:spPr>
        <p:txBody>
          <a:bodyPr wrap="square" lIns="0" tIns="0" rIns="0" bIns="0" rtlCol="0" anchor="t"/>
          <a:lstStyle/>
          <a:p>
            <a:pPr indent="0" marL="0">
              <a:buNone/>
            </a:pPr>
            <a:r>
              <a:rPr lang="en-US" sz="1200" dirty="0">
                <a:solidFill>
                  <a:schemeClr val="accent5"/>
                </a:solidFill>
              </a:rPr>
              <a:t>tests, scans, gate, push</a:t>
            </a:r>
            <a:endParaRPr lang="en-US" sz="1200" dirty="0"/>
          </a:p>
        </p:txBody>
      </p:sp>
      <p:sp>
        <p:nvSpPr>
          <p:cNvPr id="19" name="num 5"/>
          <p:cNvSpPr/>
          <p:nvPr/>
        </p:nvSpPr>
        <p:spPr>
          <a:xfrm>
            <a:off x="457200" y="2432304"/>
            <a:ext cx="438912" cy="438912"/>
          </a:xfrm>
          <a:prstGeom prst="ellipse">
            <a:avLst/>
          </a:prstGeom>
          <a:solidFill>
            <a:srgbClr val="0F766E"/>
          </a:solidFill>
          <a:ln w="12700">
            <a:solidFill>
              <a:srgbClr val="0F766E"/>
            </a:solidFill>
            <a:prstDash val="solid"/>
          </a:ln>
        </p:spPr>
      </p:sp>
      <p:sp>
        <p:nvSpPr>
          <p:cNvPr id="20" name="Text 18"/>
          <p:cNvSpPr txBox="1"/>
          <p:nvPr/>
        </p:nvSpPr>
        <p:spPr>
          <a:xfrm>
            <a:off x="457200" y="2432304"/>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5</a:t>
            </a:r>
            <a:endParaRPr lang="en-US" sz="1500" dirty="0"/>
          </a:p>
        </p:txBody>
      </p:sp>
      <p:sp>
        <p:nvSpPr>
          <p:cNvPr id="21" name="Text 19"/>
          <p:cNvSpPr txBox="1"/>
          <p:nvPr/>
        </p:nvSpPr>
        <p:spPr>
          <a:xfrm>
            <a:off x="1024128" y="2395728"/>
            <a:ext cx="3474720" cy="274320"/>
          </a:xfrm>
          <a:prstGeom prst="rect">
            <a:avLst/>
          </a:prstGeom>
          <a:noFill/>
          <a:ln/>
        </p:spPr>
        <p:txBody>
          <a:bodyPr wrap="square" lIns="0" tIns="0" rIns="0" bIns="0" rtlCol="0" anchor="t"/>
          <a:lstStyle/>
          <a:p>
            <a:pPr indent="0" marL="0">
              <a:buNone/>
            </a:pPr>
            <a:r>
              <a:rPr lang="en-US" sz="1400" b="1" dirty="0">
                <a:solidFill>
                  <a:schemeClr val="tx1"/>
                </a:solidFill>
              </a:rPr>
              <a:t>Trivy + GHCR</a:t>
            </a:r>
            <a:endParaRPr lang="en-US" sz="1400" dirty="0"/>
          </a:p>
        </p:txBody>
      </p:sp>
      <p:sp>
        <p:nvSpPr>
          <p:cNvPr id="22" name="Text 20"/>
          <p:cNvSpPr txBox="1"/>
          <p:nvPr/>
        </p:nvSpPr>
        <p:spPr>
          <a:xfrm>
            <a:off x="1024128" y="2670048"/>
            <a:ext cx="3474720" cy="256032"/>
          </a:xfrm>
          <a:prstGeom prst="rect">
            <a:avLst/>
          </a:prstGeom>
          <a:noFill/>
          <a:ln/>
        </p:spPr>
        <p:txBody>
          <a:bodyPr wrap="square" lIns="0" tIns="0" rIns="0" bIns="0" rtlCol="0" anchor="t"/>
          <a:lstStyle/>
          <a:p>
            <a:pPr indent="0" marL="0">
              <a:buNone/>
            </a:pPr>
            <a:r>
              <a:rPr lang="en-US" sz="1200" dirty="0">
                <a:solidFill>
                  <a:schemeClr val="accent5"/>
                </a:solidFill>
              </a:rPr>
              <a:t>scan output, SHA-tagged images</a:t>
            </a:r>
            <a:endParaRPr lang="en-US" sz="1200" dirty="0"/>
          </a:p>
        </p:txBody>
      </p:sp>
      <p:sp>
        <p:nvSpPr>
          <p:cNvPr id="23" name="num 6"/>
          <p:cNvSpPr/>
          <p:nvPr/>
        </p:nvSpPr>
        <p:spPr>
          <a:xfrm>
            <a:off x="4663440" y="2432304"/>
            <a:ext cx="438912" cy="438912"/>
          </a:xfrm>
          <a:prstGeom prst="ellipse">
            <a:avLst/>
          </a:prstGeom>
          <a:solidFill>
            <a:srgbClr val="0F766E"/>
          </a:solidFill>
          <a:ln w="12700">
            <a:solidFill>
              <a:srgbClr val="0F766E"/>
            </a:solidFill>
            <a:prstDash val="solid"/>
          </a:ln>
        </p:spPr>
      </p:sp>
      <p:sp>
        <p:nvSpPr>
          <p:cNvPr id="24" name="Text 22"/>
          <p:cNvSpPr txBox="1"/>
          <p:nvPr/>
        </p:nvSpPr>
        <p:spPr>
          <a:xfrm>
            <a:off x="4663440" y="2432304"/>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6</a:t>
            </a:r>
            <a:endParaRPr lang="en-US" sz="1500" dirty="0"/>
          </a:p>
        </p:txBody>
      </p:sp>
      <p:sp>
        <p:nvSpPr>
          <p:cNvPr id="25" name="Text 23"/>
          <p:cNvSpPr txBox="1"/>
          <p:nvPr/>
        </p:nvSpPr>
        <p:spPr>
          <a:xfrm>
            <a:off x="5230368" y="2395728"/>
            <a:ext cx="3474720" cy="274320"/>
          </a:xfrm>
          <a:prstGeom prst="rect">
            <a:avLst/>
          </a:prstGeom>
          <a:noFill/>
          <a:ln/>
        </p:spPr>
        <p:txBody>
          <a:bodyPr wrap="square" lIns="0" tIns="0" rIns="0" bIns="0" rtlCol="0" anchor="t"/>
          <a:lstStyle/>
          <a:p>
            <a:pPr indent="0" marL="0">
              <a:buNone/>
            </a:pPr>
            <a:r>
              <a:rPr lang="en-US" sz="1400" b="1" dirty="0">
                <a:solidFill>
                  <a:schemeClr val="tx1"/>
                </a:solidFill>
              </a:rPr>
              <a:t>kubectl get pods,svc,hpa</a:t>
            </a:r>
            <a:endParaRPr lang="en-US" sz="1400" dirty="0"/>
          </a:p>
        </p:txBody>
      </p:sp>
      <p:sp>
        <p:nvSpPr>
          <p:cNvPr id="26" name="Text 24"/>
          <p:cNvSpPr txBox="1"/>
          <p:nvPr/>
        </p:nvSpPr>
        <p:spPr>
          <a:xfrm>
            <a:off x="5230368" y="2670048"/>
            <a:ext cx="3474720" cy="256032"/>
          </a:xfrm>
          <a:prstGeom prst="rect">
            <a:avLst/>
          </a:prstGeom>
          <a:noFill/>
          <a:ln/>
        </p:spPr>
        <p:txBody>
          <a:bodyPr wrap="square" lIns="0" tIns="0" rIns="0" bIns="0" rtlCol="0" anchor="t"/>
          <a:lstStyle/>
          <a:p>
            <a:pPr indent="0" marL="0">
              <a:buNone/>
            </a:pPr>
            <a:r>
              <a:rPr lang="en-US" sz="1200" dirty="0">
                <a:solidFill>
                  <a:schemeClr val="accent5"/>
                </a:solidFill>
              </a:rPr>
              <a:t>everything Running</a:t>
            </a:r>
            <a:endParaRPr lang="en-US" sz="1200" dirty="0"/>
          </a:p>
        </p:txBody>
      </p:sp>
      <p:sp>
        <p:nvSpPr>
          <p:cNvPr id="27" name="num 7"/>
          <p:cNvSpPr/>
          <p:nvPr/>
        </p:nvSpPr>
        <p:spPr>
          <a:xfrm>
            <a:off x="457200" y="3108960"/>
            <a:ext cx="438912" cy="438912"/>
          </a:xfrm>
          <a:prstGeom prst="ellipse">
            <a:avLst/>
          </a:prstGeom>
          <a:solidFill>
            <a:srgbClr val="0F766E"/>
          </a:solidFill>
          <a:ln w="12700">
            <a:solidFill>
              <a:srgbClr val="0F766E"/>
            </a:solidFill>
            <a:prstDash val="solid"/>
          </a:ln>
        </p:spPr>
      </p:sp>
      <p:sp>
        <p:nvSpPr>
          <p:cNvPr id="28" name="Text 26"/>
          <p:cNvSpPr txBox="1"/>
          <p:nvPr/>
        </p:nvSpPr>
        <p:spPr>
          <a:xfrm>
            <a:off x="457200" y="3108960"/>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7</a:t>
            </a:r>
            <a:endParaRPr lang="en-US" sz="1500" dirty="0"/>
          </a:p>
        </p:txBody>
      </p:sp>
      <p:sp>
        <p:nvSpPr>
          <p:cNvPr id="29" name="Text 27"/>
          <p:cNvSpPr txBox="1"/>
          <p:nvPr/>
        </p:nvSpPr>
        <p:spPr>
          <a:xfrm>
            <a:off x="1024128" y="3072384"/>
            <a:ext cx="3474720" cy="274320"/>
          </a:xfrm>
          <a:prstGeom prst="rect">
            <a:avLst/>
          </a:prstGeom>
          <a:noFill/>
          <a:ln/>
        </p:spPr>
        <p:txBody>
          <a:bodyPr wrap="square" lIns="0" tIns="0" rIns="0" bIns="0" rtlCol="0" anchor="t"/>
          <a:lstStyle/>
          <a:p>
            <a:pPr indent="0" marL="0">
              <a:buNone/>
            </a:pPr>
            <a:r>
              <a:rPr lang="en-US" sz="1400" b="1" dirty="0">
                <a:solidFill>
                  <a:schemeClr val="tx1"/>
                </a:solidFill>
              </a:rPr>
              <a:t>ArgoCD rolls the change</a:t>
            </a:r>
            <a:endParaRPr lang="en-US" sz="1400" dirty="0"/>
          </a:p>
        </p:txBody>
      </p:sp>
      <p:sp>
        <p:nvSpPr>
          <p:cNvPr id="30" name="Text 28"/>
          <p:cNvSpPr txBox="1"/>
          <p:nvPr/>
        </p:nvSpPr>
        <p:spPr>
          <a:xfrm>
            <a:off x="1024128" y="3346704"/>
            <a:ext cx="3474720" cy="256032"/>
          </a:xfrm>
          <a:prstGeom prst="rect">
            <a:avLst/>
          </a:prstGeom>
          <a:noFill/>
          <a:ln/>
        </p:spPr>
        <p:txBody>
          <a:bodyPr wrap="square" lIns="0" tIns="0" rIns="0" bIns="0" rtlCol="0" anchor="t"/>
          <a:lstStyle/>
          <a:p>
            <a:pPr indent="0" marL="0">
              <a:buNone/>
            </a:pPr>
            <a:r>
              <a:rPr lang="en-US" sz="1200" dirty="0">
                <a:solidFill>
                  <a:schemeClr val="accent5"/>
                </a:solidFill>
              </a:rPr>
              <a:t>footer shows the new version</a:t>
            </a:r>
            <a:endParaRPr lang="en-US" sz="1200" dirty="0"/>
          </a:p>
        </p:txBody>
      </p:sp>
      <p:sp>
        <p:nvSpPr>
          <p:cNvPr id="31" name="num 8"/>
          <p:cNvSpPr/>
          <p:nvPr/>
        </p:nvSpPr>
        <p:spPr>
          <a:xfrm>
            <a:off x="4663440" y="3108960"/>
            <a:ext cx="438912" cy="438912"/>
          </a:xfrm>
          <a:prstGeom prst="ellipse">
            <a:avLst/>
          </a:prstGeom>
          <a:solidFill>
            <a:srgbClr val="0F766E"/>
          </a:solidFill>
          <a:ln w="12700">
            <a:solidFill>
              <a:srgbClr val="0F766E"/>
            </a:solidFill>
            <a:prstDash val="solid"/>
          </a:ln>
        </p:spPr>
      </p:sp>
      <p:sp>
        <p:nvSpPr>
          <p:cNvPr id="32" name="Text 30"/>
          <p:cNvSpPr txBox="1"/>
          <p:nvPr/>
        </p:nvSpPr>
        <p:spPr>
          <a:xfrm>
            <a:off x="4663440" y="3108960"/>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8</a:t>
            </a:r>
            <a:endParaRPr lang="en-US" sz="1500" dirty="0"/>
          </a:p>
        </p:txBody>
      </p:sp>
      <p:sp>
        <p:nvSpPr>
          <p:cNvPr id="33" name="Text 31"/>
          <p:cNvSpPr txBox="1"/>
          <p:nvPr/>
        </p:nvSpPr>
        <p:spPr>
          <a:xfrm>
            <a:off x="5230368" y="3072384"/>
            <a:ext cx="3474720" cy="274320"/>
          </a:xfrm>
          <a:prstGeom prst="rect">
            <a:avLst/>
          </a:prstGeom>
          <a:noFill/>
          <a:ln/>
        </p:spPr>
        <p:txBody>
          <a:bodyPr wrap="square" lIns="0" tIns="0" rIns="0" bIns="0" rtlCol="0" anchor="t"/>
          <a:lstStyle/>
          <a:p>
            <a:pPr indent="0" marL="0">
              <a:buNone/>
            </a:pPr>
            <a:r>
              <a:rPr lang="en-US" sz="1400" b="1" dirty="0">
                <a:solidFill>
                  <a:schemeClr val="tx1"/>
                </a:solidFill>
              </a:rPr>
              <a:t>Load test</a:t>
            </a:r>
            <a:endParaRPr lang="en-US" sz="1400" dirty="0"/>
          </a:p>
        </p:txBody>
      </p:sp>
      <p:sp>
        <p:nvSpPr>
          <p:cNvPr id="34" name="Text 32"/>
          <p:cNvSpPr txBox="1"/>
          <p:nvPr/>
        </p:nvSpPr>
        <p:spPr>
          <a:xfrm>
            <a:off x="5230368" y="3346704"/>
            <a:ext cx="3474720" cy="256032"/>
          </a:xfrm>
          <a:prstGeom prst="rect">
            <a:avLst/>
          </a:prstGeom>
          <a:noFill/>
          <a:ln/>
        </p:spPr>
        <p:txBody>
          <a:bodyPr wrap="square" lIns="0" tIns="0" rIns="0" bIns="0" rtlCol="0" anchor="t"/>
          <a:lstStyle/>
          <a:p>
            <a:pPr indent="0" marL="0">
              <a:buNone/>
            </a:pPr>
            <a:r>
              <a:rPr lang="en-US" sz="1200" dirty="0">
                <a:solidFill>
                  <a:schemeClr val="accent5"/>
                </a:solidFill>
              </a:rPr>
              <a:t>HPA scales 2 to 6</a:t>
            </a:r>
            <a:endParaRPr lang="en-US" sz="1200" dirty="0"/>
          </a:p>
        </p:txBody>
      </p:sp>
      <p:sp>
        <p:nvSpPr>
          <p:cNvPr id="35" name="num 9"/>
          <p:cNvSpPr/>
          <p:nvPr/>
        </p:nvSpPr>
        <p:spPr>
          <a:xfrm>
            <a:off x="457200" y="3785616"/>
            <a:ext cx="438912" cy="438912"/>
          </a:xfrm>
          <a:prstGeom prst="ellipse">
            <a:avLst/>
          </a:prstGeom>
          <a:solidFill>
            <a:srgbClr val="0F766E"/>
          </a:solidFill>
          <a:ln w="12700">
            <a:solidFill>
              <a:srgbClr val="0F766E"/>
            </a:solidFill>
            <a:prstDash val="solid"/>
          </a:ln>
        </p:spPr>
      </p:sp>
      <p:sp>
        <p:nvSpPr>
          <p:cNvPr id="36" name="Text 34"/>
          <p:cNvSpPr txBox="1"/>
          <p:nvPr/>
        </p:nvSpPr>
        <p:spPr>
          <a:xfrm>
            <a:off x="457200" y="3785616"/>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9</a:t>
            </a:r>
            <a:endParaRPr lang="en-US" sz="1500" dirty="0"/>
          </a:p>
        </p:txBody>
      </p:sp>
      <p:sp>
        <p:nvSpPr>
          <p:cNvPr id="37" name="Text 35"/>
          <p:cNvSpPr txBox="1"/>
          <p:nvPr/>
        </p:nvSpPr>
        <p:spPr>
          <a:xfrm>
            <a:off x="1024128" y="3749040"/>
            <a:ext cx="3474720" cy="274320"/>
          </a:xfrm>
          <a:prstGeom prst="rect">
            <a:avLst/>
          </a:prstGeom>
          <a:noFill/>
          <a:ln/>
        </p:spPr>
        <p:txBody>
          <a:bodyPr wrap="square" lIns="0" tIns="0" rIns="0" bIns="0" rtlCol="0" anchor="t"/>
          <a:lstStyle/>
          <a:p>
            <a:pPr indent="0" marL="0">
              <a:buNone/>
            </a:pPr>
            <a:r>
              <a:rPr lang="en-US" sz="1400" b="1" dirty="0">
                <a:solidFill>
                  <a:schemeClr val="tx1"/>
                </a:solidFill>
              </a:rPr>
              <a:t>Grafana + Prometheus</a:t>
            </a:r>
            <a:endParaRPr lang="en-US" sz="1400" dirty="0"/>
          </a:p>
        </p:txBody>
      </p:sp>
      <p:sp>
        <p:nvSpPr>
          <p:cNvPr id="38" name="Text 36"/>
          <p:cNvSpPr txBox="1"/>
          <p:nvPr/>
        </p:nvSpPr>
        <p:spPr>
          <a:xfrm>
            <a:off x="1024128" y="4023360"/>
            <a:ext cx="3474720" cy="256032"/>
          </a:xfrm>
          <a:prstGeom prst="rect">
            <a:avLst/>
          </a:prstGeom>
          <a:noFill/>
          <a:ln/>
        </p:spPr>
        <p:txBody>
          <a:bodyPr wrap="square" lIns="0" tIns="0" rIns="0" bIns="0" rtlCol="0" anchor="t"/>
          <a:lstStyle/>
          <a:p>
            <a:pPr indent="0" marL="0">
              <a:buNone/>
            </a:pPr>
            <a:r>
              <a:rPr lang="en-US" sz="1200" dirty="0">
                <a:solidFill>
                  <a:schemeClr val="accent5"/>
                </a:solidFill>
              </a:rPr>
              <a:t>traffic and the rollout live</a:t>
            </a:r>
            <a:endParaRPr lang="en-US" sz="1200" dirty="0"/>
          </a:p>
        </p:txBody>
      </p:sp>
      <p:sp>
        <p:nvSpPr>
          <p:cNvPr id="39" name="num 10"/>
          <p:cNvSpPr/>
          <p:nvPr/>
        </p:nvSpPr>
        <p:spPr>
          <a:xfrm>
            <a:off x="4663440" y="3785616"/>
            <a:ext cx="438912" cy="438912"/>
          </a:xfrm>
          <a:prstGeom prst="ellipse">
            <a:avLst/>
          </a:prstGeom>
          <a:solidFill>
            <a:srgbClr val="0F766E"/>
          </a:solidFill>
          <a:ln w="12700">
            <a:solidFill>
              <a:srgbClr val="0F766E"/>
            </a:solidFill>
            <a:prstDash val="solid"/>
          </a:ln>
        </p:spPr>
      </p:sp>
      <p:sp>
        <p:nvSpPr>
          <p:cNvPr id="40" name="Text 38"/>
          <p:cNvSpPr txBox="1"/>
          <p:nvPr/>
        </p:nvSpPr>
        <p:spPr>
          <a:xfrm>
            <a:off x="4663440" y="3785616"/>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10</a:t>
            </a:r>
            <a:endParaRPr lang="en-US" sz="1500" dirty="0"/>
          </a:p>
        </p:txBody>
      </p:sp>
      <p:sp>
        <p:nvSpPr>
          <p:cNvPr id="41" name="Text 39"/>
          <p:cNvSpPr txBox="1"/>
          <p:nvPr/>
        </p:nvSpPr>
        <p:spPr>
          <a:xfrm>
            <a:off x="5230368" y="3749040"/>
            <a:ext cx="3474720" cy="274320"/>
          </a:xfrm>
          <a:prstGeom prst="rect">
            <a:avLst/>
          </a:prstGeom>
          <a:noFill/>
          <a:ln/>
        </p:spPr>
        <p:txBody>
          <a:bodyPr wrap="square" lIns="0" tIns="0" rIns="0" bIns="0" rtlCol="0" anchor="t"/>
          <a:lstStyle/>
          <a:p>
            <a:pPr indent="0" marL="0">
              <a:buNone/>
            </a:pPr>
            <a:r>
              <a:rPr lang="en-US" sz="1400" b="1" dirty="0">
                <a:solidFill>
                  <a:schemeClr val="tx1"/>
                </a:solidFill>
              </a:rPr>
              <a:t>Break a Service</a:t>
            </a:r>
            <a:endParaRPr lang="en-US" sz="1400" dirty="0"/>
          </a:p>
        </p:txBody>
      </p:sp>
      <p:sp>
        <p:nvSpPr>
          <p:cNvPr id="42" name="Text 40"/>
          <p:cNvSpPr txBox="1"/>
          <p:nvPr/>
        </p:nvSpPr>
        <p:spPr>
          <a:xfrm>
            <a:off x="5230368" y="4023360"/>
            <a:ext cx="3474720" cy="256032"/>
          </a:xfrm>
          <a:prstGeom prst="rect">
            <a:avLst/>
          </a:prstGeom>
          <a:noFill/>
          <a:ln/>
        </p:spPr>
        <p:txBody>
          <a:bodyPr wrap="square" lIns="0" tIns="0" rIns="0" bIns="0" rtlCol="0" anchor="t"/>
          <a:lstStyle/>
          <a:p>
            <a:pPr indent="0" marL="0">
              <a:buNone/>
            </a:pPr>
            <a:r>
              <a:rPr lang="en-US" sz="1200" dirty="0">
                <a:solidFill>
                  <a:schemeClr val="accent5"/>
                </a:solidFill>
              </a:rPr>
              <a:t>debug it from its endpoints</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indent="0" marL="0">
              <a:buNone/>
            </a:pPr>
            <a:r>
              <a:rPr lang="en-US" sz="3600" b="1" dirty="0">
                <a:solidFill>
                  <a:schemeClr val="bg1"/>
                </a:solidFill>
              </a:rPr>
              <a:t>What I learned</a:t>
            </a:r>
            <a:endParaRPr lang="en-US" sz="3600" dirty="0"/>
          </a:p>
        </p:txBody>
      </p:sp>
      <p:sp>
        <p:nvSpPr>
          <p:cNvPr id="3" name="Green is not the same as correct circle"/>
          <p:cNvSpPr/>
          <p:nvPr/>
        </p:nvSpPr>
        <p:spPr>
          <a:xfrm>
            <a:off x="457200" y="1143000"/>
            <a:ext cx="457200" cy="457200"/>
          </a:xfrm>
          <a:prstGeom prst="ellipse">
            <a:avLst/>
          </a:prstGeom>
          <a:solidFill>
            <a:schemeClr val="accent1"/>
          </a:solidFill>
          <a:ln w="12700">
            <a:solidFill>
              <a:schemeClr val="accent1"/>
            </a:solidFill>
            <a:prstDash val="solid"/>
          </a:ln>
        </p:spPr>
      </p:sp>
      <p:pic>
        <p:nvPicPr>
          <p:cNvPr id="4" name="Green is not the same as correct icon" descr="Green is not the same as correct">    </p:cNvPr>
          <p:cNvPicPr>
            <a:picLocks noChangeAspect="1"/>
          </p:cNvPicPr>
          <p:nvPr/>
        </p:nvPicPr>
        <p:blipFill>
          <a:blip r:embed="rId1"/>
          <a:stretch>
            <a:fillRect/>
          </a:stretch>
        </p:blipFill>
        <p:spPr>
          <a:xfrm>
            <a:off x="566928" y="1252728"/>
            <a:ext cx="237744" cy="237744"/>
          </a:xfrm>
          <a:prstGeom prst="rect">
            <a:avLst/>
          </a:prstGeom>
        </p:spPr>
      </p:pic>
      <p:sp>
        <p:nvSpPr>
          <p:cNvPr id="5" name="Text 2"/>
          <p:cNvSpPr txBox="1"/>
          <p:nvPr/>
        </p:nvSpPr>
        <p:spPr>
          <a:xfrm>
            <a:off x="1051560" y="1097280"/>
            <a:ext cx="3429000" cy="502920"/>
          </a:xfrm>
          <a:prstGeom prst="rect">
            <a:avLst/>
          </a:prstGeom>
          <a:noFill/>
          <a:ln/>
        </p:spPr>
        <p:txBody>
          <a:bodyPr wrap="square" lIns="0" tIns="0" rIns="0" bIns="0" rtlCol="0" anchor="ctr"/>
          <a:lstStyle/>
          <a:p>
            <a:pPr indent="0" marL="0">
              <a:buNone/>
            </a:pPr>
            <a:r>
              <a:rPr lang="en-US" sz="1500" b="1" dirty="0">
                <a:solidFill>
                  <a:schemeClr val="bg1"/>
                </a:solidFill>
              </a:rPr>
              <a:t>Green is not the same as correct</a:t>
            </a:r>
            <a:endParaRPr lang="en-US" sz="1500" dirty="0"/>
          </a:p>
        </p:txBody>
      </p:sp>
      <p:sp>
        <p:nvSpPr>
          <p:cNvPr id="6" name="Text 3"/>
          <p:cNvSpPr txBox="1"/>
          <p:nvPr/>
        </p:nvSpPr>
        <p:spPr>
          <a:xfrm>
            <a:off x="1051560" y="1600200"/>
            <a:ext cx="3429000" cy="457200"/>
          </a:xfrm>
          <a:prstGeom prst="rect">
            <a:avLst/>
          </a:prstGeom>
          <a:noFill/>
          <a:ln/>
        </p:spPr>
        <p:txBody>
          <a:bodyPr wrap="square" lIns="0" tIns="0" rIns="0" bIns="0" rtlCol="0" anchor="t"/>
          <a:lstStyle/>
          <a:p>
            <a:pPr indent="0" marL="0">
              <a:buNone/>
            </a:pPr>
            <a:r>
              <a:rPr lang="en-US" sz="1200" dirty="0">
                <a:solidFill>
                  <a:schemeClr val="accent6"/>
                </a:solidFill>
              </a:rPr>
              <a:t>my worst bug passed every health check</a:t>
            </a:r>
            <a:endParaRPr lang="en-US" sz="1200" dirty="0"/>
          </a:p>
        </p:txBody>
      </p:sp>
      <p:sp>
        <p:nvSpPr>
          <p:cNvPr id="7" name="Measure, don't guess circle"/>
          <p:cNvSpPr/>
          <p:nvPr/>
        </p:nvSpPr>
        <p:spPr>
          <a:xfrm>
            <a:off x="4663440" y="1143000"/>
            <a:ext cx="457200" cy="457200"/>
          </a:xfrm>
          <a:prstGeom prst="ellipse">
            <a:avLst/>
          </a:prstGeom>
          <a:solidFill>
            <a:schemeClr val="accent1"/>
          </a:solidFill>
          <a:ln w="12700">
            <a:solidFill>
              <a:schemeClr val="accent1"/>
            </a:solidFill>
            <a:prstDash val="solid"/>
          </a:ln>
        </p:spPr>
      </p:sp>
      <p:pic>
        <p:nvPicPr>
          <p:cNvPr id="8" name="Measure, don't guess icon" descr="Measure, don't guess">    </p:cNvPr>
          <p:cNvPicPr>
            <a:picLocks noChangeAspect="1"/>
          </p:cNvPicPr>
          <p:nvPr/>
        </p:nvPicPr>
        <p:blipFill>
          <a:blip r:embed="rId2"/>
          <a:stretch>
            <a:fillRect/>
          </a:stretch>
        </p:blipFill>
        <p:spPr>
          <a:xfrm>
            <a:off x="4773168" y="1252728"/>
            <a:ext cx="237744" cy="237744"/>
          </a:xfrm>
          <a:prstGeom prst="rect">
            <a:avLst/>
          </a:prstGeom>
        </p:spPr>
      </p:pic>
      <p:sp>
        <p:nvSpPr>
          <p:cNvPr id="9" name="Text 5"/>
          <p:cNvSpPr txBox="1"/>
          <p:nvPr/>
        </p:nvSpPr>
        <p:spPr>
          <a:xfrm>
            <a:off x="5257800" y="1097280"/>
            <a:ext cx="3429000" cy="502920"/>
          </a:xfrm>
          <a:prstGeom prst="rect">
            <a:avLst/>
          </a:prstGeom>
          <a:noFill/>
          <a:ln/>
        </p:spPr>
        <p:txBody>
          <a:bodyPr wrap="square" lIns="0" tIns="0" rIns="0" bIns="0" rtlCol="0" anchor="ctr"/>
          <a:lstStyle/>
          <a:p>
            <a:pPr indent="0" marL="0">
              <a:buNone/>
            </a:pPr>
            <a:r>
              <a:rPr lang="en-US" sz="1500" b="1" dirty="0">
                <a:solidFill>
                  <a:schemeClr val="bg1"/>
                </a:solidFill>
              </a:rPr>
              <a:t>Measure, don't guess</a:t>
            </a:r>
            <a:endParaRPr lang="en-US" sz="1500" dirty="0"/>
          </a:p>
        </p:txBody>
      </p:sp>
      <p:sp>
        <p:nvSpPr>
          <p:cNvPr id="10" name="Text 6"/>
          <p:cNvSpPr txBox="1"/>
          <p:nvPr/>
        </p:nvSpPr>
        <p:spPr>
          <a:xfrm>
            <a:off x="5257800" y="1600200"/>
            <a:ext cx="3429000" cy="457200"/>
          </a:xfrm>
          <a:prstGeom prst="rect">
            <a:avLst/>
          </a:prstGeom>
          <a:noFill/>
          <a:ln/>
        </p:spPr>
        <p:txBody>
          <a:bodyPr wrap="square" lIns="0" tIns="0" rIns="0" bIns="0" rtlCol="0" anchor="t"/>
          <a:lstStyle/>
          <a:p>
            <a:pPr indent="0" marL="0">
              <a:buNone/>
            </a:pPr>
            <a:r>
              <a:rPr lang="en-US" sz="1200" dirty="0">
                <a:solidFill>
                  <a:schemeClr val="accent6"/>
                </a:solidFill>
              </a:rPr>
              <a:t>"sometimes slow" became 29 of 100, and the cause fell out</a:t>
            </a:r>
            <a:endParaRPr lang="en-US" sz="1200" dirty="0"/>
          </a:p>
        </p:txBody>
      </p:sp>
      <p:sp>
        <p:nvSpPr>
          <p:cNvPr id="11" name="Check the defaults circle"/>
          <p:cNvSpPr/>
          <p:nvPr/>
        </p:nvSpPr>
        <p:spPr>
          <a:xfrm>
            <a:off x="457200" y="2240280"/>
            <a:ext cx="457200" cy="457200"/>
          </a:xfrm>
          <a:prstGeom prst="ellipse">
            <a:avLst/>
          </a:prstGeom>
          <a:solidFill>
            <a:schemeClr val="accent1"/>
          </a:solidFill>
          <a:ln w="12700">
            <a:solidFill>
              <a:schemeClr val="accent1"/>
            </a:solidFill>
            <a:prstDash val="solid"/>
          </a:ln>
        </p:spPr>
      </p:sp>
      <p:pic>
        <p:nvPicPr>
          <p:cNvPr id="12" name="Check the defaults icon" descr="Check the defaults">    </p:cNvPr>
          <p:cNvPicPr>
            <a:picLocks noChangeAspect="1"/>
          </p:cNvPicPr>
          <p:nvPr/>
        </p:nvPicPr>
        <p:blipFill>
          <a:blip r:embed="rId3"/>
          <a:stretch>
            <a:fillRect/>
          </a:stretch>
        </p:blipFill>
        <p:spPr>
          <a:xfrm>
            <a:off x="566928" y="2350008"/>
            <a:ext cx="237744" cy="237744"/>
          </a:xfrm>
          <a:prstGeom prst="rect">
            <a:avLst/>
          </a:prstGeom>
        </p:spPr>
      </p:pic>
      <p:sp>
        <p:nvSpPr>
          <p:cNvPr id="13" name="Text 8"/>
          <p:cNvSpPr txBox="1"/>
          <p:nvPr/>
        </p:nvSpPr>
        <p:spPr>
          <a:xfrm>
            <a:off x="1051560" y="2194560"/>
            <a:ext cx="3429000" cy="502920"/>
          </a:xfrm>
          <a:prstGeom prst="rect">
            <a:avLst/>
          </a:prstGeom>
          <a:noFill/>
          <a:ln/>
        </p:spPr>
        <p:txBody>
          <a:bodyPr wrap="square" lIns="0" tIns="0" rIns="0" bIns="0" rtlCol="0" anchor="ctr"/>
          <a:lstStyle/>
          <a:p>
            <a:pPr indent="0" marL="0">
              <a:buNone/>
            </a:pPr>
            <a:r>
              <a:rPr lang="en-US" sz="1500" b="1" dirty="0">
                <a:solidFill>
                  <a:schemeClr val="bg1"/>
                </a:solidFill>
              </a:rPr>
              <a:t>Check the defaults</a:t>
            </a:r>
            <a:endParaRPr lang="en-US" sz="1500" dirty="0"/>
          </a:p>
        </p:txBody>
      </p:sp>
      <p:sp>
        <p:nvSpPr>
          <p:cNvPr id="14" name="Text 9"/>
          <p:cNvSpPr txBox="1"/>
          <p:nvPr/>
        </p:nvSpPr>
        <p:spPr>
          <a:xfrm>
            <a:off x="1051560" y="2697480"/>
            <a:ext cx="3429000" cy="457200"/>
          </a:xfrm>
          <a:prstGeom prst="rect">
            <a:avLst/>
          </a:prstGeom>
          <a:noFill/>
          <a:ln/>
        </p:spPr>
        <p:txBody>
          <a:bodyPr wrap="square" lIns="0" tIns="0" rIns="0" bIns="0" rtlCol="0" anchor="t"/>
          <a:lstStyle/>
          <a:p>
            <a:pPr indent="0" marL="0">
              <a:buNone/>
            </a:pPr>
            <a:r>
              <a:rPr lang="en-US" sz="1200" dirty="0">
                <a:solidFill>
                  <a:schemeClr val="accent6"/>
                </a:solidFill>
              </a:rPr>
              <a:t>nginx counted 24 CPUs inside a 0.2 CPU container</a:t>
            </a:r>
            <a:endParaRPr lang="en-US" sz="1200" dirty="0"/>
          </a:p>
        </p:txBody>
      </p:sp>
      <p:sp>
        <p:nvSpPr>
          <p:cNvPr id="15" name="A liveness probe can turn slow into down circle"/>
          <p:cNvSpPr/>
          <p:nvPr/>
        </p:nvSpPr>
        <p:spPr>
          <a:xfrm>
            <a:off x="4663440" y="2240280"/>
            <a:ext cx="457200" cy="457200"/>
          </a:xfrm>
          <a:prstGeom prst="ellipse">
            <a:avLst/>
          </a:prstGeom>
          <a:solidFill>
            <a:schemeClr val="accent1"/>
          </a:solidFill>
          <a:ln w="12700">
            <a:solidFill>
              <a:schemeClr val="accent1"/>
            </a:solidFill>
            <a:prstDash val="solid"/>
          </a:ln>
        </p:spPr>
      </p:sp>
      <p:pic>
        <p:nvPicPr>
          <p:cNvPr id="16" name="A liveness probe can turn slow into down icon" descr="A liveness probe can turn slow into down">    </p:cNvPr>
          <p:cNvPicPr>
            <a:picLocks noChangeAspect="1"/>
          </p:cNvPicPr>
          <p:nvPr/>
        </p:nvPicPr>
        <p:blipFill>
          <a:blip r:embed="rId4"/>
          <a:stretch>
            <a:fillRect/>
          </a:stretch>
        </p:blipFill>
        <p:spPr>
          <a:xfrm>
            <a:off x="4773168" y="2350008"/>
            <a:ext cx="237744" cy="237744"/>
          </a:xfrm>
          <a:prstGeom prst="rect">
            <a:avLst/>
          </a:prstGeom>
        </p:spPr>
      </p:pic>
      <p:sp>
        <p:nvSpPr>
          <p:cNvPr id="17" name="Text 11"/>
          <p:cNvSpPr txBox="1"/>
          <p:nvPr/>
        </p:nvSpPr>
        <p:spPr>
          <a:xfrm>
            <a:off x="5257800" y="2194560"/>
            <a:ext cx="3429000" cy="502920"/>
          </a:xfrm>
          <a:prstGeom prst="rect">
            <a:avLst/>
          </a:prstGeom>
          <a:noFill/>
          <a:ln/>
        </p:spPr>
        <p:txBody>
          <a:bodyPr wrap="square" lIns="0" tIns="0" rIns="0" bIns="0" rtlCol="0" anchor="ctr"/>
          <a:lstStyle/>
          <a:p>
            <a:pPr indent="0" marL="0">
              <a:buNone/>
            </a:pPr>
            <a:r>
              <a:rPr lang="en-US" sz="1500" b="1" dirty="0">
                <a:solidFill>
                  <a:schemeClr val="bg1"/>
                </a:solidFill>
              </a:rPr>
              <a:t>A liveness probe can turn slow into down</a:t>
            </a:r>
            <a:endParaRPr lang="en-US" sz="1500" dirty="0"/>
          </a:p>
        </p:txBody>
      </p:sp>
      <p:sp>
        <p:nvSpPr>
          <p:cNvPr id="18" name="Text 12"/>
          <p:cNvSpPr txBox="1"/>
          <p:nvPr/>
        </p:nvSpPr>
        <p:spPr>
          <a:xfrm>
            <a:off x="5257800" y="2697480"/>
            <a:ext cx="3429000" cy="457200"/>
          </a:xfrm>
          <a:prstGeom prst="rect">
            <a:avLst/>
          </a:prstGeom>
          <a:noFill/>
          <a:ln/>
        </p:spPr>
        <p:txBody>
          <a:bodyPr wrap="square" lIns="0" tIns="0" rIns="0" bIns="0" rtlCol="0" anchor="t"/>
          <a:lstStyle/>
          <a:p>
            <a:pPr indent="0" marL="0">
              <a:buNone/>
            </a:pPr>
            <a:r>
              <a:rPr lang="en-US" sz="1200" dirty="0">
                <a:solidFill>
                  <a:schemeClr val="accent6"/>
                </a:solidFill>
              </a:rPr>
              <a:t>it should only fire when a process is truly stuck</a:t>
            </a:r>
            <a:endParaRPr lang="en-US" sz="1200" dirty="0"/>
          </a:p>
        </p:txBody>
      </p:sp>
      <p:sp>
        <p:nvSpPr>
          <p:cNvPr id="19" name="Let the gates fail you circle"/>
          <p:cNvSpPr/>
          <p:nvPr/>
        </p:nvSpPr>
        <p:spPr>
          <a:xfrm>
            <a:off x="457200" y="3337560"/>
            <a:ext cx="457200" cy="457200"/>
          </a:xfrm>
          <a:prstGeom prst="ellipse">
            <a:avLst/>
          </a:prstGeom>
          <a:solidFill>
            <a:schemeClr val="accent1"/>
          </a:solidFill>
          <a:ln w="12700">
            <a:solidFill>
              <a:schemeClr val="accent1"/>
            </a:solidFill>
            <a:prstDash val="solid"/>
          </a:ln>
        </p:spPr>
      </p:sp>
      <p:pic>
        <p:nvPicPr>
          <p:cNvPr id="20" name="Let the gates fail you icon" descr="Let the gates fail you">    </p:cNvPr>
          <p:cNvPicPr>
            <a:picLocks noChangeAspect="1"/>
          </p:cNvPicPr>
          <p:nvPr/>
        </p:nvPicPr>
        <p:blipFill>
          <a:blip r:embed="rId5"/>
          <a:stretch>
            <a:fillRect/>
          </a:stretch>
        </p:blipFill>
        <p:spPr>
          <a:xfrm>
            <a:off x="566928" y="3447288"/>
            <a:ext cx="237744" cy="237744"/>
          </a:xfrm>
          <a:prstGeom prst="rect">
            <a:avLst/>
          </a:prstGeom>
        </p:spPr>
      </p:pic>
      <p:sp>
        <p:nvSpPr>
          <p:cNvPr id="21" name="Text 14"/>
          <p:cNvSpPr txBox="1"/>
          <p:nvPr/>
        </p:nvSpPr>
        <p:spPr>
          <a:xfrm>
            <a:off x="1051560" y="3291840"/>
            <a:ext cx="3429000" cy="502920"/>
          </a:xfrm>
          <a:prstGeom prst="rect">
            <a:avLst/>
          </a:prstGeom>
          <a:noFill/>
          <a:ln/>
        </p:spPr>
        <p:txBody>
          <a:bodyPr wrap="square" lIns="0" tIns="0" rIns="0" bIns="0" rtlCol="0" anchor="ctr"/>
          <a:lstStyle/>
          <a:p>
            <a:pPr indent="0" marL="0">
              <a:buNone/>
            </a:pPr>
            <a:r>
              <a:rPr lang="en-US" sz="1500" b="1" dirty="0">
                <a:solidFill>
                  <a:schemeClr val="bg1"/>
                </a:solidFill>
              </a:rPr>
              <a:t>Let the gates fail you</a:t>
            </a:r>
            <a:endParaRPr lang="en-US" sz="1500" dirty="0"/>
          </a:p>
        </p:txBody>
      </p:sp>
      <p:sp>
        <p:nvSpPr>
          <p:cNvPr id="22" name="Text 15"/>
          <p:cNvSpPr txBox="1"/>
          <p:nvPr/>
        </p:nvSpPr>
        <p:spPr>
          <a:xfrm>
            <a:off x="1051560" y="3794760"/>
            <a:ext cx="3429000" cy="457200"/>
          </a:xfrm>
          <a:prstGeom prst="rect">
            <a:avLst/>
          </a:prstGeom>
          <a:noFill/>
          <a:ln/>
        </p:spPr>
        <p:txBody>
          <a:bodyPr wrap="square" lIns="0" tIns="0" rIns="0" bIns="0" rtlCol="0" anchor="t"/>
          <a:lstStyle/>
          <a:p>
            <a:pPr indent="0" marL="0">
              <a:buNone/>
            </a:pPr>
            <a:r>
              <a:rPr lang="en-US" sz="1200" dirty="0">
                <a:solidFill>
                  <a:schemeClr val="accent6"/>
                </a:solidFill>
              </a:rPr>
              <a:t>coverage and Trivy both stopped me, and both were right</a:t>
            </a:r>
            <a:endParaRPr lang="en-US" sz="1200" dirty="0"/>
          </a:p>
        </p:txBody>
      </p:sp>
      <p:sp>
        <p:nvSpPr>
          <p:cNvPr id="23" name="Say what you couldn't do circle"/>
          <p:cNvSpPr/>
          <p:nvPr/>
        </p:nvSpPr>
        <p:spPr>
          <a:xfrm>
            <a:off x="4663440" y="3337560"/>
            <a:ext cx="457200" cy="457200"/>
          </a:xfrm>
          <a:prstGeom prst="ellipse">
            <a:avLst/>
          </a:prstGeom>
          <a:solidFill>
            <a:schemeClr val="accent1"/>
          </a:solidFill>
          <a:ln w="12700">
            <a:solidFill>
              <a:schemeClr val="accent1"/>
            </a:solidFill>
            <a:prstDash val="solid"/>
          </a:ln>
        </p:spPr>
      </p:sp>
      <p:pic>
        <p:nvPicPr>
          <p:cNvPr id="24" name="Say what you couldn't do icon" descr="Say what you couldn't do">    </p:cNvPr>
          <p:cNvPicPr>
            <a:picLocks noChangeAspect="1"/>
          </p:cNvPicPr>
          <p:nvPr/>
        </p:nvPicPr>
        <p:blipFill>
          <a:blip r:embed="rId6"/>
          <a:stretch>
            <a:fillRect/>
          </a:stretch>
        </p:blipFill>
        <p:spPr>
          <a:xfrm>
            <a:off x="4773168" y="3447288"/>
            <a:ext cx="237744" cy="237744"/>
          </a:xfrm>
          <a:prstGeom prst="rect">
            <a:avLst/>
          </a:prstGeom>
        </p:spPr>
      </p:pic>
      <p:sp>
        <p:nvSpPr>
          <p:cNvPr id="25" name="Text 17"/>
          <p:cNvSpPr txBox="1"/>
          <p:nvPr/>
        </p:nvSpPr>
        <p:spPr>
          <a:xfrm>
            <a:off x="5257800" y="3291840"/>
            <a:ext cx="3429000" cy="502920"/>
          </a:xfrm>
          <a:prstGeom prst="rect">
            <a:avLst/>
          </a:prstGeom>
          <a:noFill/>
          <a:ln/>
        </p:spPr>
        <p:txBody>
          <a:bodyPr wrap="square" lIns="0" tIns="0" rIns="0" bIns="0" rtlCol="0" anchor="ctr"/>
          <a:lstStyle/>
          <a:p>
            <a:pPr indent="0" marL="0">
              <a:buNone/>
            </a:pPr>
            <a:r>
              <a:rPr lang="en-US" sz="1500" b="1" dirty="0">
                <a:solidFill>
                  <a:schemeClr val="bg1"/>
                </a:solidFill>
              </a:rPr>
              <a:t>Say what you couldn't do</a:t>
            </a:r>
            <a:endParaRPr lang="en-US" sz="1500" dirty="0"/>
          </a:p>
        </p:txBody>
      </p:sp>
      <p:sp>
        <p:nvSpPr>
          <p:cNvPr id="26" name="Text 18"/>
          <p:cNvSpPr txBox="1"/>
          <p:nvPr/>
        </p:nvSpPr>
        <p:spPr>
          <a:xfrm>
            <a:off x="5257800" y="3794760"/>
            <a:ext cx="3429000" cy="457200"/>
          </a:xfrm>
          <a:prstGeom prst="rect">
            <a:avLst/>
          </a:prstGeom>
          <a:noFill/>
          <a:ln/>
        </p:spPr>
        <p:txBody>
          <a:bodyPr wrap="square" lIns="0" tIns="0" rIns="0" bIns="0" rtlCol="0" anchor="t"/>
          <a:lstStyle/>
          <a:p>
            <a:pPr indent="0" marL="0">
              <a:buNone/>
            </a:pPr>
            <a:r>
              <a:rPr lang="en-US" sz="1200" dirty="0">
                <a:solidFill>
                  <a:schemeClr val="accent6"/>
                </a:solidFill>
              </a:rPr>
              <a:t>LocalStack has no EKS, so I showed the error</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005840"/>
          </a:xfrm>
          <a:prstGeom prst="rect">
            <a:avLst/>
          </a:prstGeom>
          <a:noFill/>
          <a:ln/>
        </p:spPr>
        <p:txBody>
          <a:bodyPr wrap="square" lIns="0" tIns="0" rIns="0" bIns="0" rtlCol="0" anchor="b"/>
          <a:lstStyle/>
          <a:p>
            <a:pPr algn="l" indent="0" marL="0">
              <a:buNone/>
            </a:pPr>
            <a:r>
              <a:rPr lang="en-US" sz="5400" b="1" dirty="0">
                <a:solidFill>
                  <a:schemeClr val="bg1"/>
                </a:solidFill>
              </a:rPr>
              <a:t>Thank you</a:t>
            </a:r>
            <a:endParaRPr lang="en-US" sz="5400" dirty="0"/>
          </a:p>
        </p:txBody>
      </p:sp>
      <p:sp>
        <p:nvSpPr>
          <p:cNvPr id="3" name="Text 0"/>
          <p:cNvSpPr/>
          <p:nvPr>
            <p:ph idx="101" type="body" hasCustomPrompt="1"/>
          </p:nvPr>
        </p:nvSpPr>
        <p:spPr>
          <a:xfrm>
            <a:off x="548640" y="2514600"/>
            <a:ext cx="8046720" cy="548640"/>
          </a:xfrm>
          <a:prstGeom prst="rect">
            <a:avLst/>
          </a:prstGeom>
          <a:noFill/>
          <a:ln/>
        </p:spPr>
        <p:txBody>
          <a:bodyPr wrap="square" lIns="0" tIns="0" rIns="0" bIns="0" rtlCol="0"/>
          <a:lstStyle/>
          <a:p>
            <a:pPr indent="0" marL="0">
              <a:buNone/>
            </a:pPr>
            <a:r>
              <a:rPr lang="en-US" sz="2200" dirty="0">
                <a:solidFill>
                  <a:schemeClr val="accent6"/>
                </a:solidFill>
              </a:rPr>
              <a:t>Kharcha · Final DevOps Project</a:t>
            </a:r>
            <a:endParaRPr lang="en-US" sz="2200" dirty="0"/>
          </a:p>
        </p:txBody>
      </p:sp>
      <p:sp>
        <p:nvSpPr>
          <p:cNvPr id="4" name="logo tile"/>
          <p:cNvSpPr/>
          <p:nvPr/>
        </p:nvSpPr>
        <p:spPr>
          <a:xfrm>
            <a:off x="548640" y="502920"/>
            <a:ext cx="777240" cy="777240"/>
          </a:xfrm>
          <a:prstGeom prst="roundRect">
            <a:avLst>
              <a:gd name="adj" fmla="val 16471"/>
            </a:avLst>
          </a:prstGeom>
          <a:solidFill>
            <a:schemeClr val="accent1"/>
          </a:solidFill>
          <a:ln w="12700">
            <a:solidFill>
              <a:schemeClr val="accent1"/>
            </a:solidFill>
            <a:prstDash val="solid"/>
          </a:ln>
        </p:spPr>
      </p:sp>
      <p:pic>
        <p:nvPicPr>
          <p:cNvPr id="5" name="logo rupee" descr="Kharcha logo">    </p:cNvPr>
          <p:cNvPicPr>
            <a:picLocks noChangeAspect="1"/>
          </p:cNvPicPr>
          <p:nvPr/>
        </p:nvPicPr>
        <p:blipFill>
          <a:blip r:embed="rId1"/>
          <a:stretch>
            <a:fillRect/>
          </a:stretch>
        </p:blipFill>
        <p:spPr>
          <a:xfrm>
            <a:off x="713232" y="667512"/>
            <a:ext cx="448056" cy="448056"/>
          </a:xfrm>
          <a:prstGeom prst="rect">
            <a:avLst/>
          </a:prstGeom>
        </p:spPr>
      </p:pic>
      <p:sp>
        <p:nvSpPr>
          <p:cNvPr id="6" name="Text 3"/>
          <p:cNvSpPr txBox="1"/>
          <p:nvPr/>
        </p:nvSpPr>
        <p:spPr>
          <a:xfrm>
            <a:off x="548640" y="3429000"/>
            <a:ext cx="8046720" cy="731520"/>
          </a:xfrm>
          <a:prstGeom prst="rect">
            <a:avLst/>
          </a:prstGeom>
          <a:noFill/>
          <a:ln/>
        </p:spPr>
        <p:txBody>
          <a:bodyPr wrap="square" lIns="0" tIns="0" rIns="0" bIns="0" rtlCol="0" anchor="t"/>
          <a:lstStyle/>
          <a:p>
            <a:pPr indent="0" marL="0">
              <a:spcAft>
                <a:spcPts val="600"/>
              </a:spcAft>
              <a:buNone/>
            </a:pPr>
            <a:r>
              <a:rPr lang="en-US" sz="1400" b="1" dirty="0">
                <a:solidFill>
                  <a:schemeClr val="bg1"/>
                </a:solidFill>
              </a:rPr>
              <a:t>Code and write-ups:  </a:t>
            </a:r>
            <a:pPr indent="0" marL="0">
              <a:spcAft>
                <a:spcPts val="600"/>
              </a:spcAft>
              <a:buNone/>
            </a:pPr>
            <a:r>
              <a:rPr lang="en-US" sz="1400" u="sng" dirty="0">
                <a:solidFill>
                  <a:schemeClr val="bg1"/>
                </a:solidFill>
                <a:hlinkClick r:id="rId2" invalidUrl="" action="" tgtFrame="" tooltip="" history="1" highlightClick="0" endSnd="0">
                  <a:extLst>
                    <a:ext uri="{A12FA001-AC4F-418D-AE19-62706E023703}">
                      <ahyp:hlinkClr xmlns:ahyp="http://schemas.microsoft.com/office/drawing/2018/hyperlinkcolor" val="tx"/>
                    </a:ext>
                  </a:extLst>
                </a:hlinkClick>
              </a:rPr>
              <a:t>github.com/LAVYA255/devops-heros/tree/main/final-devops-project</a:t>
            </a:r>
            <a:endParaRPr lang="en-US" sz="1400" dirty="0"/>
          </a:p>
          <a:p>
            <a:pPr indent="0" marL="0">
              <a:spcAft>
                <a:spcPts val="600"/>
              </a:spcAft>
              <a:buNone/>
            </a:pPr>
            <a:r>
              <a:rPr lang="en-US" sz="1400" b="1" dirty="0">
                <a:solidFill>
                  <a:schemeClr val="bg1"/>
                </a:solidFill>
              </a:rPr>
              <a:t>Pipeline:  </a:t>
            </a:r>
            <a:pPr indent="0" marL="0">
              <a:spcAft>
                <a:spcPts val="600"/>
              </a:spcAft>
              <a:buNone/>
            </a:pPr>
            <a:r>
              <a:rPr lang="en-US" sz="1400" u="sng" dirty="0">
                <a:solidFill>
                  <a:schemeClr val="bg1"/>
                </a:solidFill>
                <a:hlinkClick r:id="rId3" invalidUrl="" action="" tgtFrame="" tooltip="" history="1" highlightClick="0" endSnd="0">
                  <a:extLst>
                    <a:ext uri="{A12FA001-AC4F-418D-AE19-62706E023703}">
                      <ahyp:hlinkClr xmlns:ahyp="http://schemas.microsoft.com/office/drawing/2018/hyperlinkcolor" val="tx"/>
                    </a:ext>
                  </a:extLst>
                </a:hlinkClick>
              </a:rPr>
              <a:t>github.com/LAVYA255/devops-heros/actions</a:t>
            </a:r>
            <a:endParaRPr lang="en-US" sz="1400" dirty="0"/>
          </a:p>
        </p:txBody>
      </p:sp>
    </p:spTree>
  </p:cSld>
  <p:clrMapOvr>
    <a:masterClrMapping/>
  </p:clrMapOvr>
</p:sld>
</file>

<file path=ppt/theme/theme1.xml><?xml version="1.0" encoding="utf-8"?>
<a:theme xmlns:a="http://schemas.openxmlformats.org/drawingml/2006/main" name="Kharcha">
  <a:themeElements>
    <a:clrScheme name="Kharcha">
      <a:dk1>
        <a:srgbClr val="0F172A"/>
      </a:dk1>
      <a:lt1>
        <a:srgbClr val="FFFFFF"/>
      </a:lt1>
      <a:dk2>
        <a:srgbClr val="0B3B37"/>
      </a:dk2>
      <a:lt2>
        <a:srgbClr val="F1F5F9"/>
      </a:lt2>
      <a:accent1>
        <a:srgbClr val="0F766E"/>
      </a:accent1>
      <a:accent2>
        <a:srgbClr val="14B8A6"/>
      </a:accent2>
      <a:accent3>
        <a:srgbClr val="D97706"/>
      </a:accent3>
      <a:accent4>
        <a:srgbClr val="DC2626"/>
      </a:accent4>
      <a:accent5>
        <a:srgbClr val="64748B"/>
      </a:accent5>
      <a:accent6>
        <a:srgbClr val="CCFBF1"/>
      </a:accent6>
      <a:hlink>
        <a:srgbClr val="0F766E"/>
      </a:hlink>
      <a:folHlink>
        <a:srgbClr val="64748B"/>
      </a:folHlink>
    </a:clrScheme>
    <a:fontScheme name="Kharcha">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Kharcha: an expense tracker, shipped the DevOps way</dc:title>
  <dc:subject>Session 21 final DevOps capstone</dc:subject>
  <dc:creator>Lavya (@LAVYA255)</dc:creator>
  <cp:lastModifiedBy>Lavya (@LAVYA255)</cp:lastModifiedBy>
  <cp:revision>1</cp:revision>
  <dcterms:created xsi:type="dcterms:W3CDTF">2026-10-21T08:44:26Z</dcterms:created>
  <dcterms:modified xsi:type="dcterms:W3CDTF">2026-10-21T08:44:26Z</dcterms:modified>
</cp:coreProperties>
</file>